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a57f6cff6884198" /><Relationship Type="http://schemas.openxmlformats.org/officeDocument/2006/relationships/extended-properties" Target="/docProps/app.xml" Id="R4a32f8f418e04950" /><Relationship Type="http://schemas.openxmlformats.org/officeDocument/2006/relationships/officeDocument" Target="/ppt/presentation.xml" Id="R2f1f74a300a84181" /></Relationships>
</file>

<file path=ppt/presentation.xml><?xml version="1.0" encoding="utf-8"?>
<p:presentation xmlns:p="http://schemas.openxmlformats.org/presentationml/2006/main">
  <p:sldMasterIdLst>
    <p:sldMasterId xmlns:r="http://schemas.openxmlformats.org/officeDocument/2006/relationships" id="2147483648" r:id="Rd1e630b368f7473a"/>
  </p:sldMasterIdLst>
  <p:notesMasterIdLst>
    <p:notesMasterId xmlns:r="http://schemas.openxmlformats.org/officeDocument/2006/relationships" r:id="R1143e35a6156470b"/>
  </p:notesMasterIdLst>
  <p:sldIdLst>
    <p:sldId xmlns:r="http://schemas.openxmlformats.org/officeDocument/2006/relationships" id="256" r:id="Rda276b35618043df"/>
    <p:sldId xmlns:r="http://schemas.openxmlformats.org/officeDocument/2006/relationships" id="257" r:id="R471a9058de264cd8"/>
    <p:sldId xmlns:r="http://schemas.openxmlformats.org/officeDocument/2006/relationships" id="258" r:id="R9f6b8c1023c7414e"/>
    <p:sldId xmlns:r="http://schemas.openxmlformats.org/officeDocument/2006/relationships" id="259" r:id="Rbacf6b21b68e447f"/>
    <p:sldId xmlns:r="http://schemas.openxmlformats.org/officeDocument/2006/relationships" id="260" r:id="R8b11350cbc554f6c"/>
    <p:sldId xmlns:r="http://schemas.openxmlformats.org/officeDocument/2006/relationships" id="261" r:id="Ra816cc9572cf4edf"/>
    <p:sldId xmlns:r="http://schemas.openxmlformats.org/officeDocument/2006/relationships" id="262" r:id="Rf580a853012b43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f86cdb8ece4fb3" /><Relationship Type="http://schemas.openxmlformats.org/officeDocument/2006/relationships/slideMaster" Target="/ppt/slideMasters/slideMaster1.xml" Id="Rd1e630b368f7473a" /><Relationship Type="http://schemas.openxmlformats.org/officeDocument/2006/relationships/notesMaster" Target="/ppt/notesMasters/notesMaster1.xml" Id="R1143e35a6156470b" /><Relationship Type="http://schemas.openxmlformats.org/officeDocument/2006/relationships/presProps" Target="/ppt/presProps.xml" Id="R678fc256608a411b" /><Relationship Type="http://schemas.openxmlformats.org/officeDocument/2006/relationships/tableStyles" Target="/ppt/tableStyles.xml" Id="R7adb3f5ff7364111" /><Relationship Type="http://schemas.openxmlformats.org/officeDocument/2006/relationships/slide" Target="/ppt/slides/slide1.xml" Id="Rda276b35618043df" /><Relationship Type="http://schemas.openxmlformats.org/officeDocument/2006/relationships/slide" Target="/ppt/slides/slide2.xml" Id="R471a9058de264cd8" /><Relationship Type="http://schemas.openxmlformats.org/officeDocument/2006/relationships/slide" Target="/ppt/slides/slide3.xml" Id="R9f6b8c1023c7414e" /><Relationship Type="http://schemas.openxmlformats.org/officeDocument/2006/relationships/slide" Target="/ppt/slides/slide4.xml" Id="Rbacf6b21b68e447f" /><Relationship Type="http://schemas.openxmlformats.org/officeDocument/2006/relationships/slide" Target="/ppt/slides/slide5.xml" Id="R8b11350cbc554f6c" /><Relationship Type="http://schemas.openxmlformats.org/officeDocument/2006/relationships/slide" Target="/ppt/slides/slide6.xml" Id="Ra816cc9572cf4edf" /><Relationship Type="http://schemas.openxmlformats.org/officeDocument/2006/relationships/slide" Target="/ppt/slides/slide7.xml" Id="Rf580a853012b43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f3de868b3146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5008423f3f4d16" /><Relationship Type="http://schemas.openxmlformats.org/officeDocument/2006/relationships/notesMaster" Target="/ppt/notesMasters/notesMaster1.xml" Id="R3e3768322d644d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525ed5e0184ba3" /><Relationship Type="http://schemas.openxmlformats.org/officeDocument/2006/relationships/notesMaster" Target="/ppt/notesMasters/notesMaster1.xml" Id="R2b9cfc8eba7347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f6b1d4d6e7494f" /><Relationship Type="http://schemas.openxmlformats.org/officeDocument/2006/relationships/notesMaster" Target="/ppt/notesMasters/notesMaster1.xml" Id="R1c6b9849303a4b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a042740626452b" /><Relationship Type="http://schemas.openxmlformats.org/officeDocument/2006/relationships/notesMaster" Target="/ppt/notesMasters/notesMaster1.xml" Id="Rb9a8edf4963b41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102f10ca5f4e13" /><Relationship Type="http://schemas.openxmlformats.org/officeDocument/2006/relationships/notesMaster" Target="/ppt/notesMasters/notesMaster1.xml" Id="R9b34407716dc49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9fbe06c24241e7" /><Relationship Type="http://schemas.openxmlformats.org/officeDocument/2006/relationships/notesMaster" Target="/ppt/notesMasters/notesMaster1.xml" Id="Rc27157bf22c045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40f4ba13a84e0d" /><Relationship Type="http://schemas.openxmlformats.org/officeDocument/2006/relationships/notesMaster" Target="/ppt/notesMasters/notesMaster1.xml" Id="R50c2ce9fb04044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Times New Roman"/>
                <a:ea typeface="Times New Roman"/>
                <a:cs typeface="Times New Roman"/>
              </a:rPr>
              <a:t>Suggested timing: 45 seconds</a:t>
            </a:r>
            <a:br>
              <a:rPr sz="1200">
                <a:latin typeface="Times New Roman"/>
                <a:ea typeface="Times New Roman"/>
                <a:cs typeface="Times New Roman"/>
              </a:rPr>
            </a:br>
            <a:br>
              <a:rPr sz="1200">
                <a:latin typeface="Times New Roman"/>
                <a:ea typeface="Times New Roman"/>
                <a:cs typeface="Times New Roman"/>
              </a:rPr>
            </a:br>
            <a:r>
              <a:rPr sz="1200">
                <a:latin typeface="Times New Roman"/>
                <a:ea typeface="Times New Roman"/>
                <a:cs typeface="Times New Roman"/>
              </a:rPr>
              <a:t>I developed this independent project to connect mechanical engineering with capital investment analysis. I used a hypothetical 500,000-square-foot Manhattan office building with two assumed 600-ton chillers. I compared keeping the existing system, fully modernizing it, and making a smaller partial upgrade. My question was whether the modeled energy and operating savings justify the capital required over ten years. I used Excel to connect equipment performance and load assumptions to after-tax cash flows. The project uses documented sources and explicit estimates. It does not represent measured building performance, contractor bids, or an approved investment.</a:t>
            </a:r>
            <a:br>
              <a:rPr sz="1200">
                <a:latin typeface="Times New Roman"/>
                <a:ea typeface="Times New Roman"/>
                <a:cs typeface="Times New Roman"/>
              </a:rPr>
            </a:br>
            <a:br>
              <a:rPr sz="1200">
                <a:latin typeface="Times New Roman"/>
                <a:ea typeface="Times New Roman"/>
                <a:cs typeface="Times New Roman"/>
              </a:rPr>
            </a:br>
            <a:r>
              <a:rPr sz="1200">
                <a:latin typeface="Times New Roman"/>
                <a:ea typeface="Times New Roman"/>
                <a:cs typeface="Times New Roman"/>
              </a:rPr>
              <a:t>Source notes (not part of spoken script):</a:t>
            </a:r>
            <a:br>
              <a:rPr sz="1200">
                <a:latin typeface="Times New Roman"/>
                <a:ea typeface="Times New Roman"/>
                <a:cs typeface="Times New Roman"/>
              </a:rPr>
            </a:br>
            <a:r>
              <a:rPr sz="1200">
                <a:latin typeface="Times New Roman"/>
                <a:ea typeface="Times New Roman"/>
                <a:cs typeface="Times New Roman"/>
              </a:rPr>
              <a:t>Manhattan_HVAC_CapEx_Final_Validated(1).xlsx, Assumptions!E9:E10 and E26. Step 5 executive summary, page 1, including author name and university. Study period: Year 0, 31 Dec 2026; Years 1–10, 2027–2036.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Times New Roman"/>
                <a:ea typeface="Times New Roman"/>
                <a:cs typeface="Times New Roman"/>
              </a:rPr>
              <a:t>Suggested timing: 60 seconds</a:t>
            </a:r>
            <a:br>
              <a:rPr sz="1200">
                <a:latin typeface="Times New Roman"/>
                <a:ea typeface="Times New Roman"/>
                <a:cs typeface="Times New Roman"/>
              </a:rPr>
            </a:br>
            <a:br>
              <a:rPr sz="1200">
                <a:latin typeface="Times New Roman"/>
                <a:ea typeface="Times New Roman"/>
                <a:cs typeface="Times New Roman"/>
              </a:rPr>
            </a:br>
            <a:r>
              <a:rPr sz="1200">
                <a:latin typeface="Times New Roman"/>
                <a:ea typeface="Times New Roman"/>
                <a:cs typeface="Times New Roman"/>
              </a:rPr>
              <a:t>The chilled-water loop carries cooling from the evaporator sides of the chillers to the air-handling coil. A separate condenser-water loop carries rejected heat from the chillers to the cooling tower. The water loops do not mix. Supply fans move air through the coil to the offices, and return fans bring air back. The automation system controls schedules, staging and operating setpoints. This is a simplified adaptation of my report schematic. The pump symbols represent groups, not equipment counts. The workbook uses one combined pump-power allowance. Older equipment can consume more power because of part-load performance, fouling or poor controls, but age alone does not prove inefficiency.</a:t>
            </a:r>
            <a:br>
              <a:rPr sz="1200">
                <a:latin typeface="Times New Roman"/>
                <a:ea typeface="Times New Roman"/>
                <a:cs typeface="Times New Roman"/>
              </a:rPr>
            </a:br>
            <a:br>
              <a:rPr sz="1200">
                <a:latin typeface="Times New Roman"/>
                <a:ea typeface="Times New Roman"/>
                <a:cs typeface="Times New Roman"/>
              </a:rPr>
            </a:br>
            <a:r>
              <a:rPr sz="1200">
                <a:latin typeface="Times New Roman"/>
                <a:ea typeface="Times New Roman"/>
                <a:cs typeface="Times New Roman"/>
              </a:rPr>
              <a:t>Source notes (not part of spoken script):</a:t>
            </a:r>
            <a:br>
              <a:rPr sz="1200">
                <a:latin typeface="Times New Roman"/>
                <a:ea typeface="Times New Roman"/>
                <a:cs typeface="Times New Roman"/>
              </a:rPr>
            </a:br>
            <a:r>
              <a:rPr sz="1200">
                <a:latin typeface="Times New Roman"/>
                <a:ea typeface="Times New Roman"/>
                <a:cs typeface="Times New Roman"/>
              </a:rPr>
              <a:t>Engineering_Analysis_and_System_Schematic(1).pdf, pages 2–3. The two 600-ton chillers and component arrangement are hypothetical. Common plant connections are aggregated. SF = supply fan; RF = return fan; P = pump group. Outdoor-air mixing/relief, valves, heating and refrigerant details are omitted from this slide. Energy!F18:F21 gives 3,043,500 kWh/year. Assumptions!C41:J43 includes a combined 150 kW water-pump allowance, not 150 kW per circuit. BAS signals shown are representative.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Times New Roman"/>
                <a:ea typeface="Times New Roman"/>
                <a:cs typeface="Times New Roman"/>
              </a:rPr>
              <a:t>Suggested timing: 55 seconds</a:t>
            </a:r>
            <a:br>
              <a:rPr sz="1200">
                <a:latin typeface="Times New Roman"/>
                <a:ea typeface="Times New Roman"/>
                <a:cs typeface="Times New Roman"/>
              </a:rPr>
            </a:br>
            <a:br>
              <a:rPr sz="1200">
                <a:latin typeface="Times New Roman"/>
                <a:ea typeface="Times New Roman"/>
                <a:cs typeface="Times New Roman"/>
              </a:rPr>
            </a:br>
            <a:r>
              <a:rPr sz="1200">
                <a:latin typeface="Times New Roman"/>
                <a:ea typeface="Times New Roman"/>
                <a:cs typeface="Times New Roman"/>
              </a:rPr>
              <a:t>All three options serve the same assumed cooling load. Full modernization replaces both chillers and makes broader pump, fan and automation improvements. The partial option retains and rebuilds the chillers, with more selective upgrades. Both include tower refurbishment. I calculated chiller electricity by multiplying capacity, load fraction, hours and kW per ton within four load bins, then added fan, pump and tower electricity. Subtracting B and C from the baseline produces 1,147,200 and 477,000 kilowatt-hours of savings. Dividing each by 3,043,500 gives 37.7 and 15.7 percent. These are calculated HVAC electricity reductions. Schedules and performance curves need measurement or simulation before the savings can be relied upon.</a:t>
            </a:r>
            <a:br>
              <a:rPr sz="1200">
                <a:latin typeface="Times New Roman"/>
                <a:ea typeface="Times New Roman"/>
                <a:cs typeface="Times New Roman"/>
              </a:rPr>
            </a:br>
            <a:br>
              <a:rPr sz="1200">
                <a:latin typeface="Times New Roman"/>
                <a:ea typeface="Times New Roman"/>
                <a:cs typeface="Times New Roman"/>
              </a:rPr>
            </a:br>
            <a:r>
              <a:rPr sz="1200">
                <a:latin typeface="Times New Roman"/>
                <a:ea typeface="Times New Roman"/>
                <a:cs typeface="Times New Roman"/>
              </a:rPr>
              <a:t>Source notes (not part of spoken script):</a:t>
            </a:r>
            <a:br>
              <a:rPr sz="1200">
                <a:latin typeface="Times New Roman"/>
                <a:ea typeface="Times New Roman"/>
                <a:cs typeface="Times New Roman"/>
              </a:rPr>
            </a:br>
            <a:r>
              <a:rPr sz="1200">
                <a:latin typeface="Times New Roman"/>
                <a:ea typeface="Times New Roman"/>
                <a:cs typeface="Times New Roman"/>
              </a:rPr>
              <a:t>Workbook: Assumptions!C33:G36 and C41:J43; Energy!F18:H22. Step 4 engineering report, pages 3–6. Load bins 25/50/75/100%, with 750/1,250/750/250 hours, totaling 1,950,000 cooling ton-hours. Whole AHU replacement is not specified. Chart uses saved annual kWh directly.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Times New Roman"/>
                <a:ea typeface="Times New Roman"/>
                <a:cs typeface="Times New Roman"/>
              </a:rPr>
              <a:t>Suggested timing: 55 seconds</a:t>
            </a:r>
            <a:br>
              <a:rPr sz="1200">
                <a:latin typeface="Times New Roman"/>
                <a:ea typeface="Times New Roman"/>
                <a:cs typeface="Times New Roman"/>
              </a:rPr>
            </a:br>
            <a:br>
              <a:rPr sz="1200">
                <a:latin typeface="Times New Roman"/>
                <a:ea typeface="Times New Roman"/>
                <a:cs typeface="Times New Roman"/>
              </a:rPr>
            </a:br>
            <a:r>
              <a:rPr sz="1200">
                <a:latin typeface="Times New Roman"/>
                <a:ea typeface="Times New Roman"/>
                <a:cs typeface="Times New Roman"/>
              </a:rPr>
              <a:t>The full budget totals five million dollars, compared with 1.669 million for the partial option. The table groups the existing budget line items without changing the total. These are planning allowances, not supplier quotations. I kept capital spending separate from annual operating savings. At the illustrative twenty-cent rate, electricity savings are 229,440 dollars for B and 95,400 dollars for C. Adding maintenance and repair reductions, then subtracting recurring analytics costs, gives 399,440 and 190,400 dollars of pretax savings in Year 1. The model assumes the owner retains all of those operating savings. Actual utility tariffs and lease terms would need to support that assumption.</a:t>
            </a:r>
            <a:br>
              <a:rPr sz="1200">
                <a:latin typeface="Times New Roman"/>
                <a:ea typeface="Times New Roman"/>
                <a:cs typeface="Times New Roman"/>
              </a:rPr>
            </a:br>
            <a:br>
              <a:rPr sz="1200">
                <a:latin typeface="Times New Roman"/>
                <a:ea typeface="Times New Roman"/>
                <a:cs typeface="Times New Roman"/>
              </a:rPr>
            </a:br>
            <a:r>
              <a:rPr sz="1200">
                <a:latin typeface="Times New Roman"/>
                <a:ea typeface="Times New Roman"/>
                <a:cs typeface="Times New Roman"/>
              </a:rPr>
              <a:t>Source notes (not part of spoken script):</a:t>
            </a:r>
            <a:br>
              <a:rPr sz="1200">
                <a:latin typeface="Times New Roman"/>
                <a:ea typeface="Times New Roman"/>
                <a:cs typeface="Times New Roman"/>
              </a:rPr>
            </a:br>
            <a:r>
              <a:rPr sz="1200">
                <a:latin typeface="Times New Roman"/>
                <a:ea typeface="Times New Roman"/>
                <a:cs typeface="Times New Roman"/>
              </a:rPr>
              <a:t>Workbook: CapEx!C8:I25, Energy!F24:H29 and Assumptions!E22, E47:G49, E60. Equipment = chillers, tower, pumps and AHU fan/drive/damper work (rows 8–11). Controls + monitoring = rows 12+21. Installation + enabling = rows 13+15+16+19+20. Design, permits + training = rows 14+17+18. Contingency = row 24. Full total $5,000,000, partial $1,669,000. Maintenance/repair savings combine recurring categories only; future capital events remain in the cash flow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Times New Roman"/>
                <a:ea typeface="Times New Roman"/>
                <a:cs typeface="Times New Roman"/>
              </a:rPr>
              <a:t>Suggested timing: 60 seconds</a:t>
            </a:r>
            <a:br>
              <a:rPr sz="1200">
                <a:latin typeface="Times New Roman"/>
                <a:ea typeface="Times New Roman"/>
                <a:cs typeface="Times New Roman"/>
              </a:rPr>
            </a:br>
            <a:br>
              <a:rPr sz="1200">
                <a:latin typeface="Times New Roman"/>
                <a:ea typeface="Times New Roman"/>
                <a:cs typeface="Times New Roman"/>
              </a:rPr>
            </a:br>
            <a:r>
              <a:rPr sz="1200">
                <a:latin typeface="Times New Roman"/>
                <a:ea typeface="Times New Roman"/>
                <a:cs typeface="Times New Roman"/>
              </a:rPr>
              <a:t>The valuation uses dated incremental after-tax cash flows, with the initial investment at the end of 2026 and ten operating years through 2036. NPV is the primary comparison because it accounts for the timing of cash flows and expresses value in dollars. Full modernization has a negative NPV of about 1.755 million dollars. Partial upgrade has a positive NPV of only 68,531 dollars. Its 9.44 percent IRR is only modestly above the 8.5 percent discount rate. Simple payback is 6.51 years, but discounted payback is 9.12 years. Those are interpolated after-tax recovery periods. The small positive NPV is a conditional model result, not a guaranteed profit.</a:t>
            </a:r>
            <a:br>
              <a:rPr sz="1200">
                <a:latin typeface="Times New Roman"/>
                <a:ea typeface="Times New Roman"/>
                <a:cs typeface="Times New Roman"/>
              </a:rPr>
            </a:br>
            <a:br>
              <a:rPr sz="1200">
                <a:latin typeface="Times New Roman"/>
                <a:ea typeface="Times New Roman"/>
                <a:cs typeface="Times New Roman"/>
              </a:rPr>
            </a:br>
            <a:r>
              <a:rPr sz="1200">
                <a:latin typeface="Times New Roman"/>
                <a:ea typeface="Times New Roman"/>
                <a:cs typeface="Times New Roman"/>
              </a:rPr>
              <a:t>Source notes (not part of spoken script):</a:t>
            </a:r>
            <a:br>
              <a:rPr sz="1200">
                <a:latin typeface="Times New Roman"/>
                <a:ea typeface="Times New Roman"/>
                <a:cs typeface="Times New Roman"/>
              </a:rPr>
            </a:br>
            <a:r>
              <a:rPr sz="1200">
                <a:latin typeface="Times New Roman"/>
                <a:ea typeface="Times New Roman"/>
                <a:cs typeface="Times New Roman"/>
              </a:rPr>
              <a:t>Workbook: Cash Flow!D7:N8, D54:N54, D76:N76 and E89:F93; Summary!E10:F14. Exact NPVs −$1,754,620.454588824 and +$68,530.6396530481. Exact XIRRs −0.3826483% and 9.4442685%. C simple/discounted paybacks 6.509599896 / 9.118548802; year-end cash-flow crossings occur in Years 7/10. Neither B payback occurs within 10 years.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Times New Roman"/>
                <a:ea typeface="Times New Roman"/>
                <a:cs typeface="Times New Roman"/>
              </a:rPr>
              <a:t>Suggested timing: 60 seconds</a:t>
            </a:r>
            <a:br>
              <a:rPr sz="1200">
                <a:latin typeface="Times New Roman"/>
                <a:ea typeface="Times New Roman"/>
                <a:cs typeface="Times New Roman"/>
              </a:rPr>
            </a:br>
            <a:br>
              <a:rPr sz="1200">
                <a:latin typeface="Times New Roman"/>
                <a:ea typeface="Times New Roman"/>
                <a:cs typeface="Times New Roman"/>
              </a:rPr>
            </a:br>
            <a:r>
              <a:rPr sz="1200">
                <a:latin typeface="Times New Roman"/>
                <a:ea typeface="Times New Roman"/>
                <a:cs typeface="Times New Roman"/>
              </a:rPr>
              <a:t>The financial scenarios change several assumptions together. They are different from the A, B and C engineering alternatives. In the optimistic case, partial upgrade reaches about 622,000 dollars of NPV while full modernization remains negative. In the downside case, both upgrades are negative. These scenarios are illustrations, and their weights are subjective judgments rather than measured probabilities. The partial option has little room for error: roughly 4.32 percent higher initial cost erases its positive base NPV, with other inputs fixed. The future repair and replacement needs of the existing system are especially important because avoiding that spending is a significant benefit. Cost bids, operating measurements, lease terms and tax classification need stronger support.</a:t>
            </a:r>
            <a:br>
              <a:rPr sz="1200">
                <a:latin typeface="Times New Roman"/>
                <a:ea typeface="Times New Roman"/>
                <a:cs typeface="Times New Roman"/>
              </a:rPr>
            </a:br>
            <a:br>
              <a:rPr sz="1200">
                <a:latin typeface="Times New Roman"/>
                <a:ea typeface="Times New Roman"/>
                <a:cs typeface="Times New Roman"/>
              </a:rPr>
            </a:br>
            <a:r>
              <a:rPr sz="1200">
                <a:latin typeface="Times New Roman"/>
                <a:ea typeface="Times New Roman"/>
                <a:cs typeface="Times New Roman"/>
              </a:rPr>
              <a:t>Source notes (not part of spoken script):</a:t>
            </a:r>
            <a:br>
              <a:rPr sz="1200">
                <a:latin typeface="Times New Roman"/>
                <a:ea typeface="Times New Roman"/>
                <a:cs typeface="Times New Roman"/>
              </a:rPr>
            </a:br>
            <a:r>
              <a:rPr sz="1200">
                <a:latin typeface="Times New Roman"/>
                <a:ea typeface="Times New Roman"/>
                <a:cs typeface="Times New Roman"/>
              </a:rPr>
              <a:t>Workbook: Scenarios!E8:F10 and E52; Assumptions!E61:E83. NPV pairs B/C: Base −$1,754,620.4546 / +$68,530.6397; Optimistic −$514,311.9421 / +$621,751.6997; Downside −$3,908,536.7824 / −$838,052.2225. The rate under each category is its discount-rate assumption, not the only changing input. Assumptions Validation(1).pdf, pages 8–9. C cost break-even $1,741,161 with initial related tax basis scaled consistently. Future capital event timing/scope is fixed across the standard scenarios; they do not exhaust this uncertainty.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Times New Roman"/>
                <a:ea typeface="Times New Roman"/>
                <a:cs typeface="Times New Roman"/>
              </a:rPr>
              <a:t>Suggested timing: 55 seconds</a:t>
            </a:r>
            <a:br>
              <a:rPr sz="1200">
                <a:latin typeface="Times New Roman"/>
                <a:ea typeface="Times New Roman"/>
                <a:cs typeface="Times New Roman"/>
              </a:rPr>
            </a:br>
            <a:br>
              <a:rPr sz="1200">
                <a:latin typeface="Times New Roman"/>
                <a:ea typeface="Times New Roman"/>
                <a:cs typeface="Times New Roman"/>
              </a:rPr>
            </a:br>
            <a:r>
              <a:rPr sz="1200">
                <a:latin typeface="Times New Roman"/>
                <a:ea typeface="Times New Roman"/>
                <a:cs typeface="Times New Roman"/>
              </a:rPr>
              <a:t>My conclusion is to investigate the partial upgrade further, while withholding unconditional approval of either option. Full modernization gives the largest energy reduction, but its additional capital does not earn enough modeled value during the ten-year window. The partial option performs better financially, but its positive NPV is small and depends on assumptions that still need evidence. I would first verify installation bids and the existing equipment’s repair and replacement needs, then measure operating performance and confirm who keeps the savings. Ten years is a consistent planning period, not the equipment’s entire life. Excluded terminal value and later tax benefits may affect the comparison. This project demonstrates how I connect HVAC calculations to a defensible financial decision.</a:t>
            </a:r>
            <a:br>
              <a:rPr sz="1200">
                <a:latin typeface="Times New Roman"/>
                <a:ea typeface="Times New Roman"/>
                <a:cs typeface="Times New Roman"/>
              </a:rPr>
            </a:br>
            <a:br>
              <a:rPr sz="1200">
                <a:latin typeface="Times New Roman"/>
                <a:ea typeface="Times New Roman"/>
                <a:cs typeface="Times New Roman"/>
              </a:rPr>
            </a:br>
            <a:r>
              <a:rPr sz="1200">
                <a:latin typeface="Times New Roman"/>
                <a:ea typeface="Times New Roman"/>
                <a:cs typeface="Times New Roman"/>
              </a:rPr>
              <a:t>Source notes (not part of spoken script):</a:t>
            </a:r>
            <a:br>
              <a:rPr sz="1200">
                <a:latin typeface="Times New Roman"/>
                <a:ea typeface="Times New Roman"/>
                <a:cs typeface="Times New Roman"/>
              </a:rPr>
            </a:br>
            <a:r>
              <a:rPr sz="1200">
                <a:latin typeface="Times New Roman"/>
                <a:ea typeface="Times New Roman"/>
                <a:cs typeface="Times New Roman"/>
              </a:rPr>
              <a:t>Manhattan_HVAC_Executive_Investment_Summary(1).pdf, page 1, Final Recommendation and Project Limitations. Workbook: CapEx!F25/I25 and Cash Flow!E89:F93. B−C additional initial capital $3,331,000, NPV difference −$1,823,151.0942. No terminal value or new residual-value assumption is introduced. Source uncertainty is documented in Steps 1, 3 and 4. No actual investment approval, consulting engagement or measured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d57cfdfd25497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1451a97ccdc446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9ab5d3791e8459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157fdaa7981487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be75e25412e487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4a4deafd27d48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F69291-A8CB-447E-A10F-66731B43F3A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89AAFFB-E8F0-4F37-9B20-A0F15E7CD99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817874D-CB32-43FC-B485-7301FE71A4D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8FFE69-9A25-46C3-B05D-D23D7C9E4A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3C76F15-6685-48E3-BBB9-9945EFC9828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61563C4-F471-45E9-A9A2-49E223C316D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41CF6D-6CB1-43EE-9414-6BBEF50746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9B18BB1-2DE5-4473-8F3F-38C8E8B3989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83CC72-2136-4F5E-BA12-7ADC376EDF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A9E0B4-DF92-42B2-871C-CE9BB786908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db104882a94458" /><Relationship Type="http://schemas.openxmlformats.org/officeDocument/2006/relationships/slideLayout" Target="/ppt/slideLayouts/slideLayout1.xml" Id="R9faf38a3e42142d7" /><Relationship Type="http://schemas.openxmlformats.org/officeDocument/2006/relationships/slideLayout" Target="/ppt/slideLayouts/slideLayout2.xml" Id="R02677732448f451e" /><Relationship Type="http://schemas.openxmlformats.org/officeDocument/2006/relationships/slideLayout" Target="/ppt/slideLayouts/slideLayout3.xml" Id="R975471fa271846b5" /><Relationship Type="http://schemas.openxmlformats.org/officeDocument/2006/relationships/slideLayout" Target="/ppt/slideLayouts/slideLayout4.xml" Id="Rd508fbf2b7f14e6d" /><Relationship Type="http://schemas.openxmlformats.org/officeDocument/2006/relationships/slideLayout" Target="/ppt/slideLayouts/slideLayout5.xml" Id="R44dd3509bd964a6b" /><Relationship Type="http://schemas.openxmlformats.org/officeDocument/2006/relationships/slideLayout" Target="/ppt/slideLayouts/slideLayout6.xml" Id="R07e5b6f0fd914c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af38a3e42142d7"/>
    <p:sldLayoutId xmlns:r="http://schemas.openxmlformats.org/officeDocument/2006/relationships" id="2147483650" r:id="R02677732448f451e"/>
    <p:sldLayoutId xmlns:r="http://schemas.openxmlformats.org/officeDocument/2006/relationships" id="2147483651" r:id="R975471fa271846b5"/>
    <p:sldLayoutId xmlns:r="http://schemas.openxmlformats.org/officeDocument/2006/relationships" id="2147483652" r:id="Rd508fbf2b7f14e6d"/>
    <p:sldLayoutId xmlns:r="http://schemas.openxmlformats.org/officeDocument/2006/relationships" id="2147483653" r:id="R44dd3509bd964a6b"/>
    <p:sldLayoutId xmlns:r="http://schemas.openxmlformats.org/officeDocument/2006/relationships" id="2147483654" r:id="R07e5b6f0fd914c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1b4132e19404e32" /><Relationship Type="http://schemas.openxmlformats.org/officeDocument/2006/relationships/notesSlide" Target="/ppt/notesSlides/notesSlide1.xml" Id="R5b9a2f69e9a74b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6041833972e4346" /><Relationship Type="http://schemas.openxmlformats.org/officeDocument/2006/relationships/notesSlide" Target="/ppt/notesSlides/notesSlide2.xml" Id="Rea373206f86943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9ba5dd20f1e45ea" /><Relationship Type="http://schemas.openxmlformats.org/officeDocument/2006/relationships/chart" Target="/ppt/slides/charts/chart1.xml" Id="R0c1995725a334e7c" /><Relationship Type="http://schemas.openxmlformats.org/officeDocument/2006/relationships/notesSlide" Target="/ppt/notesSlides/notesSlide3.xml" Id="R252b13ee2ece40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7c9eedb269e41c4" /><Relationship Type="http://schemas.openxmlformats.org/officeDocument/2006/relationships/notesSlide" Target="/ppt/notesSlides/notesSlide4.xml" Id="R673715d6b3314c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e0e2ae1b147434b" /><Relationship Type="http://schemas.openxmlformats.org/officeDocument/2006/relationships/chart" Target="/ppt/slides/charts/chart2.xml" Id="R7cdb9c4577de436f" /><Relationship Type="http://schemas.openxmlformats.org/officeDocument/2006/relationships/notesSlide" Target="/ppt/notesSlides/notesSlide5.xml" Id="R88e12c53c5a24b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6bb0ff2611f4bf0" /><Relationship Type="http://schemas.openxmlformats.org/officeDocument/2006/relationships/chart" Target="/ppt/slides/charts/chart3.xml" Id="Rf88aac7abc8b4bb2" /><Relationship Type="http://schemas.openxmlformats.org/officeDocument/2006/relationships/notesSlide" Target="/ppt/notesSlides/notesSlide6.xml" Id="Rc8457de6816743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8a66c4fb2d34195" /><Relationship Type="http://schemas.openxmlformats.org/officeDocument/2006/relationships/notesSlide" Target="/ppt/notesSlides/notesSlide7.xml" Id="R3aa9041589ac47c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Annual HVAC electricity</c:v>
          </c:tx>
          <c:spPr>
            <a:solidFill xmlns:a="http://schemas.openxmlformats.org/drawingml/2006/main">
              <a:srgbClr val="666666"/>
            </a:solidFill>
          </c:spPr>
          <c:invertIfNegative val="0"/>
          <c:dPt>
            <c:idx val="0"/>
            <c:invertIfNegative val="0"/>
            <c:spPr>
              <a:solidFill xmlns:a="http://schemas.openxmlformats.org/drawingml/2006/main">
                <a:srgbClr val="BFBFBF"/>
              </a:solidFill>
            </c:spPr>
          </c:dPt>
          <c:dPt>
            <c:idx val="1"/>
            <c:invertIfNegative val="0"/>
            <c:spPr>
              <a:solidFill xmlns:a="http://schemas.openxmlformats.org/drawingml/2006/main">
                <a:srgbClr val="404040"/>
              </a:solidFill>
            </c:spPr>
          </c:dPt>
          <c:dPt>
            <c:idx val="2"/>
            <c:invertIfNegative val="0"/>
            <c:spPr>
              <a:solidFill xmlns:a="http://schemas.openxmlformats.org/drawingml/2006/main">
                <a:srgbClr val="566F7A"/>
              </a:solidFill>
            </c:spPr>
          </c:dPt>
          <c:cat>
            <c:strRef>
              <c:f>'Chart Data'!$A$2:$A$4</c:f>
              <c:strCache>
                <c:ptCount val="3"/>
                <c:pt idx="0">
                  <c:v>A: Existing</c:v>
                </c:pt>
                <c:pt idx="1">
                  <c:v>B: Full</c:v>
                </c:pt>
                <c:pt idx="2">
                  <c:v>C: Partial</c:v>
                </c:pt>
              </c:strCache>
            </c:strRef>
          </c:cat>
          <c:val>
            <c:numRef>
              <c:f>'Chart Data'!$B$2:$B$4</c:f>
              <c:numCache>
                <c:formatCode>0.0,,</c:formatCode>
                <c:ptCount val="3"/>
                <c:pt idx="0">
                  <c:v>3043500</c:v>
                </c:pt>
                <c:pt idx="1">
                  <c:v>1896300</c:v>
                </c:pt>
                <c:pt idx="2">
                  <c:v>2566500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00">
                  <a:solidFill>
                    <a:srgbClr val="222222"/>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535353"/>
            </a:solidFill>
            <a:prstDash val="solid"/>
          </a:ln>
        </c:spPr>
        <c:txPr>
          <a:bodyPr xmlns:a="http://schemas.openxmlformats.org/drawingml/2006/main" anchorCtr="1"/>
          <a:lstStyle xmlns:a="http://schemas.openxmlformats.org/drawingml/2006/main"/>
          <a:p xmlns:a="http://schemas.openxmlformats.org/drawingml/2006/main">
            <a:pPr>
              <a:defRPr sz="1600">
                <a:solidFill>
                  <a:srgbClr val="222222"/>
                </a:solidFill>
                <a:latin typeface="Times New Roman"/>
                <a:ea typeface="Times New Roman"/>
                <a:cs typeface="Times New Roman"/>
              </a:defRPr>
            </a:pPr>
          </a:p>
        </c:txPr>
        <c:crossAx val="48672768"/>
      </c:catAx>
      <c:valAx>
        <c:axId val="48672768"/>
        <c:scaling>
          <c:orientation val="minMax"/>
          <c:max val="3500000"/>
          <c:min val="0"/>
        </c:scaling>
        <c:delete val="0"/>
        <c:axPos val="l"/>
        <c:majorGridlines>
          <c:spPr>
            <a:ln xmlns:a="http://schemas.openxmlformats.org/drawingml/2006/main" w="6668">
              <a:solidFill>
                <a:srgbClr val="DEDEDE"/>
              </a:solidFill>
              <a:prstDash val="solid"/>
            </a:ln>
          </c:spPr>
        </c:majorGridlines>
        <c:numFmt formatCode="0.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400">
                <a:solidFill>
                  <a:srgbClr val="535353"/>
                </a:solidFill>
                <a:latin typeface="Times New Roman"/>
                <a:ea typeface="Times New Roman"/>
                <a:cs typeface="Times New Roman"/>
              </a:defRPr>
            </a:pPr>
          </a:p>
        </c:txPr>
        <c:crossAx val="48650112"/>
        <c:crossBetween val="between"/>
        <c:majorUnit val="100000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Base NPV</c:v>
          </c:tx>
          <c:spPr>
            <a:solidFill xmlns:a="http://schemas.openxmlformats.org/drawingml/2006/main">
              <a:srgbClr val="404040"/>
            </a:solidFill>
          </c:spPr>
          <c:invertIfNegative val="0"/>
          <c:dPt>
            <c:idx val="0"/>
            <c:invertIfNegative val="0"/>
            <c:spPr>
              <a:solidFill xmlns:a="http://schemas.openxmlformats.org/drawingml/2006/main">
                <a:srgbClr val="BFBFBF"/>
              </a:solidFill>
            </c:spPr>
          </c:dPt>
          <c:dPt>
            <c:idx val="1"/>
            <c:invertIfNegative val="0"/>
            <c:spPr>
              <a:solidFill xmlns:a="http://schemas.openxmlformats.org/drawingml/2006/main">
                <a:srgbClr val="404040"/>
              </a:solidFill>
            </c:spPr>
          </c:dPt>
          <c:dPt>
            <c:idx val="2"/>
            <c:invertIfNegative val="0"/>
            <c:spPr>
              <a:solidFill xmlns:a="http://schemas.openxmlformats.org/drawingml/2006/main">
                <a:srgbClr val="566F7A"/>
              </a:solidFill>
            </c:spPr>
          </c:dPt>
          <c:cat>
            <c:strRef>
              <c:f>'Chart Data'!$A$2:$A$4</c:f>
              <c:strCache>
                <c:ptCount val="3"/>
                <c:pt idx="0">
                  <c:v>A: Existing</c:v>
                </c:pt>
                <c:pt idx="1">
                  <c:v>B: Full</c:v>
                </c:pt>
                <c:pt idx="2">
                  <c:v>C: Partial</c:v>
                </c:pt>
              </c:strCache>
            </c:strRef>
          </c:cat>
          <c:val>
            <c:numRef>
              <c:f>'Chart Data'!$B$2:$B$4</c:f>
              <c:numCache>
                <c:formatCode>0.0,,</c:formatCode>
                <c:ptCount val="3"/>
                <c:pt idx="0">
                  <c:v>0</c:v>
                </c:pt>
                <c:pt idx="1">
                  <c:v>-1754620.45</c:v>
                </c:pt>
                <c:pt idx="2">
                  <c:v>68530.64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00">
                  <a:solidFill>
                    <a:srgbClr val="222222"/>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535353"/>
            </a:solidFill>
            <a:prstDash val="solid"/>
          </a:ln>
        </c:spPr>
        <c:txPr>
          <a:bodyPr xmlns:a="http://schemas.openxmlformats.org/drawingml/2006/main" anchorCtr="1"/>
          <a:lstStyle xmlns:a="http://schemas.openxmlformats.org/drawingml/2006/main"/>
          <a:p xmlns:a="http://schemas.openxmlformats.org/drawingml/2006/main">
            <a:pPr>
              <a:defRPr sz="1600">
                <a:solidFill>
                  <a:srgbClr val="222222"/>
                </a:solidFill>
                <a:latin typeface="Times New Roman"/>
                <a:ea typeface="Times New Roman"/>
                <a:cs typeface="Times New Roman"/>
              </a:defRPr>
            </a:pPr>
          </a:p>
        </c:txPr>
        <c:crossAx val="48672768"/>
      </c:catAx>
      <c:valAx>
        <c:axId val="48672768"/>
        <c:scaling>
          <c:orientation val="minMax"/>
          <c:max val="500000"/>
          <c:min val="-2000000"/>
        </c:scaling>
        <c:delete val="0"/>
        <c:axPos val="l"/>
        <c:majorGridlines>
          <c:spPr>
            <a:ln xmlns:a="http://schemas.openxmlformats.org/drawingml/2006/main" w="6668">
              <a:solidFill>
                <a:srgbClr val="DEDEDE"/>
              </a:solidFill>
              <a:prstDash val="solid"/>
            </a:ln>
          </c:spPr>
        </c:majorGridlines>
        <c:numFmt formatCode="0.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400">
                <a:solidFill>
                  <a:srgbClr val="535353"/>
                </a:solidFill>
                <a:latin typeface="Times New Roman"/>
                <a:ea typeface="Times New Roman"/>
                <a:cs typeface="Times New Roman"/>
              </a:defRPr>
            </a:pPr>
          </a:p>
        </c:txPr>
        <c:crossAx val="48650112"/>
        <c:crossBetween val="between"/>
        <c:majorUnit val="50000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 Full</c:v>
          </c:tx>
          <c:spPr>
            <a:solidFill xmlns:a="http://schemas.openxmlformats.org/drawingml/2006/main">
              <a:srgbClr val="404040"/>
            </a:solidFill>
          </c:spPr>
          <c:invertIfNegative val="0"/>
          <c:cat>
            <c:strRef>
              <c:f>'Chart Data'!$A$2:$A$4</c:f>
              <c:strCache>
                <c:ptCount val="3"/>
                <c:pt idx="0">
                  <c:v>Base
8.5%</c:v>
                </c:pt>
                <c:pt idx="1">
                  <c:v>Optimistic
7.0%</c:v>
                </c:pt>
                <c:pt idx="2">
                  <c:v>Downside
11.0%</c:v>
                </c:pt>
              </c:strCache>
            </c:strRef>
          </c:cat>
          <c:val>
            <c:numRef>
              <c:f>'Chart Data'!$B$2:$B$4</c:f>
              <c:numCache>
                <c:formatCode>0.0</c:formatCode>
                <c:ptCount val="3"/>
                <c:pt idx="0">
                  <c:v>-1.75462</c:v>
                </c:pt>
                <c:pt idx="1">
                  <c:v>-0.514312</c:v>
                </c:pt>
                <c:pt idx="2">
                  <c:v>-3.908537</c:v>
                </c:pt>
              </c:numCache>
            </c:numRef>
          </c:val>
        </c:ser>
        <c:ser>
          <c:idx val="1"/>
          <c:order val="1"/>
          <c:tx>
            <c:v>C: Partial</c:v>
          </c:tx>
          <c:spPr>
            <a:solidFill xmlns:a="http://schemas.openxmlformats.org/drawingml/2006/main">
              <a:srgbClr val="566F7A"/>
            </a:solidFill>
          </c:spPr>
          <c:invertIfNegative val="0"/>
          <c:cat>
            <c:strRef>
              <c:f>'Chart Data'!$C$2:$C$4</c:f>
              <c:strCache>
                <c:ptCount val="3"/>
                <c:pt idx="0">
                  <c:v>Base
8.5%</c:v>
                </c:pt>
                <c:pt idx="1">
                  <c:v>Optimistic
7.0%</c:v>
                </c:pt>
                <c:pt idx="2">
                  <c:v>Downside
11.0%</c:v>
                </c:pt>
              </c:strCache>
            </c:strRef>
          </c:cat>
          <c:val>
            <c:numRef>
              <c:f>'Chart Data'!$D$2:$D$4</c:f>
              <c:numCache>
                <c:formatCode>0.0</c:formatCode>
                <c:ptCount val="3"/>
                <c:pt idx="0">
                  <c:v>0.068531</c:v>
                </c:pt>
                <c:pt idx="1">
                  <c:v>0.621752</c:v>
                </c:pt>
                <c:pt idx="2">
                  <c:v>-0.838052</c:v>
                </c:pt>
              </c:numCache>
            </c:numRef>
          </c:val>
        </c:ser>
        <c:dLbls>
          <c:numFmt formatCode="+0.000;-0.000;0.000" sourceLinked="0"/>
          <c:txPr>
            <a:bodyPr xmlns:a="http://schemas.openxmlformats.org/drawingml/2006/main" anchorCtr="1"/>
            <a:lstStyle xmlns:a="http://schemas.openxmlformats.org/drawingml/2006/main"/>
            <a:p xmlns:a="http://schemas.openxmlformats.org/drawingml/2006/main">
              <a:pPr>
                <a:defRPr sz="1600">
                  <a:solidFill>
                    <a:srgbClr val="222222"/>
                  </a:solidFill>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100"/>
        <c:overlap val="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535353"/>
            </a:solidFill>
            <a:prstDash val="solid"/>
          </a:ln>
        </c:spPr>
        <c:txPr>
          <a:bodyPr xmlns:a="http://schemas.openxmlformats.org/drawingml/2006/main" anchorCtr="1"/>
          <a:lstStyle xmlns:a="http://schemas.openxmlformats.org/drawingml/2006/main"/>
          <a:p xmlns:a="http://schemas.openxmlformats.org/drawingml/2006/main">
            <a:pPr>
              <a:defRPr sz="1600">
                <a:solidFill>
                  <a:srgbClr val="222222"/>
                </a:solidFill>
                <a:latin typeface="Times New Roman"/>
                <a:ea typeface="Times New Roman"/>
                <a:cs typeface="Times New Roman"/>
              </a:defRPr>
            </a:pPr>
          </a:p>
        </c:txPr>
        <c:crossAx val="48672768"/>
      </c:catAx>
      <c:valAx>
        <c:axId val="48672768"/>
        <c:scaling>
          <c:orientation val="minMax"/>
          <c:max val="1"/>
          <c:min val="-5"/>
        </c:scaling>
        <c:delete val="0"/>
        <c:axPos val="l"/>
        <c:majorGridlines>
          <c:spPr>
            <a:ln xmlns:a="http://schemas.openxmlformats.org/drawingml/2006/main" w="6668">
              <a:solidFill>
                <a:srgbClr val="DEDEDE"/>
              </a:solidFill>
              <a:prstDash val="solid"/>
            </a:ln>
          </c:spPr>
        </c:majorGridlines>
        <c:numFmt formatCode="0.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400">
                <a:solidFill>
                  <a:srgbClr val="535353"/>
                </a:solidFill>
                <a:latin typeface="Times New Roman"/>
                <a:ea typeface="Times New Roman"/>
                <a:cs typeface="Times New Roman"/>
              </a:defRPr>
            </a:pPr>
          </a:p>
        </c:txPr>
        <c:crossAx val="48650112"/>
        <c:crossBetween val="between"/>
        <c:majorUnit val="1"/>
      </c:valAx>
      <c:spPr>
        <a:solidFill xmlns:a="http://schemas.openxmlformats.org/drawingml/2006/main">
          <a:srgbClr val="FFFFFF"/>
        </a:solidFill>
        <a:ln xmlns:a="http://schemas.openxmlformats.org/drawingml/2006/main" w="0">
          <a:noFill/>
          <a:prstDash val="solid"/>
        </a:ln>
      </c:spPr>
    </c:plotArea>
    <c:legend>
      <c:legendPos val="t"/>
      <c:overlay val="0"/>
      <c:txPr>
        <a:bodyPr xmlns:a="http://schemas.openxmlformats.org/drawingml/2006/main" anchorCtr="1"/>
        <a:lstStyle xmlns:a="http://schemas.openxmlformats.org/drawingml/2006/main"/>
        <a:p xmlns:a="http://schemas.openxmlformats.org/drawingml/2006/main">
          <a:pPr>
            <a:defRPr sz="1600">
              <a:solidFill>
                <a:srgbClr val="222222"/>
              </a:solidFill>
              <a:latin typeface="Times New Roman"/>
              <a:ea typeface="Times New Roman"/>
              <a:cs typeface="Times New Roman"/>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BB37DF3A-FD19-4B83-AD27-A175A5CC79F9}"/>
              </a:ext>
            </a:extLst>
          </p:cNvPr>
          <p:cNvSpPr>
            <a:spLocks xmlns:a="http://schemas.openxmlformats.org/drawingml/2006/main" noGrp="1"/>
          </p:cNvSpPr>
          <p:nvPr/>
        </p:nvSpPr>
        <p:spPr>
          <a:xfrm xmlns:a="http://schemas.openxmlformats.org/drawingml/2006/main">
            <a:off x="533400" y="304800"/>
            <a:ext cx="111252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00" b="1">
                <a:solidFill>
                  <a:srgbClr val="222222"/>
                </a:solidFill>
                <a:latin typeface="Times New Roman"/>
                <a:ea typeface="Times New Roman"/>
                <a:cs typeface="Times New Roman"/>
              </a:defRPr>
            </a:defPPr>
            <a:lvl1pPr algn="l">
              <a:defRPr sz="3200" b="1">
                <a:solidFill>
                  <a:srgbClr val="222222"/>
                </a:solidFill>
                <a:latin typeface="Times New Roman"/>
                <a:ea typeface="Times New Roman"/>
                <a:cs typeface="Times New Roman"/>
              </a:defRPr>
            </a:lvl1pPr>
            <a:lvl2pPr algn="l">
              <a:defRPr sz="3200" b="1">
                <a:solidFill>
                  <a:srgbClr val="222222"/>
                </a:solidFill>
                <a:latin typeface="Times New Roman"/>
                <a:ea typeface="Times New Roman"/>
                <a:cs typeface="Times New Roman"/>
              </a:defRPr>
            </a:lvl2pPr>
            <a:lvl3pPr algn="l">
              <a:defRPr sz="3200" b="1">
                <a:solidFill>
                  <a:srgbClr val="222222"/>
                </a:solidFill>
                <a:latin typeface="Times New Roman"/>
                <a:ea typeface="Times New Roman"/>
                <a:cs typeface="Times New Roman"/>
              </a:defRPr>
            </a:lvl3pPr>
            <a:lvl4pPr algn="l">
              <a:defRPr sz="3200" b="1">
                <a:solidFill>
                  <a:srgbClr val="222222"/>
                </a:solidFill>
                <a:latin typeface="Times New Roman"/>
                <a:ea typeface="Times New Roman"/>
                <a:cs typeface="Times New Roman"/>
              </a:defRPr>
            </a:lvl4pPr>
            <a:lvl5pPr algn="l">
              <a:defRPr sz="3200" b="1">
                <a:solidFill>
                  <a:srgbClr val="222222"/>
                </a:solidFill>
                <a:latin typeface="Times New Roman"/>
                <a:ea typeface="Times New Roman"/>
                <a:cs typeface="Times New Roman"/>
              </a:defRPr>
            </a:lvl5pPr>
            <a:lvl6pPr algn="l">
              <a:defRPr sz="3200" b="1">
                <a:solidFill>
                  <a:srgbClr val="222222"/>
                </a:solidFill>
                <a:latin typeface="Times New Roman"/>
                <a:ea typeface="Times New Roman"/>
                <a:cs typeface="Times New Roman"/>
              </a:defRPr>
            </a:lvl6pPr>
            <a:lvl7pPr algn="l">
              <a:defRPr sz="3200" b="1">
                <a:solidFill>
                  <a:srgbClr val="222222"/>
                </a:solidFill>
                <a:latin typeface="Times New Roman"/>
                <a:ea typeface="Times New Roman"/>
                <a:cs typeface="Times New Roman"/>
              </a:defRPr>
            </a:lvl7pPr>
            <a:lvl8pPr algn="l">
              <a:defRPr sz="3200" b="1">
                <a:solidFill>
                  <a:srgbClr val="222222"/>
                </a:solidFill>
                <a:latin typeface="Times New Roman"/>
                <a:ea typeface="Times New Roman"/>
                <a:cs typeface="Times New Roman"/>
              </a:defRPr>
            </a:lvl8pPr>
            <a:lvl9pPr algn="l">
              <a:defRPr sz="3200" b="1">
                <a:solidFill>
                  <a:srgbClr val="222222"/>
                </a:solidFill>
                <a:latin typeface="Times New Roman"/>
                <a:ea typeface="Times New Roman"/>
                <a:cs typeface="Times New Roman"/>
              </a:defRPr>
            </a:lvl9pPr>
          </a:lstStyle>
          <a:p xmlns:a="http://schemas.openxmlformats.org/drawingml/2006/main">
            <a:pPr algn="l">
              <a:defRPr sz="3200" b="1">
                <a:solidFill>
                  <a:srgbClr val="222222"/>
                </a:solidFill>
                <a:latin typeface="Times New Roman"/>
                <a:ea typeface="Times New Roman"/>
                <a:cs typeface="Times New Roman"/>
              </a:defRPr>
            </a:pPr>
            <a:r>
              <a:rPr sz="3200" b="1">
                <a:solidFill>
                  <a:srgbClr val="222222"/>
                </a:solidFill>
                <a:latin typeface="Times New Roman"/>
                <a:ea typeface="Times New Roman"/>
                <a:cs typeface="Times New Roman"/>
              </a:rPr>
              <a:t>Manhattan Commercial Office Building</a:t>
            </a:r>
          </a:p>
          <a:p xmlns:a="http://schemas.openxmlformats.org/drawingml/2006/main">
            <a:pPr algn="l">
              <a:defRPr sz="3200" b="1">
                <a:solidFill>
                  <a:srgbClr val="222222"/>
                </a:solidFill>
                <a:latin typeface="Times New Roman"/>
                <a:ea typeface="Times New Roman"/>
                <a:cs typeface="Times New Roman"/>
              </a:defRPr>
            </a:pPr>
            <a:r>
              <a:rPr sz="3200" b="1">
                <a:solidFill>
                  <a:srgbClr val="222222"/>
                </a:solidFill>
                <a:latin typeface="Times New Roman"/>
                <a:ea typeface="Times New Roman"/>
                <a:cs typeface="Times New Roman"/>
              </a:rPr>
              <a:t>$5 Million HVAC Modernization</a:t>
            </a:r>
          </a:p>
          <a:p xmlns:a="http://schemas.openxmlformats.org/drawingml/2006/main">
            <a:pPr algn="l">
              <a:defRPr sz="3200" b="1">
                <a:solidFill>
                  <a:srgbClr val="222222"/>
                </a:solidFill>
                <a:latin typeface="Times New Roman"/>
                <a:ea typeface="Times New Roman"/>
                <a:cs typeface="Times New Roman"/>
              </a:defRPr>
            </a:pPr>
            <a:r>
              <a:rPr sz="3200" b="1">
                <a:solidFill>
                  <a:srgbClr val="222222"/>
                </a:solidFill>
                <a:latin typeface="Times New Roman"/>
                <a:ea typeface="Times New Roman"/>
                <a:cs typeface="Times New Roman"/>
              </a:rPr>
              <a:t>Capital Expenditure &amp; ROI Feasibility Study</a:t>
            </a:r>
          </a:p>
        </p:txBody>
      </p:sp>
      <p:sp>
        <p:nvSpPr>
          <p:cNvPr id="2" name="footnote">
            <a:extLst xmlns:a="http://schemas.openxmlformats.org/drawingml/2006/main">
              <a:ext uri="{FF2B5EF4-FFF2-40B4-BE49-F238E27FC236}">
                <a16:creationId xmlns:a16="http://schemas.microsoft.com/office/drawing/2014/main" id="{BB01AC25-5F97-452A-B0D8-9AD605EE8DC4}"/>
              </a:ext>
            </a:extLst>
          </p:cNvPr>
          <p:cNvSpPr>
            <a:spLocks xmlns:a="http://schemas.openxmlformats.org/drawingml/2006/main" noGrp="1"/>
          </p:cNvSpPr>
          <p:nvPr/>
        </p:nvSpPr>
        <p:spPr>
          <a:xfrm xmlns:a="http://schemas.openxmlformats.org/drawingml/2006/main">
            <a:off x="533400" y="6305550"/>
            <a:ext cx="10572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0">
                <a:solidFill>
                  <a:srgbClr val="535353"/>
                </a:solidFill>
                <a:latin typeface="Times New Roman"/>
                <a:ea typeface="Times New Roman"/>
                <a:cs typeface="Times New Roman"/>
              </a:defRPr>
            </a:defPPr>
            <a:lvl1pPr algn="l">
              <a:defRPr sz="1400" b="0">
                <a:solidFill>
                  <a:srgbClr val="535353"/>
                </a:solidFill>
                <a:latin typeface="Times New Roman"/>
                <a:ea typeface="Times New Roman"/>
                <a:cs typeface="Times New Roman"/>
              </a:defRPr>
            </a:lvl1pPr>
            <a:lvl2pPr algn="l">
              <a:defRPr sz="1400" b="0">
                <a:solidFill>
                  <a:srgbClr val="535353"/>
                </a:solidFill>
                <a:latin typeface="Times New Roman"/>
                <a:ea typeface="Times New Roman"/>
                <a:cs typeface="Times New Roman"/>
              </a:defRPr>
            </a:lvl2pPr>
            <a:lvl3pPr algn="l">
              <a:defRPr sz="1400" b="0">
                <a:solidFill>
                  <a:srgbClr val="535353"/>
                </a:solidFill>
                <a:latin typeface="Times New Roman"/>
                <a:ea typeface="Times New Roman"/>
                <a:cs typeface="Times New Roman"/>
              </a:defRPr>
            </a:lvl3pPr>
            <a:lvl4pPr algn="l">
              <a:defRPr sz="1400" b="0">
                <a:solidFill>
                  <a:srgbClr val="535353"/>
                </a:solidFill>
                <a:latin typeface="Times New Roman"/>
                <a:ea typeface="Times New Roman"/>
                <a:cs typeface="Times New Roman"/>
              </a:defRPr>
            </a:lvl4pPr>
            <a:lvl5pPr algn="l">
              <a:defRPr sz="1400" b="0">
                <a:solidFill>
                  <a:srgbClr val="535353"/>
                </a:solidFill>
                <a:latin typeface="Times New Roman"/>
                <a:ea typeface="Times New Roman"/>
                <a:cs typeface="Times New Roman"/>
              </a:defRPr>
            </a:lvl5pPr>
            <a:lvl6pPr algn="l">
              <a:defRPr sz="1400" b="0">
                <a:solidFill>
                  <a:srgbClr val="535353"/>
                </a:solidFill>
                <a:latin typeface="Times New Roman"/>
                <a:ea typeface="Times New Roman"/>
                <a:cs typeface="Times New Roman"/>
              </a:defRPr>
            </a:lvl6pPr>
            <a:lvl7pPr algn="l">
              <a:defRPr sz="1400" b="0">
                <a:solidFill>
                  <a:srgbClr val="535353"/>
                </a:solidFill>
                <a:latin typeface="Times New Roman"/>
                <a:ea typeface="Times New Roman"/>
                <a:cs typeface="Times New Roman"/>
              </a:defRPr>
            </a:lvl7pPr>
            <a:lvl8pPr algn="l">
              <a:defRPr sz="1400" b="0">
                <a:solidFill>
                  <a:srgbClr val="535353"/>
                </a:solidFill>
                <a:latin typeface="Times New Roman"/>
                <a:ea typeface="Times New Roman"/>
                <a:cs typeface="Times New Roman"/>
              </a:defRPr>
            </a:lvl8pPr>
            <a:lvl9pPr algn="l">
              <a:defRPr sz="1400" b="0">
                <a:solidFill>
                  <a:srgbClr val="535353"/>
                </a:solidFill>
                <a:latin typeface="Times New Roman"/>
                <a:ea typeface="Times New Roman"/>
                <a:cs typeface="Times New Roman"/>
              </a:defRPr>
            </a:lvl9pPr>
          </a:lstStyle>
          <a:p xmlns:a="http://schemas.openxmlformats.org/drawingml/2006/main">
            <a:pPr algn="l">
              <a:defRPr sz="1400" b="0">
                <a:solidFill>
                  <a:srgbClr val="535353"/>
                </a:solidFill>
                <a:latin typeface="Times New Roman"/>
                <a:ea typeface="Times New Roman"/>
                <a:cs typeface="Times New Roman"/>
              </a:defRPr>
            </a:pPr>
            <a:r>
              <a:rPr sz="1400" b="0">
                <a:solidFill>
                  <a:srgbClr val="535353"/>
                </a:solidFill>
                <a:latin typeface="Times New Roman"/>
                <a:ea typeface="Times New Roman"/>
                <a:cs typeface="Times New Roman"/>
              </a:rPr>
              <a:t>Independent, hypothetical student project. No actual building investment or client engagement.</a:t>
            </a:r>
          </a:p>
        </p:txBody>
      </p:sp>
      <p:sp>
        <p:nvSpPr>
          <p:cNvPr id="3" name="slide-number">
            <a:extLst xmlns:a="http://schemas.openxmlformats.org/drawingml/2006/main">
              <a:ext uri="{FF2B5EF4-FFF2-40B4-BE49-F238E27FC236}">
                <a16:creationId xmlns:a16="http://schemas.microsoft.com/office/drawing/2014/main" id="{5037992D-07E3-450E-B97B-F945F072C87E}"/>
              </a:ext>
            </a:extLst>
          </p:cNvPr>
          <p:cNvSpPr>
            <a:spLocks xmlns:a="http://schemas.openxmlformats.org/drawingml/2006/main" noGrp="1"/>
          </p:cNvSpPr>
          <p:nvPr/>
        </p:nvSpPr>
        <p:spPr>
          <a:xfrm xmlns:a="http://schemas.openxmlformats.org/drawingml/2006/main">
            <a:off x="11144250" y="63627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00" b="0">
                <a:solidFill>
                  <a:srgbClr val="535353"/>
                </a:solidFill>
                <a:latin typeface="Times New Roman"/>
                <a:ea typeface="Times New Roman"/>
                <a:cs typeface="Times New Roman"/>
              </a:defRPr>
            </a:defPPr>
            <a:lvl1pPr algn="r">
              <a:defRPr sz="1400" b="0">
                <a:solidFill>
                  <a:srgbClr val="535353"/>
                </a:solidFill>
                <a:latin typeface="Times New Roman"/>
                <a:ea typeface="Times New Roman"/>
                <a:cs typeface="Times New Roman"/>
              </a:defRPr>
            </a:lvl1pPr>
            <a:lvl2pPr algn="r">
              <a:defRPr sz="1400" b="0">
                <a:solidFill>
                  <a:srgbClr val="535353"/>
                </a:solidFill>
                <a:latin typeface="Times New Roman"/>
                <a:ea typeface="Times New Roman"/>
                <a:cs typeface="Times New Roman"/>
              </a:defRPr>
            </a:lvl2pPr>
            <a:lvl3pPr algn="r">
              <a:defRPr sz="1400" b="0">
                <a:solidFill>
                  <a:srgbClr val="535353"/>
                </a:solidFill>
                <a:latin typeface="Times New Roman"/>
                <a:ea typeface="Times New Roman"/>
                <a:cs typeface="Times New Roman"/>
              </a:defRPr>
            </a:lvl3pPr>
            <a:lvl4pPr algn="r">
              <a:defRPr sz="1400" b="0">
                <a:solidFill>
                  <a:srgbClr val="535353"/>
                </a:solidFill>
                <a:latin typeface="Times New Roman"/>
                <a:ea typeface="Times New Roman"/>
                <a:cs typeface="Times New Roman"/>
              </a:defRPr>
            </a:lvl4pPr>
            <a:lvl5pPr algn="r">
              <a:defRPr sz="1400" b="0">
                <a:solidFill>
                  <a:srgbClr val="535353"/>
                </a:solidFill>
                <a:latin typeface="Times New Roman"/>
                <a:ea typeface="Times New Roman"/>
                <a:cs typeface="Times New Roman"/>
              </a:defRPr>
            </a:lvl5pPr>
            <a:lvl6pPr algn="r">
              <a:defRPr sz="1400" b="0">
                <a:solidFill>
                  <a:srgbClr val="535353"/>
                </a:solidFill>
                <a:latin typeface="Times New Roman"/>
                <a:ea typeface="Times New Roman"/>
                <a:cs typeface="Times New Roman"/>
              </a:defRPr>
            </a:lvl6pPr>
            <a:lvl7pPr algn="r">
              <a:defRPr sz="1400" b="0">
                <a:solidFill>
                  <a:srgbClr val="535353"/>
                </a:solidFill>
                <a:latin typeface="Times New Roman"/>
                <a:ea typeface="Times New Roman"/>
                <a:cs typeface="Times New Roman"/>
              </a:defRPr>
            </a:lvl7pPr>
            <a:lvl8pPr algn="r">
              <a:defRPr sz="1400" b="0">
                <a:solidFill>
                  <a:srgbClr val="535353"/>
                </a:solidFill>
                <a:latin typeface="Times New Roman"/>
                <a:ea typeface="Times New Roman"/>
                <a:cs typeface="Times New Roman"/>
              </a:defRPr>
            </a:lvl8pPr>
            <a:lvl9pPr algn="r">
              <a:defRPr sz="1400" b="0">
                <a:solidFill>
                  <a:srgbClr val="535353"/>
                </a:solidFill>
                <a:latin typeface="Times New Roman"/>
                <a:ea typeface="Times New Roman"/>
                <a:cs typeface="Times New Roman"/>
              </a:defRPr>
            </a:lvl9pPr>
          </a:lstStyle>
          <a:p xmlns:a="http://schemas.openxmlformats.org/drawingml/2006/main">
            <a:pPr algn="r">
              <a:defRPr sz="1400" b="0">
                <a:solidFill>
                  <a:srgbClr val="535353"/>
                </a:solidFill>
                <a:latin typeface="Times New Roman"/>
                <a:ea typeface="Times New Roman"/>
                <a:cs typeface="Times New Roman"/>
              </a:defRPr>
            </a:pPr>
            <a:r>
              <a:rPr sz="1400" b="0">
                <a:solidFill>
                  <a:srgbClr val="535353"/>
                </a:solidFill>
                <a:latin typeface="Times New Roman"/>
                <a:ea typeface="Times New Roman"/>
                <a:cs typeface="Times New Roman"/>
              </a:rPr>
              <a:t>1 / 7</a:t>
            </a:r>
          </a:p>
        </p:txBody>
      </p:sp>
      <p:sp>
        <p:nvSpPr>
          <p:cNvPr id="4" name="author">
            <a:extLst xmlns:a="http://schemas.openxmlformats.org/drawingml/2006/main">
              <a:ext uri="{FF2B5EF4-FFF2-40B4-BE49-F238E27FC236}">
                <a16:creationId xmlns:a16="http://schemas.microsoft.com/office/drawing/2014/main" id="{81727175-178C-4BA4-8282-1BE1404168B4}"/>
              </a:ext>
            </a:extLst>
          </p:cNvPr>
          <p:cNvSpPr>
            <a:spLocks xmlns:a="http://schemas.openxmlformats.org/drawingml/2006/main" noGrp="1"/>
          </p:cNvSpPr>
          <p:nvPr/>
        </p:nvSpPr>
        <p:spPr>
          <a:xfrm xmlns:a="http://schemas.openxmlformats.org/drawingml/2006/main">
            <a:off x="533400" y="2324100"/>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00" b="1">
                <a:solidFill>
                  <a:srgbClr val="222222"/>
                </a:solidFill>
                <a:latin typeface="Times New Roman"/>
                <a:ea typeface="Times New Roman"/>
                <a:cs typeface="Times New Roman"/>
              </a:defRPr>
            </a:defPPr>
            <a:lvl1pPr algn="l">
              <a:defRPr sz="2500" b="1">
                <a:solidFill>
                  <a:srgbClr val="222222"/>
                </a:solidFill>
                <a:latin typeface="Times New Roman"/>
                <a:ea typeface="Times New Roman"/>
                <a:cs typeface="Times New Roman"/>
              </a:defRPr>
            </a:lvl1pPr>
            <a:lvl2pPr algn="l">
              <a:defRPr sz="2500" b="1">
                <a:solidFill>
                  <a:srgbClr val="222222"/>
                </a:solidFill>
                <a:latin typeface="Times New Roman"/>
                <a:ea typeface="Times New Roman"/>
                <a:cs typeface="Times New Roman"/>
              </a:defRPr>
            </a:lvl2pPr>
            <a:lvl3pPr algn="l">
              <a:defRPr sz="2500" b="1">
                <a:solidFill>
                  <a:srgbClr val="222222"/>
                </a:solidFill>
                <a:latin typeface="Times New Roman"/>
                <a:ea typeface="Times New Roman"/>
                <a:cs typeface="Times New Roman"/>
              </a:defRPr>
            </a:lvl3pPr>
            <a:lvl4pPr algn="l">
              <a:defRPr sz="2500" b="1">
                <a:solidFill>
                  <a:srgbClr val="222222"/>
                </a:solidFill>
                <a:latin typeface="Times New Roman"/>
                <a:ea typeface="Times New Roman"/>
                <a:cs typeface="Times New Roman"/>
              </a:defRPr>
            </a:lvl4pPr>
            <a:lvl5pPr algn="l">
              <a:defRPr sz="2500" b="1">
                <a:solidFill>
                  <a:srgbClr val="222222"/>
                </a:solidFill>
                <a:latin typeface="Times New Roman"/>
                <a:ea typeface="Times New Roman"/>
                <a:cs typeface="Times New Roman"/>
              </a:defRPr>
            </a:lvl5pPr>
            <a:lvl6pPr algn="l">
              <a:defRPr sz="2500" b="1">
                <a:solidFill>
                  <a:srgbClr val="222222"/>
                </a:solidFill>
                <a:latin typeface="Times New Roman"/>
                <a:ea typeface="Times New Roman"/>
                <a:cs typeface="Times New Roman"/>
              </a:defRPr>
            </a:lvl6pPr>
            <a:lvl7pPr algn="l">
              <a:defRPr sz="2500" b="1">
                <a:solidFill>
                  <a:srgbClr val="222222"/>
                </a:solidFill>
                <a:latin typeface="Times New Roman"/>
                <a:ea typeface="Times New Roman"/>
                <a:cs typeface="Times New Roman"/>
              </a:defRPr>
            </a:lvl7pPr>
            <a:lvl8pPr algn="l">
              <a:defRPr sz="2500" b="1">
                <a:solidFill>
                  <a:srgbClr val="222222"/>
                </a:solidFill>
                <a:latin typeface="Times New Roman"/>
                <a:ea typeface="Times New Roman"/>
                <a:cs typeface="Times New Roman"/>
              </a:defRPr>
            </a:lvl8pPr>
            <a:lvl9pPr algn="l">
              <a:defRPr sz="2500" b="1">
                <a:solidFill>
                  <a:srgbClr val="222222"/>
                </a:solidFill>
                <a:latin typeface="Times New Roman"/>
                <a:ea typeface="Times New Roman"/>
                <a:cs typeface="Times New Roman"/>
              </a:defRPr>
            </a:lvl9pPr>
          </a:lstStyle>
          <a:p xmlns:a="http://schemas.openxmlformats.org/drawingml/2006/main">
            <a:pPr algn="l">
              <a:defRPr sz="2500" b="1">
                <a:solidFill>
                  <a:srgbClr val="222222"/>
                </a:solidFill>
                <a:latin typeface="Times New Roman"/>
                <a:ea typeface="Times New Roman"/>
                <a:cs typeface="Times New Roman"/>
              </a:defRPr>
            </a:pPr>
            <a:r>
              <a:rPr sz="2500" b="1">
                <a:solidFill>
                  <a:srgbClr val="222222"/>
                </a:solidFill>
                <a:latin typeface="Times New Roman"/>
                <a:ea typeface="Times New Roman"/>
                <a:cs typeface="Times New Roman"/>
              </a:rPr>
              <a:t>Mohamed Saffiddine</a:t>
            </a:r>
          </a:p>
        </p:txBody>
      </p:sp>
      <p:sp>
        <p:nvSpPr>
          <p:cNvPr id="5" name="student">
            <a:extLst xmlns:a="http://schemas.openxmlformats.org/drawingml/2006/main">
              <a:ext uri="{FF2B5EF4-FFF2-40B4-BE49-F238E27FC236}">
                <a16:creationId xmlns:a16="http://schemas.microsoft.com/office/drawing/2014/main" id="{9716466E-6CBA-4A47-8909-95878AD6564C}"/>
              </a:ext>
            </a:extLst>
          </p:cNvPr>
          <p:cNvSpPr>
            <a:spLocks xmlns:a="http://schemas.openxmlformats.org/drawingml/2006/main" noGrp="1"/>
          </p:cNvSpPr>
          <p:nvPr/>
        </p:nvSpPr>
        <p:spPr>
          <a:xfrm xmlns:a="http://schemas.openxmlformats.org/drawingml/2006/main">
            <a:off x="533400" y="2781300"/>
            <a:ext cx="1076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0">
                <a:solidFill>
                  <a:srgbClr val="222222"/>
                </a:solidFill>
                <a:latin typeface="Times New Roman"/>
                <a:ea typeface="Times New Roman"/>
                <a:cs typeface="Times New Roman"/>
              </a:defRPr>
            </a:defPPr>
            <a:lvl1pPr algn="l">
              <a:defRPr sz="2300" b="0">
                <a:solidFill>
                  <a:srgbClr val="222222"/>
                </a:solidFill>
                <a:latin typeface="Times New Roman"/>
                <a:ea typeface="Times New Roman"/>
                <a:cs typeface="Times New Roman"/>
              </a:defRPr>
            </a:lvl1pPr>
            <a:lvl2pPr algn="l">
              <a:defRPr sz="2300" b="0">
                <a:solidFill>
                  <a:srgbClr val="222222"/>
                </a:solidFill>
                <a:latin typeface="Times New Roman"/>
                <a:ea typeface="Times New Roman"/>
                <a:cs typeface="Times New Roman"/>
              </a:defRPr>
            </a:lvl2pPr>
            <a:lvl3pPr algn="l">
              <a:defRPr sz="2300" b="0">
                <a:solidFill>
                  <a:srgbClr val="222222"/>
                </a:solidFill>
                <a:latin typeface="Times New Roman"/>
                <a:ea typeface="Times New Roman"/>
                <a:cs typeface="Times New Roman"/>
              </a:defRPr>
            </a:lvl3pPr>
            <a:lvl4pPr algn="l">
              <a:defRPr sz="2300" b="0">
                <a:solidFill>
                  <a:srgbClr val="222222"/>
                </a:solidFill>
                <a:latin typeface="Times New Roman"/>
                <a:ea typeface="Times New Roman"/>
                <a:cs typeface="Times New Roman"/>
              </a:defRPr>
            </a:lvl4pPr>
            <a:lvl5pPr algn="l">
              <a:defRPr sz="2300" b="0">
                <a:solidFill>
                  <a:srgbClr val="222222"/>
                </a:solidFill>
                <a:latin typeface="Times New Roman"/>
                <a:ea typeface="Times New Roman"/>
                <a:cs typeface="Times New Roman"/>
              </a:defRPr>
            </a:lvl5pPr>
            <a:lvl6pPr algn="l">
              <a:defRPr sz="2300" b="0">
                <a:solidFill>
                  <a:srgbClr val="222222"/>
                </a:solidFill>
                <a:latin typeface="Times New Roman"/>
                <a:ea typeface="Times New Roman"/>
                <a:cs typeface="Times New Roman"/>
              </a:defRPr>
            </a:lvl6pPr>
            <a:lvl7pPr algn="l">
              <a:defRPr sz="2300" b="0">
                <a:solidFill>
                  <a:srgbClr val="222222"/>
                </a:solidFill>
                <a:latin typeface="Times New Roman"/>
                <a:ea typeface="Times New Roman"/>
                <a:cs typeface="Times New Roman"/>
              </a:defRPr>
            </a:lvl7pPr>
            <a:lvl8pPr algn="l">
              <a:defRPr sz="2300" b="0">
                <a:solidFill>
                  <a:srgbClr val="222222"/>
                </a:solidFill>
                <a:latin typeface="Times New Roman"/>
                <a:ea typeface="Times New Roman"/>
                <a:cs typeface="Times New Roman"/>
              </a:defRPr>
            </a:lvl8pPr>
            <a:lvl9pPr algn="l">
              <a:defRPr sz="2300" b="0">
                <a:solidFill>
                  <a:srgbClr val="222222"/>
                </a:solidFill>
                <a:latin typeface="Times New Roman"/>
                <a:ea typeface="Times New Roman"/>
                <a:cs typeface="Times New Roman"/>
              </a:defRPr>
            </a:lvl9pPr>
          </a:lstStyle>
          <a:p xmlns:a="http://schemas.openxmlformats.org/drawingml/2006/main">
            <a:pPr algn="l">
              <a:defRPr sz="2300" b="0">
                <a:solidFill>
                  <a:srgbClr val="222222"/>
                </a:solidFill>
                <a:latin typeface="Times New Roman"/>
                <a:ea typeface="Times New Roman"/>
                <a:cs typeface="Times New Roman"/>
              </a:defRPr>
            </a:pPr>
            <a:r>
              <a:rPr sz="2300" b="0">
                <a:solidFill>
                  <a:srgbClr val="222222"/>
                </a:solidFill>
                <a:latin typeface="Times New Roman"/>
                <a:ea typeface="Times New Roman"/>
                <a:cs typeface="Times New Roman"/>
              </a:rPr>
              <a:t>CUNY City Tech</a:t>
            </a:r>
          </a:p>
          <a:p xmlns:a="http://schemas.openxmlformats.org/drawingml/2006/main">
            <a:pPr algn="l">
              <a:defRPr sz="2300" b="0">
                <a:solidFill>
                  <a:srgbClr val="222222"/>
                </a:solidFill>
                <a:latin typeface="Times New Roman"/>
                <a:ea typeface="Times New Roman"/>
                <a:cs typeface="Times New Roman"/>
              </a:defRPr>
            </a:pPr>
            <a:r>
              <a:rPr sz="2300" b="0">
                <a:solidFill>
                  <a:srgbClr val="222222"/>
                </a:solidFill>
                <a:latin typeface="Times New Roman"/>
                <a:ea typeface="Times New Roman"/>
                <a:cs typeface="Times New Roman"/>
              </a:rPr>
              <a:t>Mechanical Engineering Technology student</a:t>
            </a:r>
          </a:p>
        </p:txBody>
      </p:sp>
      <p:sp>
        <p:nvSpPr>
          <p:cNvPr id="6" name="scope">
            <a:extLst xmlns:a="http://schemas.openxmlformats.org/drawingml/2006/main">
              <a:ext uri="{FF2B5EF4-FFF2-40B4-BE49-F238E27FC236}">
                <a16:creationId xmlns:a16="http://schemas.microsoft.com/office/drawing/2014/main" id="{525D67C5-499B-4D4D-BE01-49B6B52F4583}"/>
              </a:ext>
            </a:extLst>
          </p:cNvPr>
          <p:cNvSpPr>
            <a:spLocks xmlns:a="http://schemas.openxmlformats.org/drawingml/2006/main" noGrp="1"/>
          </p:cNvSpPr>
          <p:nvPr/>
        </p:nvSpPr>
        <p:spPr>
          <a:xfrm xmlns:a="http://schemas.openxmlformats.org/drawingml/2006/main">
            <a:off x="533400" y="3924300"/>
            <a:ext cx="10763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222222"/>
                </a:solidFill>
                <a:latin typeface="Times New Roman"/>
                <a:ea typeface="Times New Roman"/>
                <a:cs typeface="Times New Roman"/>
              </a:defRPr>
            </a:defPPr>
            <a:lvl1pPr algn="l">
              <a:defRPr sz="2400" b="0">
                <a:solidFill>
                  <a:srgbClr val="222222"/>
                </a:solidFill>
                <a:latin typeface="Times New Roman"/>
                <a:ea typeface="Times New Roman"/>
                <a:cs typeface="Times New Roman"/>
              </a:defRPr>
            </a:lvl1pPr>
            <a:lvl2pPr algn="l">
              <a:defRPr sz="2400" b="0">
                <a:solidFill>
                  <a:srgbClr val="222222"/>
                </a:solidFill>
                <a:latin typeface="Times New Roman"/>
                <a:ea typeface="Times New Roman"/>
                <a:cs typeface="Times New Roman"/>
              </a:defRPr>
            </a:lvl2pPr>
            <a:lvl3pPr algn="l">
              <a:defRPr sz="2400" b="0">
                <a:solidFill>
                  <a:srgbClr val="222222"/>
                </a:solidFill>
                <a:latin typeface="Times New Roman"/>
                <a:ea typeface="Times New Roman"/>
                <a:cs typeface="Times New Roman"/>
              </a:defRPr>
            </a:lvl3pPr>
            <a:lvl4pPr algn="l">
              <a:defRPr sz="2400" b="0">
                <a:solidFill>
                  <a:srgbClr val="222222"/>
                </a:solidFill>
                <a:latin typeface="Times New Roman"/>
                <a:ea typeface="Times New Roman"/>
                <a:cs typeface="Times New Roman"/>
              </a:defRPr>
            </a:lvl4pPr>
            <a:lvl5pPr algn="l">
              <a:defRPr sz="2400" b="0">
                <a:solidFill>
                  <a:srgbClr val="222222"/>
                </a:solidFill>
                <a:latin typeface="Times New Roman"/>
                <a:ea typeface="Times New Roman"/>
                <a:cs typeface="Times New Roman"/>
              </a:defRPr>
            </a:lvl5pPr>
            <a:lvl6pPr algn="l">
              <a:defRPr sz="2400" b="0">
                <a:solidFill>
                  <a:srgbClr val="222222"/>
                </a:solidFill>
                <a:latin typeface="Times New Roman"/>
                <a:ea typeface="Times New Roman"/>
                <a:cs typeface="Times New Roman"/>
              </a:defRPr>
            </a:lvl6pPr>
            <a:lvl7pPr algn="l">
              <a:defRPr sz="2400" b="0">
                <a:solidFill>
                  <a:srgbClr val="222222"/>
                </a:solidFill>
                <a:latin typeface="Times New Roman"/>
                <a:ea typeface="Times New Roman"/>
                <a:cs typeface="Times New Roman"/>
              </a:defRPr>
            </a:lvl7pPr>
            <a:lvl8pPr algn="l">
              <a:defRPr sz="2400" b="0">
                <a:solidFill>
                  <a:srgbClr val="222222"/>
                </a:solidFill>
                <a:latin typeface="Times New Roman"/>
                <a:ea typeface="Times New Roman"/>
                <a:cs typeface="Times New Roman"/>
              </a:defRPr>
            </a:lvl8pPr>
            <a:lvl9pPr algn="l">
              <a:defRPr sz="2400" b="0">
                <a:solidFill>
                  <a:srgbClr val="222222"/>
                </a:solidFill>
                <a:latin typeface="Times New Roman"/>
                <a:ea typeface="Times New Roman"/>
                <a:cs typeface="Times New Roman"/>
              </a:defRPr>
            </a:lvl9pPr>
          </a:lstStyle>
          <a:p xmlns:a="http://schemas.openxmlformats.org/drawingml/2006/main">
            <a:pPr algn="l">
              <a:defRPr sz="2400" b="0">
                <a:solidFill>
                  <a:srgbClr val="222222"/>
                </a:solidFill>
                <a:latin typeface="Times New Roman"/>
                <a:ea typeface="Times New Roman"/>
                <a:cs typeface="Times New Roman"/>
              </a:defRPr>
            </a:pPr>
            <a:r>
              <a:rPr sz="2400" b="0">
                <a:solidFill>
                  <a:srgbClr val="222222"/>
                </a:solidFill>
                <a:latin typeface="Times New Roman"/>
                <a:ea typeface="Times New Roman"/>
                <a:cs typeface="Times New Roman"/>
              </a:rPr>
              <a:t>Hypothetical Manhattan office: 500,000 ft²</a:t>
            </a:r>
          </a:p>
          <a:p xmlns:a="http://schemas.openxmlformats.org/drawingml/2006/main">
            <a:pPr algn="l">
              <a:defRPr sz="2400" b="0">
                <a:solidFill>
                  <a:srgbClr val="222222"/>
                </a:solidFill>
                <a:latin typeface="Times New Roman"/>
                <a:ea typeface="Times New Roman"/>
                <a:cs typeface="Times New Roman"/>
              </a:defRPr>
            </a:pPr>
            <a:r>
              <a:rPr sz="2400" b="0">
                <a:solidFill>
                  <a:srgbClr val="222222"/>
                </a:solidFill>
                <a:latin typeface="Times New Roman"/>
                <a:ea typeface="Times New Roman"/>
                <a:cs typeface="Times New Roman"/>
              </a:rPr>
              <a:t>Assumed cooling capacity: 1,200 tons</a:t>
            </a:r>
          </a:p>
        </p:txBody>
      </p:sp>
      <p:sp>
        <p:nvSpPr>
          <p:cNvPr id="7" name="objective">
            <a:extLst xmlns:a="http://schemas.openxmlformats.org/drawingml/2006/main">
              <a:ext uri="{FF2B5EF4-FFF2-40B4-BE49-F238E27FC236}">
                <a16:creationId xmlns:a16="http://schemas.microsoft.com/office/drawing/2014/main" id="{C7A5F353-06A2-4A62-B07C-9943E4726E23}"/>
              </a:ext>
            </a:extLst>
          </p:cNvPr>
          <p:cNvSpPr>
            <a:spLocks xmlns:a="http://schemas.openxmlformats.org/drawingml/2006/main" noGrp="1"/>
          </p:cNvSpPr>
          <p:nvPr/>
        </p:nvSpPr>
        <p:spPr>
          <a:xfrm xmlns:a="http://schemas.openxmlformats.org/drawingml/2006/main">
            <a:off x="533400" y="5219700"/>
            <a:ext cx="11049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0">
                <a:solidFill>
                  <a:srgbClr val="222222"/>
                </a:solidFill>
                <a:latin typeface="Times New Roman"/>
                <a:ea typeface="Times New Roman"/>
                <a:cs typeface="Times New Roman"/>
              </a:defRPr>
            </a:defPPr>
            <a:lvl1pPr algn="l">
              <a:defRPr sz="2300" b="0">
                <a:solidFill>
                  <a:srgbClr val="222222"/>
                </a:solidFill>
                <a:latin typeface="Times New Roman"/>
                <a:ea typeface="Times New Roman"/>
                <a:cs typeface="Times New Roman"/>
              </a:defRPr>
            </a:lvl1pPr>
            <a:lvl2pPr algn="l">
              <a:defRPr sz="2300" b="0">
                <a:solidFill>
                  <a:srgbClr val="222222"/>
                </a:solidFill>
                <a:latin typeface="Times New Roman"/>
                <a:ea typeface="Times New Roman"/>
                <a:cs typeface="Times New Roman"/>
              </a:defRPr>
            </a:lvl2pPr>
            <a:lvl3pPr algn="l">
              <a:defRPr sz="2300" b="0">
                <a:solidFill>
                  <a:srgbClr val="222222"/>
                </a:solidFill>
                <a:latin typeface="Times New Roman"/>
                <a:ea typeface="Times New Roman"/>
                <a:cs typeface="Times New Roman"/>
              </a:defRPr>
            </a:lvl3pPr>
            <a:lvl4pPr algn="l">
              <a:defRPr sz="2300" b="0">
                <a:solidFill>
                  <a:srgbClr val="222222"/>
                </a:solidFill>
                <a:latin typeface="Times New Roman"/>
                <a:ea typeface="Times New Roman"/>
                <a:cs typeface="Times New Roman"/>
              </a:defRPr>
            </a:lvl4pPr>
            <a:lvl5pPr algn="l">
              <a:defRPr sz="2300" b="0">
                <a:solidFill>
                  <a:srgbClr val="222222"/>
                </a:solidFill>
                <a:latin typeface="Times New Roman"/>
                <a:ea typeface="Times New Roman"/>
                <a:cs typeface="Times New Roman"/>
              </a:defRPr>
            </a:lvl5pPr>
            <a:lvl6pPr algn="l">
              <a:defRPr sz="2300" b="0">
                <a:solidFill>
                  <a:srgbClr val="222222"/>
                </a:solidFill>
                <a:latin typeface="Times New Roman"/>
                <a:ea typeface="Times New Roman"/>
                <a:cs typeface="Times New Roman"/>
              </a:defRPr>
            </a:lvl6pPr>
            <a:lvl7pPr algn="l">
              <a:defRPr sz="2300" b="0">
                <a:solidFill>
                  <a:srgbClr val="222222"/>
                </a:solidFill>
                <a:latin typeface="Times New Roman"/>
                <a:ea typeface="Times New Roman"/>
                <a:cs typeface="Times New Roman"/>
              </a:defRPr>
            </a:lvl7pPr>
            <a:lvl8pPr algn="l">
              <a:defRPr sz="2300" b="0">
                <a:solidFill>
                  <a:srgbClr val="222222"/>
                </a:solidFill>
                <a:latin typeface="Times New Roman"/>
                <a:ea typeface="Times New Roman"/>
                <a:cs typeface="Times New Roman"/>
              </a:defRPr>
            </a:lvl8pPr>
            <a:lvl9pPr algn="l">
              <a:defRPr sz="2300" b="0">
                <a:solidFill>
                  <a:srgbClr val="222222"/>
                </a:solidFill>
                <a:latin typeface="Times New Roman"/>
                <a:ea typeface="Times New Roman"/>
                <a:cs typeface="Times New Roman"/>
              </a:defRPr>
            </a:lvl9pPr>
          </a:lstStyle>
          <a:p xmlns:a="http://schemas.openxmlformats.org/drawingml/2006/main">
            <a:pPr algn="l">
              <a:defRPr sz="2300" b="0">
                <a:solidFill>
                  <a:srgbClr val="222222"/>
                </a:solidFill>
                <a:latin typeface="Times New Roman"/>
                <a:ea typeface="Times New Roman"/>
                <a:cs typeface="Times New Roman"/>
              </a:defRPr>
            </a:pPr>
            <a:r>
              <a:rPr sz="2300" b="0">
                <a:solidFill>
                  <a:srgbClr val="222222"/>
                </a:solidFill>
                <a:latin typeface="Times New Roman"/>
                <a:ea typeface="Times New Roman"/>
                <a:cs typeface="Times New Roman"/>
              </a:rPr>
              <a:t>Objective: evaluate whether HVAC savings justify the required</a:t>
            </a:r>
          </a:p>
          <a:p xmlns:a="http://schemas.openxmlformats.org/drawingml/2006/main">
            <a:pPr algn="l">
              <a:defRPr sz="2300" b="0">
                <a:solidFill>
                  <a:srgbClr val="222222"/>
                </a:solidFill>
                <a:latin typeface="Times New Roman"/>
                <a:ea typeface="Times New Roman"/>
                <a:cs typeface="Times New Roman"/>
              </a:defRPr>
            </a:pPr>
            <a:r>
              <a:rPr sz="2300" b="0">
                <a:solidFill>
                  <a:srgbClr val="222222"/>
                </a:solidFill>
                <a:latin typeface="Times New Roman"/>
                <a:ea typeface="Times New Roman"/>
                <a:cs typeface="Times New Roman"/>
              </a:rPr>
              <a:t>capital investment over a 10-year period.</a:t>
            </a:r>
          </a:p>
        </p:txBody>
      </p:sp>
    </p:spTree>
    <p:extLst>
      <p:ext uri="{BB962C8B-B14F-4D97-AF65-F5344CB8AC3E}">
        <p14:creationId xmlns:p14="http://schemas.microsoft.com/office/powerpoint/2010/main" val="2233576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 name="title">
            <a:extLst xmlns:a="http://schemas.openxmlformats.org/drawingml/2006/main">
              <a:ext uri="{FF2B5EF4-FFF2-40B4-BE49-F238E27FC236}">
                <a16:creationId xmlns:a16="http://schemas.microsoft.com/office/drawing/2014/main" id="{77D52547-8680-4F71-B8A3-542D9759E694}"/>
              </a:ext>
            </a:extLst>
          </p:cNvPr>
          <p:cNvSpPr>
            <a:spLocks xmlns:a="http://schemas.openxmlformats.org/drawingml/2006/main" noGrp="1"/>
          </p:cNvSpPr>
          <p:nvPr/>
        </p:nvSpPr>
        <p:spPr>
          <a:xfrm xmlns:a="http://schemas.openxmlformats.org/drawingml/2006/main">
            <a:off x="533400" y="30480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00" b="1">
                <a:solidFill>
                  <a:srgbClr val="222222"/>
                </a:solidFill>
                <a:latin typeface="Times New Roman"/>
                <a:ea typeface="Times New Roman"/>
                <a:cs typeface="Times New Roman"/>
              </a:defRPr>
            </a:defPPr>
            <a:lvl1pPr algn="l">
              <a:defRPr sz="3200" b="1">
                <a:solidFill>
                  <a:srgbClr val="222222"/>
                </a:solidFill>
                <a:latin typeface="Times New Roman"/>
                <a:ea typeface="Times New Roman"/>
                <a:cs typeface="Times New Roman"/>
              </a:defRPr>
            </a:lvl1pPr>
            <a:lvl2pPr algn="l">
              <a:defRPr sz="3200" b="1">
                <a:solidFill>
                  <a:srgbClr val="222222"/>
                </a:solidFill>
                <a:latin typeface="Times New Roman"/>
                <a:ea typeface="Times New Roman"/>
                <a:cs typeface="Times New Roman"/>
              </a:defRPr>
            </a:lvl2pPr>
            <a:lvl3pPr algn="l">
              <a:defRPr sz="3200" b="1">
                <a:solidFill>
                  <a:srgbClr val="222222"/>
                </a:solidFill>
                <a:latin typeface="Times New Roman"/>
                <a:ea typeface="Times New Roman"/>
                <a:cs typeface="Times New Roman"/>
              </a:defRPr>
            </a:lvl3pPr>
            <a:lvl4pPr algn="l">
              <a:defRPr sz="3200" b="1">
                <a:solidFill>
                  <a:srgbClr val="222222"/>
                </a:solidFill>
                <a:latin typeface="Times New Roman"/>
                <a:ea typeface="Times New Roman"/>
                <a:cs typeface="Times New Roman"/>
              </a:defRPr>
            </a:lvl4pPr>
            <a:lvl5pPr algn="l">
              <a:defRPr sz="3200" b="1">
                <a:solidFill>
                  <a:srgbClr val="222222"/>
                </a:solidFill>
                <a:latin typeface="Times New Roman"/>
                <a:ea typeface="Times New Roman"/>
                <a:cs typeface="Times New Roman"/>
              </a:defRPr>
            </a:lvl5pPr>
            <a:lvl6pPr algn="l">
              <a:defRPr sz="3200" b="1">
                <a:solidFill>
                  <a:srgbClr val="222222"/>
                </a:solidFill>
                <a:latin typeface="Times New Roman"/>
                <a:ea typeface="Times New Roman"/>
                <a:cs typeface="Times New Roman"/>
              </a:defRPr>
            </a:lvl6pPr>
            <a:lvl7pPr algn="l">
              <a:defRPr sz="3200" b="1">
                <a:solidFill>
                  <a:srgbClr val="222222"/>
                </a:solidFill>
                <a:latin typeface="Times New Roman"/>
                <a:ea typeface="Times New Roman"/>
                <a:cs typeface="Times New Roman"/>
              </a:defRPr>
            </a:lvl7pPr>
            <a:lvl8pPr algn="l">
              <a:defRPr sz="3200" b="1">
                <a:solidFill>
                  <a:srgbClr val="222222"/>
                </a:solidFill>
                <a:latin typeface="Times New Roman"/>
                <a:ea typeface="Times New Roman"/>
                <a:cs typeface="Times New Roman"/>
              </a:defRPr>
            </a:lvl8pPr>
            <a:lvl9pPr algn="l">
              <a:defRPr sz="3200" b="1">
                <a:solidFill>
                  <a:srgbClr val="222222"/>
                </a:solidFill>
                <a:latin typeface="Times New Roman"/>
                <a:ea typeface="Times New Roman"/>
                <a:cs typeface="Times New Roman"/>
              </a:defRPr>
            </a:lvl9pPr>
          </a:lstStyle>
          <a:p xmlns:a="http://schemas.openxmlformats.org/drawingml/2006/main">
            <a:pPr algn="l">
              <a:defRPr sz="3200" b="1">
                <a:solidFill>
                  <a:srgbClr val="222222"/>
                </a:solidFill>
                <a:latin typeface="Times New Roman"/>
                <a:ea typeface="Times New Roman"/>
                <a:cs typeface="Times New Roman"/>
              </a:defRPr>
            </a:pPr>
            <a:r>
              <a:rPr sz="3200" b="1">
                <a:solidFill>
                  <a:srgbClr val="222222"/>
                </a:solidFill>
                <a:latin typeface="Times New Roman"/>
                <a:ea typeface="Times New Roman"/>
                <a:cs typeface="Times New Roman"/>
              </a:rPr>
              <a:t>Existing HVAC system</a:t>
            </a:r>
          </a:p>
        </p:txBody>
      </p:sp>
      <p:sp>
        <p:nvSpPr>
          <p:cNvPr id="2" name="footnote">
            <a:extLst xmlns:a="http://schemas.openxmlformats.org/drawingml/2006/main">
              <a:ext uri="{FF2B5EF4-FFF2-40B4-BE49-F238E27FC236}">
                <a16:creationId xmlns:a16="http://schemas.microsoft.com/office/drawing/2014/main" id="{62DE604A-8A7D-4E64-95EE-FE41DB579645}"/>
              </a:ext>
            </a:extLst>
          </p:cNvPr>
          <p:cNvSpPr>
            <a:spLocks xmlns:a="http://schemas.openxmlformats.org/drawingml/2006/main" noGrp="1"/>
          </p:cNvSpPr>
          <p:nvPr/>
        </p:nvSpPr>
        <p:spPr>
          <a:xfrm xmlns:a="http://schemas.openxmlformats.org/drawingml/2006/main">
            <a:off x="533400" y="6305550"/>
            <a:ext cx="10572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0">
                <a:solidFill>
                  <a:srgbClr val="535353"/>
                </a:solidFill>
                <a:latin typeface="Times New Roman"/>
                <a:ea typeface="Times New Roman"/>
                <a:cs typeface="Times New Roman"/>
              </a:defRPr>
            </a:defPPr>
            <a:lvl1pPr algn="l">
              <a:defRPr sz="1400" b="0">
                <a:solidFill>
                  <a:srgbClr val="535353"/>
                </a:solidFill>
                <a:latin typeface="Times New Roman"/>
                <a:ea typeface="Times New Roman"/>
                <a:cs typeface="Times New Roman"/>
              </a:defRPr>
            </a:lvl1pPr>
            <a:lvl2pPr algn="l">
              <a:defRPr sz="1400" b="0">
                <a:solidFill>
                  <a:srgbClr val="535353"/>
                </a:solidFill>
                <a:latin typeface="Times New Roman"/>
                <a:ea typeface="Times New Roman"/>
                <a:cs typeface="Times New Roman"/>
              </a:defRPr>
            </a:lvl2pPr>
            <a:lvl3pPr algn="l">
              <a:defRPr sz="1400" b="0">
                <a:solidFill>
                  <a:srgbClr val="535353"/>
                </a:solidFill>
                <a:latin typeface="Times New Roman"/>
                <a:ea typeface="Times New Roman"/>
                <a:cs typeface="Times New Roman"/>
              </a:defRPr>
            </a:lvl3pPr>
            <a:lvl4pPr algn="l">
              <a:defRPr sz="1400" b="0">
                <a:solidFill>
                  <a:srgbClr val="535353"/>
                </a:solidFill>
                <a:latin typeface="Times New Roman"/>
                <a:ea typeface="Times New Roman"/>
                <a:cs typeface="Times New Roman"/>
              </a:defRPr>
            </a:lvl4pPr>
            <a:lvl5pPr algn="l">
              <a:defRPr sz="1400" b="0">
                <a:solidFill>
                  <a:srgbClr val="535353"/>
                </a:solidFill>
                <a:latin typeface="Times New Roman"/>
                <a:ea typeface="Times New Roman"/>
                <a:cs typeface="Times New Roman"/>
              </a:defRPr>
            </a:lvl5pPr>
            <a:lvl6pPr algn="l">
              <a:defRPr sz="1400" b="0">
                <a:solidFill>
                  <a:srgbClr val="535353"/>
                </a:solidFill>
                <a:latin typeface="Times New Roman"/>
                <a:ea typeface="Times New Roman"/>
                <a:cs typeface="Times New Roman"/>
              </a:defRPr>
            </a:lvl6pPr>
            <a:lvl7pPr algn="l">
              <a:defRPr sz="1400" b="0">
                <a:solidFill>
                  <a:srgbClr val="535353"/>
                </a:solidFill>
                <a:latin typeface="Times New Roman"/>
                <a:ea typeface="Times New Roman"/>
                <a:cs typeface="Times New Roman"/>
              </a:defRPr>
            </a:lvl7pPr>
            <a:lvl8pPr algn="l">
              <a:defRPr sz="1400" b="0">
                <a:solidFill>
                  <a:srgbClr val="535353"/>
                </a:solidFill>
                <a:latin typeface="Times New Roman"/>
                <a:ea typeface="Times New Roman"/>
                <a:cs typeface="Times New Roman"/>
              </a:defRPr>
            </a:lvl8pPr>
            <a:lvl9pPr algn="l">
              <a:defRPr sz="1400" b="0">
                <a:solidFill>
                  <a:srgbClr val="535353"/>
                </a:solidFill>
                <a:latin typeface="Times New Roman"/>
                <a:ea typeface="Times New Roman"/>
                <a:cs typeface="Times New Roman"/>
              </a:defRPr>
            </a:lvl9pPr>
          </a:lstStyle>
          <a:p xmlns:a="http://schemas.openxmlformats.org/drawingml/2006/main">
            <a:pPr algn="l">
              <a:defRPr sz="1400" b="0">
                <a:solidFill>
                  <a:srgbClr val="535353"/>
                </a:solidFill>
                <a:latin typeface="Times New Roman"/>
                <a:ea typeface="Times New Roman"/>
                <a:cs typeface="Times New Roman"/>
              </a:defRPr>
            </a:pPr>
            <a:r>
              <a:rPr sz="1400" b="0">
                <a:solidFill>
                  <a:srgbClr val="535353"/>
                </a:solidFill>
                <a:latin typeface="Times New Roman"/>
                <a:ea typeface="Times New Roman"/>
                <a:cs typeface="Times New Roman"/>
              </a:rPr>
              <a:t>Conceptual adaptation of the Step 4 schematic. Hypothetical system, not a building design.</a:t>
            </a:r>
          </a:p>
        </p:txBody>
      </p:sp>
      <p:sp>
        <p:nvSpPr>
          <p:cNvPr id="3" name="slide-number">
            <a:extLst xmlns:a="http://schemas.openxmlformats.org/drawingml/2006/main">
              <a:ext uri="{FF2B5EF4-FFF2-40B4-BE49-F238E27FC236}">
                <a16:creationId xmlns:a16="http://schemas.microsoft.com/office/drawing/2014/main" id="{E87FF1C5-A8AA-4E0D-9D3D-F5033A4B2719}"/>
              </a:ext>
            </a:extLst>
          </p:cNvPr>
          <p:cNvSpPr>
            <a:spLocks xmlns:a="http://schemas.openxmlformats.org/drawingml/2006/main" noGrp="1"/>
          </p:cNvSpPr>
          <p:nvPr/>
        </p:nvSpPr>
        <p:spPr>
          <a:xfrm xmlns:a="http://schemas.openxmlformats.org/drawingml/2006/main">
            <a:off x="11144250" y="63627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00" b="0">
                <a:solidFill>
                  <a:srgbClr val="535353"/>
                </a:solidFill>
                <a:latin typeface="Times New Roman"/>
                <a:ea typeface="Times New Roman"/>
                <a:cs typeface="Times New Roman"/>
              </a:defRPr>
            </a:defPPr>
            <a:lvl1pPr algn="r">
              <a:defRPr sz="1400" b="0">
                <a:solidFill>
                  <a:srgbClr val="535353"/>
                </a:solidFill>
                <a:latin typeface="Times New Roman"/>
                <a:ea typeface="Times New Roman"/>
                <a:cs typeface="Times New Roman"/>
              </a:defRPr>
            </a:lvl1pPr>
            <a:lvl2pPr algn="r">
              <a:defRPr sz="1400" b="0">
                <a:solidFill>
                  <a:srgbClr val="535353"/>
                </a:solidFill>
                <a:latin typeface="Times New Roman"/>
                <a:ea typeface="Times New Roman"/>
                <a:cs typeface="Times New Roman"/>
              </a:defRPr>
            </a:lvl2pPr>
            <a:lvl3pPr algn="r">
              <a:defRPr sz="1400" b="0">
                <a:solidFill>
                  <a:srgbClr val="535353"/>
                </a:solidFill>
                <a:latin typeface="Times New Roman"/>
                <a:ea typeface="Times New Roman"/>
                <a:cs typeface="Times New Roman"/>
              </a:defRPr>
            </a:lvl3pPr>
            <a:lvl4pPr algn="r">
              <a:defRPr sz="1400" b="0">
                <a:solidFill>
                  <a:srgbClr val="535353"/>
                </a:solidFill>
                <a:latin typeface="Times New Roman"/>
                <a:ea typeface="Times New Roman"/>
                <a:cs typeface="Times New Roman"/>
              </a:defRPr>
            </a:lvl4pPr>
            <a:lvl5pPr algn="r">
              <a:defRPr sz="1400" b="0">
                <a:solidFill>
                  <a:srgbClr val="535353"/>
                </a:solidFill>
                <a:latin typeface="Times New Roman"/>
                <a:ea typeface="Times New Roman"/>
                <a:cs typeface="Times New Roman"/>
              </a:defRPr>
            </a:lvl5pPr>
            <a:lvl6pPr algn="r">
              <a:defRPr sz="1400" b="0">
                <a:solidFill>
                  <a:srgbClr val="535353"/>
                </a:solidFill>
                <a:latin typeface="Times New Roman"/>
                <a:ea typeface="Times New Roman"/>
                <a:cs typeface="Times New Roman"/>
              </a:defRPr>
            </a:lvl6pPr>
            <a:lvl7pPr algn="r">
              <a:defRPr sz="1400" b="0">
                <a:solidFill>
                  <a:srgbClr val="535353"/>
                </a:solidFill>
                <a:latin typeface="Times New Roman"/>
                <a:ea typeface="Times New Roman"/>
                <a:cs typeface="Times New Roman"/>
              </a:defRPr>
            </a:lvl7pPr>
            <a:lvl8pPr algn="r">
              <a:defRPr sz="1400" b="0">
                <a:solidFill>
                  <a:srgbClr val="535353"/>
                </a:solidFill>
                <a:latin typeface="Times New Roman"/>
                <a:ea typeface="Times New Roman"/>
                <a:cs typeface="Times New Roman"/>
              </a:defRPr>
            </a:lvl8pPr>
            <a:lvl9pPr algn="r">
              <a:defRPr sz="1400" b="0">
                <a:solidFill>
                  <a:srgbClr val="535353"/>
                </a:solidFill>
                <a:latin typeface="Times New Roman"/>
                <a:ea typeface="Times New Roman"/>
                <a:cs typeface="Times New Roman"/>
              </a:defRPr>
            </a:lvl9pPr>
          </a:lstStyle>
          <a:p xmlns:a="http://schemas.openxmlformats.org/drawingml/2006/main">
            <a:pPr algn="r">
              <a:defRPr sz="1400" b="0">
                <a:solidFill>
                  <a:srgbClr val="535353"/>
                </a:solidFill>
                <a:latin typeface="Times New Roman"/>
                <a:ea typeface="Times New Roman"/>
                <a:cs typeface="Times New Roman"/>
              </a:defRPr>
            </a:pPr>
            <a:r>
              <a:rPr sz="1400" b="0">
                <a:solidFill>
                  <a:srgbClr val="535353"/>
                </a:solidFill>
                <a:latin typeface="Times New Roman"/>
                <a:ea typeface="Times New Roman"/>
                <a:cs typeface="Times New Roman"/>
              </a:rPr>
              <a:t>2 / 7</a:t>
            </a:r>
          </a:p>
        </p:txBody>
      </p:sp>
      <p:sp>
        <p:nvSpPr>
          <p:cNvPr id="4" name="bas">
            <a:extLst xmlns:a="http://schemas.openxmlformats.org/drawingml/2006/main">
              <a:ext uri="{FF2B5EF4-FFF2-40B4-BE49-F238E27FC236}">
                <a16:creationId xmlns:a16="http://schemas.microsoft.com/office/drawing/2014/main" id="{1349C2B9-2F55-450F-BEF7-66C6F05C19CD}"/>
              </a:ext>
            </a:extLst>
          </p:cNvPr>
          <p:cNvSpPr>
            <a:spLocks xmlns:a="http://schemas.openxmlformats.org/drawingml/2006/main" noGrp="1"/>
          </p:cNvSpPr>
          <p:nvPr/>
        </p:nvSpPr>
        <p:spPr>
          <a:xfrm xmlns:a="http://schemas.openxmlformats.org/drawingml/2006/main">
            <a:off x="533400" y="1123950"/>
            <a:ext cx="11125200" cy="495300"/>
          </a:xfrm>
          <a:prstGeom xmlns:a="http://schemas.openxmlformats.org/drawingml/2006/main" prst="rect">
            <a:avLst/>
          </a:prstGeom>
          <a:solidFill xmlns:a="http://schemas.openxmlformats.org/drawingml/2006/main">
            <a:srgbClr val="FFFFFF"/>
          </a:solidFill>
          <a:ln xmlns:a="http://schemas.openxmlformats.org/drawingml/2006/main" w="12383">
            <a:solidFill>
              <a:srgbClr val="535353"/>
            </a:solidFill>
            <a:prstDash val="solid"/>
          </a:ln>
        </p:spPr>
        <p:txBody>
          <a:bodyPr xmlns:a="http://schemas.openxmlformats.org/drawingml/2006/main" lIns="57150" tIns="57150" rIns="57150" bIns="57150" anchor="ctr">
            <a:noAutofit/>
          </a:bodyPr>
          <a:lstStyle xmlns:a="http://schemas.openxmlformats.org/drawingml/2006/main">
            <a:defPPr algn="ctr">
              <a:defRPr sz="1900" b="0">
                <a:solidFill>
                  <a:srgbClr val="222222"/>
                </a:solidFill>
                <a:latin typeface="Times New Roman"/>
                <a:ea typeface="Times New Roman"/>
                <a:cs typeface="Times New Roman"/>
              </a:defRPr>
            </a:defPPr>
            <a:lvl1pPr algn="ctr">
              <a:defRPr sz="1900" b="0">
                <a:solidFill>
                  <a:srgbClr val="222222"/>
                </a:solidFill>
                <a:latin typeface="Times New Roman"/>
                <a:ea typeface="Times New Roman"/>
                <a:cs typeface="Times New Roman"/>
              </a:defRPr>
            </a:lvl1pPr>
            <a:lvl2pPr algn="ctr">
              <a:defRPr sz="1900" b="0">
                <a:solidFill>
                  <a:srgbClr val="222222"/>
                </a:solidFill>
                <a:latin typeface="Times New Roman"/>
                <a:ea typeface="Times New Roman"/>
                <a:cs typeface="Times New Roman"/>
              </a:defRPr>
            </a:lvl2pPr>
            <a:lvl3pPr algn="ctr">
              <a:defRPr sz="1900" b="0">
                <a:solidFill>
                  <a:srgbClr val="222222"/>
                </a:solidFill>
                <a:latin typeface="Times New Roman"/>
                <a:ea typeface="Times New Roman"/>
                <a:cs typeface="Times New Roman"/>
              </a:defRPr>
            </a:lvl3pPr>
            <a:lvl4pPr algn="ctr">
              <a:defRPr sz="1900" b="0">
                <a:solidFill>
                  <a:srgbClr val="222222"/>
                </a:solidFill>
                <a:latin typeface="Times New Roman"/>
                <a:ea typeface="Times New Roman"/>
                <a:cs typeface="Times New Roman"/>
              </a:defRPr>
            </a:lvl4pPr>
            <a:lvl5pPr algn="ctr">
              <a:defRPr sz="1900" b="0">
                <a:solidFill>
                  <a:srgbClr val="222222"/>
                </a:solidFill>
                <a:latin typeface="Times New Roman"/>
                <a:ea typeface="Times New Roman"/>
                <a:cs typeface="Times New Roman"/>
              </a:defRPr>
            </a:lvl5pPr>
            <a:lvl6pPr algn="ctr">
              <a:defRPr sz="1900" b="0">
                <a:solidFill>
                  <a:srgbClr val="222222"/>
                </a:solidFill>
                <a:latin typeface="Times New Roman"/>
                <a:ea typeface="Times New Roman"/>
                <a:cs typeface="Times New Roman"/>
              </a:defRPr>
            </a:lvl6pPr>
            <a:lvl7pPr algn="ctr">
              <a:defRPr sz="1900" b="0">
                <a:solidFill>
                  <a:srgbClr val="222222"/>
                </a:solidFill>
                <a:latin typeface="Times New Roman"/>
                <a:ea typeface="Times New Roman"/>
                <a:cs typeface="Times New Roman"/>
              </a:defRPr>
            </a:lvl7pPr>
            <a:lvl8pPr algn="ctr">
              <a:defRPr sz="1900" b="0">
                <a:solidFill>
                  <a:srgbClr val="222222"/>
                </a:solidFill>
                <a:latin typeface="Times New Roman"/>
                <a:ea typeface="Times New Roman"/>
                <a:cs typeface="Times New Roman"/>
              </a:defRPr>
            </a:lvl8pPr>
            <a:lvl9pPr algn="ctr">
              <a:defRPr sz="1900" b="0">
                <a:solidFill>
                  <a:srgbClr val="222222"/>
                </a:solidFill>
                <a:latin typeface="Times New Roman"/>
                <a:ea typeface="Times New Roman"/>
                <a:cs typeface="Times New Roman"/>
              </a:defRPr>
            </a:lvl9pPr>
          </a:lstStyle>
          <a:p xmlns:a="http://schemas.openxmlformats.org/drawingml/2006/main">
            <a:pPr algn="ctr">
              <a:defRPr sz="1900" b="0">
                <a:solidFill>
                  <a:srgbClr val="222222"/>
                </a:solidFill>
                <a:latin typeface="Times New Roman"/>
                <a:ea typeface="Times New Roman"/>
                <a:cs typeface="Times New Roman"/>
              </a:defRPr>
            </a:pPr>
            <a:r>
              <a:rPr sz="1900" b="0">
                <a:solidFill>
                  <a:srgbClr val="222222"/>
                </a:solidFill>
                <a:latin typeface="Times New Roman"/>
                <a:ea typeface="Times New Roman"/>
                <a:cs typeface="Times New Roman"/>
              </a:rPr>
              <a:t>Building automation system (BAS): schedules, chiller staging, resets and drive commands</a:t>
            </a:r>
          </a:p>
        </p:txBody>
      </p:sp>
      <p:sp>
        <p:nvSpPr>
          <p:cNvPr id="5" name="tower">
            <a:extLst xmlns:a="http://schemas.openxmlformats.org/drawingml/2006/main">
              <a:ext uri="{FF2B5EF4-FFF2-40B4-BE49-F238E27FC236}">
                <a16:creationId xmlns:a16="http://schemas.microsoft.com/office/drawing/2014/main" id="{D1F19CBD-EDD4-4957-A96B-5C27BDB6145B}"/>
              </a:ext>
            </a:extLst>
          </p:cNvPr>
          <p:cNvSpPr>
            <a:spLocks xmlns:a="http://schemas.openxmlformats.org/drawingml/2006/main" noGrp="1"/>
          </p:cNvSpPr>
          <p:nvPr/>
        </p:nvSpPr>
        <p:spPr>
          <a:xfrm xmlns:a="http://schemas.openxmlformats.org/drawingml/2006/main">
            <a:off x="685800" y="2286000"/>
            <a:ext cx="2057400" cy="742950"/>
          </a:xfrm>
          <a:prstGeom xmlns:a="http://schemas.openxmlformats.org/drawingml/2006/main" prst="rect">
            <a:avLst/>
          </a:prstGeom>
          <a:solidFill xmlns:a="http://schemas.openxmlformats.org/drawingml/2006/main">
            <a:srgbClr val="FFFFFF"/>
          </a:solidFill>
          <a:ln xmlns:a="http://schemas.openxmlformats.org/drawingml/2006/main" w="12383">
            <a:solidFill>
              <a:srgbClr val="535353"/>
            </a:solidFill>
            <a:prstDash val="solid"/>
          </a:ln>
        </p:spPr>
        <p:txBody>
          <a:bodyPr xmlns:a="http://schemas.openxmlformats.org/drawingml/2006/main" lIns="57150" tIns="57150" rIns="57150" bIns="57150" anchor="ctr">
            <a:noAutofit/>
          </a:bodyPr>
          <a:lstStyle xmlns:a="http://schemas.openxmlformats.org/drawingml/2006/main">
            <a:defPPr algn="ctr">
              <a:defRPr sz="1900" b="0">
                <a:solidFill>
                  <a:srgbClr val="222222"/>
                </a:solidFill>
                <a:latin typeface="Times New Roman"/>
                <a:ea typeface="Times New Roman"/>
                <a:cs typeface="Times New Roman"/>
              </a:defRPr>
            </a:defPPr>
            <a:lvl1pPr algn="ctr">
              <a:defRPr sz="1900" b="0">
                <a:solidFill>
                  <a:srgbClr val="222222"/>
                </a:solidFill>
                <a:latin typeface="Times New Roman"/>
                <a:ea typeface="Times New Roman"/>
                <a:cs typeface="Times New Roman"/>
              </a:defRPr>
            </a:lvl1pPr>
            <a:lvl2pPr algn="ctr">
              <a:defRPr sz="1900" b="0">
                <a:solidFill>
                  <a:srgbClr val="222222"/>
                </a:solidFill>
                <a:latin typeface="Times New Roman"/>
                <a:ea typeface="Times New Roman"/>
                <a:cs typeface="Times New Roman"/>
              </a:defRPr>
            </a:lvl2pPr>
            <a:lvl3pPr algn="ctr">
              <a:defRPr sz="1900" b="0">
                <a:solidFill>
                  <a:srgbClr val="222222"/>
                </a:solidFill>
                <a:latin typeface="Times New Roman"/>
                <a:ea typeface="Times New Roman"/>
                <a:cs typeface="Times New Roman"/>
              </a:defRPr>
            </a:lvl3pPr>
            <a:lvl4pPr algn="ctr">
              <a:defRPr sz="1900" b="0">
                <a:solidFill>
                  <a:srgbClr val="222222"/>
                </a:solidFill>
                <a:latin typeface="Times New Roman"/>
                <a:ea typeface="Times New Roman"/>
                <a:cs typeface="Times New Roman"/>
              </a:defRPr>
            </a:lvl4pPr>
            <a:lvl5pPr algn="ctr">
              <a:defRPr sz="1900" b="0">
                <a:solidFill>
                  <a:srgbClr val="222222"/>
                </a:solidFill>
                <a:latin typeface="Times New Roman"/>
                <a:ea typeface="Times New Roman"/>
                <a:cs typeface="Times New Roman"/>
              </a:defRPr>
            </a:lvl5pPr>
            <a:lvl6pPr algn="ctr">
              <a:defRPr sz="1900" b="0">
                <a:solidFill>
                  <a:srgbClr val="222222"/>
                </a:solidFill>
                <a:latin typeface="Times New Roman"/>
                <a:ea typeface="Times New Roman"/>
                <a:cs typeface="Times New Roman"/>
              </a:defRPr>
            </a:lvl6pPr>
            <a:lvl7pPr algn="ctr">
              <a:defRPr sz="1900" b="0">
                <a:solidFill>
                  <a:srgbClr val="222222"/>
                </a:solidFill>
                <a:latin typeface="Times New Roman"/>
                <a:ea typeface="Times New Roman"/>
                <a:cs typeface="Times New Roman"/>
              </a:defRPr>
            </a:lvl7pPr>
            <a:lvl8pPr algn="ctr">
              <a:defRPr sz="1900" b="0">
                <a:solidFill>
                  <a:srgbClr val="222222"/>
                </a:solidFill>
                <a:latin typeface="Times New Roman"/>
                <a:ea typeface="Times New Roman"/>
                <a:cs typeface="Times New Roman"/>
              </a:defRPr>
            </a:lvl8pPr>
            <a:lvl9pPr algn="ctr">
              <a:defRPr sz="1900" b="0">
                <a:solidFill>
                  <a:srgbClr val="222222"/>
                </a:solidFill>
                <a:latin typeface="Times New Roman"/>
                <a:ea typeface="Times New Roman"/>
                <a:cs typeface="Times New Roman"/>
              </a:defRPr>
            </a:lvl9pPr>
          </a:lstStyle>
          <a:p xmlns:a="http://schemas.openxmlformats.org/drawingml/2006/main">
            <a:pPr algn="ctr">
              <a:defRPr sz="1900" b="0">
                <a:solidFill>
                  <a:srgbClr val="222222"/>
                </a:solidFill>
                <a:latin typeface="Times New Roman"/>
                <a:ea typeface="Times New Roman"/>
                <a:cs typeface="Times New Roman"/>
              </a:defRPr>
            </a:pPr>
            <a:r>
              <a:rPr sz="1900" b="0">
                <a:solidFill>
                  <a:srgbClr val="222222"/>
                </a:solidFill>
                <a:latin typeface="Times New Roman"/>
                <a:ea typeface="Times New Roman"/>
                <a:cs typeface="Times New Roman"/>
              </a:rPr>
              <a:t>Cooling tower</a:t>
            </a:r>
          </a:p>
          <a:p xmlns:a="http://schemas.openxmlformats.org/drawingml/2006/main">
            <a:pPr algn="ctr">
              <a:defRPr sz="1900" b="0">
                <a:solidFill>
                  <a:srgbClr val="222222"/>
                </a:solidFill>
                <a:latin typeface="Times New Roman"/>
                <a:ea typeface="Times New Roman"/>
                <a:cs typeface="Times New Roman"/>
              </a:defRPr>
            </a:pPr>
            <a:r>
              <a:rPr sz="1900" b="0">
                <a:solidFill>
                  <a:srgbClr val="222222"/>
                </a:solidFill>
                <a:latin typeface="Times New Roman"/>
                <a:ea typeface="Times New Roman"/>
                <a:cs typeface="Times New Roman"/>
              </a:rPr>
              <a:t>and fans</a:t>
            </a:r>
          </a:p>
        </p:txBody>
      </p:sp>
      <p:sp>
        <p:nvSpPr>
          <p:cNvPr id="6" name="chiller-bank">
            <a:extLst xmlns:a="http://schemas.openxmlformats.org/drawingml/2006/main">
              <a:ext uri="{FF2B5EF4-FFF2-40B4-BE49-F238E27FC236}">
                <a16:creationId xmlns:a16="http://schemas.microsoft.com/office/drawing/2014/main" id="{5D00C9E1-A472-4806-B4C8-27EDA9E8A586}"/>
              </a:ext>
            </a:extLst>
          </p:cNvPr>
          <p:cNvSpPr>
            <a:spLocks xmlns:a="http://schemas.openxmlformats.org/drawingml/2006/main" noGrp="1"/>
          </p:cNvSpPr>
          <p:nvPr/>
        </p:nvSpPr>
        <p:spPr>
          <a:xfrm xmlns:a="http://schemas.openxmlformats.org/drawingml/2006/main">
            <a:off x="4324350" y="2457450"/>
            <a:ext cx="2571750" cy="1619250"/>
          </a:xfrm>
          <a:prstGeom xmlns:a="http://schemas.openxmlformats.org/drawingml/2006/main" prst="rect">
            <a:avLst/>
          </a:prstGeom>
          <a:solidFill xmlns:a="http://schemas.openxmlformats.org/drawingml/2006/main">
            <a:srgbClr val="FFFFFF"/>
          </a:solidFill>
          <a:ln xmlns:a="http://schemas.openxmlformats.org/drawingml/2006/main" w="12383">
            <a:solidFill>
              <a:srgbClr val="535353"/>
            </a:solidFill>
            <a:prstDash val="solid"/>
          </a:ln>
        </p:spPr>
      </p:sp>
      <p:sp>
        <p:nvSpPr>
          <p:cNvPr id="7" name="condenser-sides">
            <a:extLst xmlns:a="http://schemas.openxmlformats.org/drawingml/2006/main">
              <a:ext uri="{FF2B5EF4-FFF2-40B4-BE49-F238E27FC236}">
                <a16:creationId xmlns:a16="http://schemas.microsoft.com/office/drawing/2014/main" id="{15E726A7-BADB-4276-9465-24A14CAC3B5A}"/>
              </a:ext>
            </a:extLst>
          </p:cNvPr>
          <p:cNvSpPr>
            <a:spLocks xmlns:a="http://schemas.openxmlformats.org/drawingml/2006/main" noGrp="1"/>
          </p:cNvSpPr>
          <p:nvPr/>
        </p:nvSpPr>
        <p:spPr>
          <a:xfrm xmlns:a="http://schemas.openxmlformats.org/drawingml/2006/main">
            <a:off x="4438650" y="2552700"/>
            <a:ext cx="2343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00" b="1">
                <a:solidFill>
                  <a:srgbClr val="222222"/>
                </a:solidFill>
                <a:latin typeface="Times New Roman"/>
                <a:ea typeface="Times New Roman"/>
                <a:cs typeface="Times New Roman"/>
              </a:defRPr>
            </a:defPPr>
            <a:lvl1pPr algn="ctr">
              <a:defRPr sz="1600" b="1">
                <a:solidFill>
                  <a:srgbClr val="222222"/>
                </a:solidFill>
                <a:latin typeface="Times New Roman"/>
                <a:ea typeface="Times New Roman"/>
                <a:cs typeface="Times New Roman"/>
              </a:defRPr>
            </a:lvl1pPr>
            <a:lvl2pPr algn="ctr">
              <a:defRPr sz="1600" b="1">
                <a:solidFill>
                  <a:srgbClr val="222222"/>
                </a:solidFill>
                <a:latin typeface="Times New Roman"/>
                <a:ea typeface="Times New Roman"/>
                <a:cs typeface="Times New Roman"/>
              </a:defRPr>
            </a:lvl2pPr>
            <a:lvl3pPr algn="ctr">
              <a:defRPr sz="1600" b="1">
                <a:solidFill>
                  <a:srgbClr val="222222"/>
                </a:solidFill>
                <a:latin typeface="Times New Roman"/>
                <a:ea typeface="Times New Roman"/>
                <a:cs typeface="Times New Roman"/>
              </a:defRPr>
            </a:lvl3pPr>
            <a:lvl4pPr algn="ctr">
              <a:defRPr sz="1600" b="1">
                <a:solidFill>
                  <a:srgbClr val="222222"/>
                </a:solidFill>
                <a:latin typeface="Times New Roman"/>
                <a:ea typeface="Times New Roman"/>
                <a:cs typeface="Times New Roman"/>
              </a:defRPr>
            </a:lvl4pPr>
            <a:lvl5pPr algn="ctr">
              <a:defRPr sz="1600" b="1">
                <a:solidFill>
                  <a:srgbClr val="222222"/>
                </a:solidFill>
                <a:latin typeface="Times New Roman"/>
                <a:ea typeface="Times New Roman"/>
                <a:cs typeface="Times New Roman"/>
              </a:defRPr>
            </a:lvl5pPr>
            <a:lvl6pPr algn="ctr">
              <a:defRPr sz="1600" b="1">
                <a:solidFill>
                  <a:srgbClr val="222222"/>
                </a:solidFill>
                <a:latin typeface="Times New Roman"/>
                <a:ea typeface="Times New Roman"/>
                <a:cs typeface="Times New Roman"/>
              </a:defRPr>
            </a:lvl6pPr>
            <a:lvl7pPr algn="ctr">
              <a:defRPr sz="1600" b="1">
                <a:solidFill>
                  <a:srgbClr val="222222"/>
                </a:solidFill>
                <a:latin typeface="Times New Roman"/>
                <a:ea typeface="Times New Roman"/>
                <a:cs typeface="Times New Roman"/>
              </a:defRPr>
            </a:lvl7pPr>
            <a:lvl8pPr algn="ctr">
              <a:defRPr sz="1600" b="1">
                <a:solidFill>
                  <a:srgbClr val="222222"/>
                </a:solidFill>
                <a:latin typeface="Times New Roman"/>
                <a:ea typeface="Times New Roman"/>
                <a:cs typeface="Times New Roman"/>
              </a:defRPr>
            </a:lvl8pPr>
            <a:lvl9pPr algn="ctr">
              <a:defRPr sz="1600" b="1">
                <a:solidFill>
                  <a:srgbClr val="222222"/>
                </a:solidFill>
                <a:latin typeface="Times New Roman"/>
                <a:ea typeface="Times New Roman"/>
                <a:cs typeface="Times New Roman"/>
              </a:defRPr>
            </a:lvl9pPr>
          </a:lstStyle>
          <a:p xmlns:a="http://schemas.openxmlformats.org/drawingml/2006/main">
            <a:pPr algn="ctr">
              <a:defRPr sz="1600" b="1">
                <a:solidFill>
                  <a:srgbClr val="222222"/>
                </a:solidFill>
                <a:latin typeface="Times New Roman"/>
                <a:ea typeface="Times New Roman"/>
                <a:cs typeface="Times New Roman"/>
              </a:defRPr>
            </a:pPr>
            <a:r>
              <a:rPr sz="1600" b="1">
                <a:solidFill>
                  <a:srgbClr val="222222"/>
                </a:solidFill>
                <a:latin typeface="Times New Roman"/>
                <a:ea typeface="Times New Roman"/>
                <a:cs typeface="Times New Roman"/>
              </a:rPr>
              <a:t>Water-cooled chiller bank</a:t>
            </a:r>
          </a:p>
        </p:txBody>
      </p:sp>
      <p:sp>
        <p:nvSpPr>
          <p:cNvPr id="8" name="chiller-1">
            <a:extLst xmlns:a="http://schemas.openxmlformats.org/drawingml/2006/main">
              <a:ext uri="{FF2B5EF4-FFF2-40B4-BE49-F238E27FC236}">
                <a16:creationId xmlns:a16="http://schemas.microsoft.com/office/drawing/2014/main" id="{9D7FB1F5-79B9-49F7-8BEE-ED334A1CB777}"/>
              </a:ext>
            </a:extLst>
          </p:cNvPr>
          <p:cNvSpPr>
            <a:spLocks xmlns:a="http://schemas.openxmlformats.org/drawingml/2006/main" noGrp="1"/>
          </p:cNvSpPr>
          <p:nvPr/>
        </p:nvSpPr>
        <p:spPr>
          <a:xfrm xmlns:a="http://schemas.openxmlformats.org/drawingml/2006/main">
            <a:off x="4448175" y="2952750"/>
            <a:ext cx="1104900" cy="628650"/>
          </a:xfrm>
          <a:prstGeom xmlns:a="http://schemas.openxmlformats.org/drawingml/2006/main" prst="rect">
            <a:avLst/>
          </a:prstGeom>
          <a:solidFill xmlns:a="http://schemas.openxmlformats.org/drawingml/2006/main">
            <a:srgbClr val="FFFFFF"/>
          </a:solidFill>
          <a:ln xmlns:a="http://schemas.openxmlformats.org/drawingml/2006/main" w="12383">
            <a:solidFill>
              <a:srgbClr val="535353"/>
            </a:solidFill>
            <a:prstDash val="solid"/>
          </a:ln>
        </p:spPr>
        <p:txBody>
          <a:bodyPr xmlns:a="http://schemas.openxmlformats.org/drawingml/2006/main" lIns="57150" tIns="57150" rIns="57150" bIns="57150" anchor="ctr">
            <a:noAutofit/>
          </a:bodyPr>
          <a:lstStyle xmlns:a="http://schemas.openxmlformats.org/drawingml/2006/main">
            <a:defPPr algn="ctr">
              <a:defRPr sz="1700" b="0">
                <a:solidFill>
                  <a:srgbClr val="222222"/>
                </a:solidFill>
                <a:latin typeface="Times New Roman"/>
                <a:ea typeface="Times New Roman"/>
                <a:cs typeface="Times New Roman"/>
              </a:defRPr>
            </a:defPPr>
            <a:lvl1pPr algn="ctr">
              <a:defRPr sz="1700" b="0">
                <a:solidFill>
                  <a:srgbClr val="222222"/>
                </a:solidFill>
                <a:latin typeface="Times New Roman"/>
                <a:ea typeface="Times New Roman"/>
                <a:cs typeface="Times New Roman"/>
              </a:defRPr>
            </a:lvl1pPr>
            <a:lvl2pPr algn="ctr">
              <a:defRPr sz="1700" b="0">
                <a:solidFill>
                  <a:srgbClr val="222222"/>
                </a:solidFill>
                <a:latin typeface="Times New Roman"/>
                <a:ea typeface="Times New Roman"/>
                <a:cs typeface="Times New Roman"/>
              </a:defRPr>
            </a:lvl2pPr>
            <a:lvl3pPr algn="ctr">
              <a:defRPr sz="1700" b="0">
                <a:solidFill>
                  <a:srgbClr val="222222"/>
                </a:solidFill>
                <a:latin typeface="Times New Roman"/>
                <a:ea typeface="Times New Roman"/>
                <a:cs typeface="Times New Roman"/>
              </a:defRPr>
            </a:lvl3pPr>
            <a:lvl4pPr algn="ctr">
              <a:defRPr sz="1700" b="0">
                <a:solidFill>
                  <a:srgbClr val="222222"/>
                </a:solidFill>
                <a:latin typeface="Times New Roman"/>
                <a:ea typeface="Times New Roman"/>
                <a:cs typeface="Times New Roman"/>
              </a:defRPr>
            </a:lvl4pPr>
            <a:lvl5pPr algn="ctr">
              <a:defRPr sz="1700" b="0">
                <a:solidFill>
                  <a:srgbClr val="222222"/>
                </a:solidFill>
                <a:latin typeface="Times New Roman"/>
                <a:ea typeface="Times New Roman"/>
                <a:cs typeface="Times New Roman"/>
              </a:defRPr>
            </a:lvl5pPr>
            <a:lvl6pPr algn="ctr">
              <a:defRPr sz="1700" b="0">
                <a:solidFill>
                  <a:srgbClr val="222222"/>
                </a:solidFill>
                <a:latin typeface="Times New Roman"/>
                <a:ea typeface="Times New Roman"/>
                <a:cs typeface="Times New Roman"/>
              </a:defRPr>
            </a:lvl6pPr>
            <a:lvl7pPr algn="ctr">
              <a:defRPr sz="1700" b="0">
                <a:solidFill>
                  <a:srgbClr val="222222"/>
                </a:solidFill>
                <a:latin typeface="Times New Roman"/>
                <a:ea typeface="Times New Roman"/>
                <a:cs typeface="Times New Roman"/>
              </a:defRPr>
            </a:lvl7pPr>
            <a:lvl8pPr algn="ctr">
              <a:defRPr sz="1700" b="0">
                <a:solidFill>
                  <a:srgbClr val="222222"/>
                </a:solidFill>
                <a:latin typeface="Times New Roman"/>
                <a:ea typeface="Times New Roman"/>
                <a:cs typeface="Times New Roman"/>
              </a:defRPr>
            </a:lvl8pPr>
            <a:lvl9pPr algn="ctr">
              <a:defRPr sz="1700" b="0">
                <a:solidFill>
                  <a:srgbClr val="222222"/>
                </a:solidFill>
                <a:latin typeface="Times New Roman"/>
                <a:ea typeface="Times New Roman"/>
                <a:cs typeface="Times New Roman"/>
              </a:defRPr>
            </a:lvl9pPr>
          </a:lstStyle>
          <a:p xmlns:a="http://schemas.openxmlformats.org/drawingml/2006/main">
            <a:pPr algn="ctr">
              <a:defRPr sz="1700" b="0">
                <a:solidFill>
                  <a:srgbClr val="222222"/>
                </a:solidFill>
                <a:latin typeface="Times New Roman"/>
                <a:ea typeface="Times New Roman"/>
                <a:cs typeface="Times New Roman"/>
              </a:defRPr>
            </a:pPr>
            <a:r>
              <a:rPr sz="1700" b="0">
                <a:solidFill>
                  <a:srgbClr val="222222"/>
                </a:solidFill>
                <a:latin typeface="Times New Roman"/>
                <a:ea typeface="Times New Roman"/>
                <a:cs typeface="Times New Roman"/>
              </a:rPr>
              <a:t>Chiller 1</a:t>
            </a:r>
          </a:p>
          <a:p xmlns:a="http://schemas.openxmlformats.org/drawingml/2006/main">
            <a:pPr algn="ctr">
              <a:defRPr sz="1700" b="0">
                <a:solidFill>
                  <a:srgbClr val="222222"/>
                </a:solidFill>
                <a:latin typeface="Times New Roman"/>
                <a:ea typeface="Times New Roman"/>
                <a:cs typeface="Times New Roman"/>
              </a:defRPr>
            </a:pPr>
            <a:r>
              <a:rPr sz="1700" b="0">
                <a:solidFill>
                  <a:srgbClr val="222222"/>
                </a:solidFill>
                <a:latin typeface="Times New Roman"/>
                <a:ea typeface="Times New Roman"/>
                <a:cs typeface="Times New Roman"/>
              </a:rPr>
              <a:t>600 tons</a:t>
            </a:r>
          </a:p>
        </p:txBody>
      </p:sp>
      <p:sp>
        <p:nvSpPr>
          <p:cNvPr id="9" name="chiller-2">
            <a:extLst xmlns:a="http://schemas.openxmlformats.org/drawingml/2006/main">
              <a:ext uri="{FF2B5EF4-FFF2-40B4-BE49-F238E27FC236}">
                <a16:creationId xmlns:a16="http://schemas.microsoft.com/office/drawing/2014/main" id="{E3066692-2C98-4810-965A-D2883441F81F}"/>
              </a:ext>
            </a:extLst>
          </p:cNvPr>
          <p:cNvSpPr>
            <a:spLocks xmlns:a="http://schemas.openxmlformats.org/drawingml/2006/main" noGrp="1"/>
          </p:cNvSpPr>
          <p:nvPr/>
        </p:nvSpPr>
        <p:spPr>
          <a:xfrm xmlns:a="http://schemas.openxmlformats.org/drawingml/2006/main">
            <a:off x="5657850" y="2952750"/>
            <a:ext cx="1104900" cy="628650"/>
          </a:xfrm>
          <a:prstGeom xmlns:a="http://schemas.openxmlformats.org/drawingml/2006/main" prst="rect">
            <a:avLst/>
          </a:prstGeom>
          <a:solidFill xmlns:a="http://schemas.openxmlformats.org/drawingml/2006/main">
            <a:srgbClr val="FFFFFF"/>
          </a:solidFill>
          <a:ln xmlns:a="http://schemas.openxmlformats.org/drawingml/2006/main" w="12383">
            <a:solidFill>
              <a:srgbClr val="535353"/>
            </a:solidFill>
            <a:prstDash val="solid"/>
          </a:ln>
        </p:spPr>
        <p:txBody>
          <a:bodyPr xmlns:a="http://schemas.openxmlformats.org/drawingml/2006/main" lIns="57150" tIns="57150" rIns="57150" bIns="57150" anchor="ctr">
            <a:noAutofit/>
          </a:bodyPr>
          <a:lstStyle xmlns:a="http://schemas.openxmlformats.org/drawingml/2006/main">
            <a:defPPr algn="ctr">
              <a:defRPr sz="1700" b="0">
                <a:solidFill>
                  <a:srgbClr val="222222"/>
                </a:solidFill>
                <a:latin typeface="Times New Roman"/>
                <a:ea typeface="Times New Roman"/>
                <a:cs typeface="Times New Roman"/>
              </a:defRPr>
            </a:defPPr>
            <a:lvl1pPr algn="ctr">
              <a:defRPr sz="1700" b="0">
                <a:solidFill>
                  <a:srgbClr val="222222"/>
                </a:solidFill>
                <a:latin typeface="Times New Roman"/>
                <a:ea typeface="Times New Roman"/>
                <a:cs typeface="Times New Roman"/>
              </a:defRPr>
            </a:lvl1pPr>
            <a:lvl2pPr algn="ctr">
              <a:defRPr sz="1700" b="0">
                <a:solidFill>
                  <a:srgbClr val="222222"/>
                </a:solidFill>
                <a:latin typeface="Times New Roman"/>
                <a:ea typeface="Times New Roman"/>
                <a:cs typeface="Times New Roman"/>
              </a:defRPr>
            </a:lvl2pPr>
            <a:lvl3pPr algn="ctr">
              <a:defRPr sz="1700" b="0">
                <a:solidFill>
                  <a:srgbClr val="222222"/>
                </a:solidFill>
                <a:latin typeface="Times New Roman"/>
                <a:ea typeface="Times New Roman"/>
                <a:cs typeface="Times New Roman"/>
              </a:defRPr>
            </a:lvl3pPr>
            <a:lvl4pPr algn="ctr">
              <a:defRPr sz="1700" b="0">
                <a:solidFill>
                  <a:srgbClr val="222222"/>
                </a:solidFill>
                <a:latin typeface="Times New Roman"/>
                <a:ea typeface="Times New Roman"/>
                <a:cs typeface="Times New Roman"/>
              </a:defRPr>
            </a:lvl4pPr>
            <a:lvl5pPr algn="ctr">
              <a:defRPr sz="1700" b="0">
                <a:solidFill>
                  <a:srgbClr val="222222"/>
                </a:solidFill>
                <a:latin typeface="Times New Roman"/>
                <a:ea typeface="Times New Roman"/>
                <a:cs typeface="Times New Roman"/>
              </a:defRPr>
            </a:lvl5pPr>
            <a:lvl6pPr algn="ctr">
              <a:defRPr sz="1700" b="0">
                <a:solidFill>
                  <a:srgbClr val="222222"/>
                </a:solidFill>
                <a:latin typeface="Times New Roman"/>
                <a:ea typeface="Times New Roman"/>
                <a:cs typeface="Times New Roman"/>
              </a:defRPr>
            </a:lvl6pPr>
            <a:lvl7pPr algn="ctr">
              <a:defRPr sz="1700" b="0">
                <a:solidFill>
                  <a:srgbClr val="222222"/>
                </a:solidFill>
                <a:latin typeface="Times New Roman"/>
                <a:ea typeface="Times New Roman"/>
                <a:cs typeface="Times New Roman"/>
              </a:defRPr>
            </a:lvl7pPr>
            <a:lvl8pPr algn="ctr">
              <a:defRPr sz="1700" b="0">
                <a:solidFill>
                  <a:srgbClr val="222222"/>
                </a:solidFill>
                <a:latin typeface="Times New Roman"/>
                <a:ea typeface="Times New Roman"/>
                <a:cs typeface="Times New Roman"/>
              </a:defRPr>
            </a:lvl8pPr>
            <a:lvl9pPr algn="ctr">
              <a:defRPr sz="1700" b="0">
                <a:solidFill>
                  <a:srgbClr val="222222"/>
                </a:solidFill>
                <a:latin typeface="Times New Roman"/>
                <a:ea typeface="Times New Roman"/>
                <a:cs typeface="Times New Roman"/>
              </a:defRPr>
            </a:lvl9pPr>
          </a:lstStyle>
          <a:p xmlns:a="http://schemas.openxmlformats.org/drawingml/2006/main">
            <a:pPr algn="ctr">
              <a:defRPr sz="1700" b="0">
                <a:solidFill>
                  <a:srgbClr val="222222"/>
                </a:solidFill>
                <a:latin typeface="Times New Roman"/>
                <a:ea typeface="Times New Roman"/>
                <a:cs typeface="Times New Roman"/>
              </a:defRPr>
            </a:pPr>
            <a:r>
              <a:rPr sz="1700" b="0">
                <a:solidFill>
                  <a:srgbClr val="222222"/>
                </a:solidFill>
                <a:latin typeface="Times New Roman"/>
                <a:ea typeface="Times New Roman"/>
                <a:cs typeface="Times New Roman"/>
              </a:rPr>
              <a:t>Chiller 2</a:t>
            </a:r>
          </a:p>
          <a:p xmlns:a="http://schemas.openxmlformats.org/drawingml/2006/main">
            <a:pPr algn="ctr">
              <a:defRPr sz="1700" b="0">
                <a:solidFill>
                  <a:srgbClr val="222222"/>
                </a:solidFill>
                <a:latin typeface="Times New Roman"/>
                <a:ea typeface="Times New Roman"/>
                <a:cs typeface="Times New Roman"/>
              </a:defRPr>
            </a:pPr>
            <a:r>
              <a:rPr sz="1700" b="0">
                <a:solidFill>
                  <a:srgbClr val="222222"/>
                </a:solidFill>
                <a:latin typeface="Times New Roman"/>
                <a:ea typeface="Times New Roman"/>
                <a:cs typeface="Times New Roman"/>
              </a:rPr>
              <a:t>600 tons</a:t>
            </a:r>
          </a:p>
        </p:txBody>
      </p:sp>
      <p:sp>
        <p:nvSpPr>
          <p:cNvPr id="10" name="evaporator-sides">
            <a:extLst xmlns:a="http://schemas.openxmlformats.org/drawingml/2006/main">
              <a:ext uri="{FF2B5EF4-FFF2-40B4-BE49-F238E27FC236}">
                <a16:creationId xmlns:a16="http://schemas.microsoft.com/office/drawing/2014/main" id="{8ED520D0-8B92-4E23-AA3D-8020166CCFB8}"/>
              </a:ext>
            </a:extLst>
          </p:cNvPr>
          <p:cNvSpPr>
            <a:spLocks xmlns:a="http://schemas.openxmlformats.org/drawingml/2006/main" noGrp="1"/>
          </p:cNvSpPr>
          <p:nvPr/>
        </p:nvSpPr>
        <p:spPr>
          <a:xfrm xmlns:a="http://schemas.openxmlformats.org/drawingml/2006/main">
            <a:off x="4438650" y="3724275"/>
            <a:ext cx="2343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00" b="1">
                <a:solidFill>
                  <a:srgbClr val="222222"/>
                </a:solidFill>
                <a:latin typeface="Times New Roman"/>
                <a:ea typeface="Times New Roman"/>
                <a:cs typeface="Times New Roman"/>
              </a:defRPr>
            </a:defPPr>
            <a:lvl1pPr algn="ctr">
              <a:defRPr sz="1600" b="1">
                <a:solidFill>
                  <a:srgbClr val="222222"/>
                </a:solidFill>
                <a:latin typeface="Times New Roman"/>
                <a:ea typeface="Times New Roman"/>
                <a:cs typeface="Times New Roman"/>
              </a:defRPr>
            </a:lvl1pPr>
            <a:lvl2pPr algn="ctr">
              <a:defRPr sz="1600" b="1">
                <a:solidFill>
                  <a:srgbClr val="222222"/>
                </a:solidFill>
                <a:latin typeface="Times New Roman"/>
                <a:ea typeface="Times New Roman"/>
                <a:cs typeface="Times New Roman"/>
              </a:defRPr>
            </a:lvl2pPr>
            <a:lvl3pPr algn="ctr">
              <a:defRPr sz="1600" b="1">
                <a:solidFill>
                  <a:srgbClr val="222222"/>
                </a:solidFill>
                <a:latin typeface="Times New Roman"/>
                <a:ea typeface="Times New Roman"/>
                <a:cs typeface="Times New Roman"/>
              </a:defRPr>
            </a:lvl3pPr>
            <a:lvl4pPr algn="ctr">
              <a:defRPr sz="1600" b="1">
                <a:solidFill>
                  <a:srgbClr val="222222"/>
                </a:solidFill>
                <a:latin typeface="Times New Roman"/>
                <a:ea typeface="Times New Roman"/>
                <a:cs typeface="Times New Roman"/>
              </a:defRPr>
            </a:lvl4pPr>
            <a:lvl5pPr algn="ctr">
              <a:defRPr sz="1600" b="1">
                <a:solidFill>
                  <a:srgbClr val="222222"/>
                </a:solidFill>
                <a:latin typeface="Times New Roman"/>
                <a:ea typeface="Times New Roman"/>
                <a:cs typeface="Times New Roman"/>
              </a:defRPr>
            </a:lvl5pPr>
            <a:lvl6pPr algn="ctr">
              <a:defRPr sz="1600" b="1">
                <a:solidFill>
                  <a:srgbClr val="222222"/>
                </a:solidFill>
                <a:latin typeface="Times New Roman"/>
                <a:ea typeface="Times New Roman"/>
                <a:cs typeface="Times New Roman"/>
              </a:defRPr>
            </a:lvl6pPr>
            <a:lvl7pPr algn="ctr">
              <a:defRPr sz="1600" b="1">
                <a:solidFill>
                  <a:srgbClr val="222222"/>
                </a:solidFill>
                <a:latin typeface="Times New Roman"/>
                <a:ea typeface="Times New Roman"/>
                <a:cs typeface="Times New Roman"/>
              </a:defRPr>
            </a:lvl7pPr>
            <a:lvl8pPr algn="ctr">
              <a:defRPr sz="1600" b="1">
                <a:solidFill>
                  <a:srgbClr val="222222"/>
                </a:solidFill>
                <a:latin typeface="Times New Roman"/>
                <a:ea typeface="Times New Roman"/>
                <a:cs typeface="Times New Roman"/>
              </a:defRPr>
            </a:lvl8pPr>
            <a:lvl9pPr algn="ctr">
              <a:defRPr sz="1600" b="1">
                <a:solidFill>
                  <a:srgbClr val="222222"/>
                </a:solidFill>
                <a:latin typeface="Times New Roman"/>
                <a:ea typeface="Times New Roman"/>
                <a:cs typeface="Times New Roman"/>
              </a:defRPr>
            </a:lvl9pPr>
          </a:lstStyle>
          <a:p xmlns:a="http://schemas.openxmlformats.org/drawingml/2006/main">
            <a:pPr algn="ctr">
              <a:defRPr sz="1600" b="1">
                <a:solidFill>
                  <a:srgbClr val="222222"/>
                </a:solidFill>
                <a:latin typeface="Times New Roman"/>
                <a:ea typeface="Times New Roman"/>
                <a:cs typeface="Times New Roman"/>
              </a:defRPr>
            </a:pPr>
            <a:r>
              <a:rPr sz="1600" b="1">
                <a:solidFill>
                  <a:srgbClr val="222222"/>
                </a:solidFill>
                <a:latin typeface="Times New Roman"/>
                <a:ea typeface="Times New Roman"/>
                <a:cs typeface="Times New Roman"/>
              </a:rPr>
              <a:t>Separate water circuits</a:t>
            </a:r>
          </a:p>
        </p:txBody>
      </p:sp>
      <p:sp>
        <p:nvSpPr>
          <p:cNvPr id="11" name="ahu">
            <a:extLst xmlns:a="http://schemas.openxmlformats.org/drawingml/2006/main">
              <a:ext uri="{FF2B5EF4-FFF2-40B4-BE49-F238E27FC236}">
                <a16:creationId xmlns:a16="http://schemas.microsoft.com/office/drawing/2014/main" id="{4075299B-CA7A-4B54-8B08-0374F1287831}"/>
              </a:ext>
            </a:extLst>
          </p:cNvPr>
          <p:cNvSpPr>
            <a:spLocks xmlns:a="http://schemas.openxmlformats.org/drawingml/2006/main" noGrp="1"/>
          </p:cNvSpPr>
          <p:nvPr/>
        </p:nvSpPr>
        <p:spPr>
          <a:xfrm xmlns:a="http://schemas.openxmlformats.org/drawingml/2006/main">
            <a:off x="9201150" y="2581275"/>
            <a:ext cx="2247900" cy="1381125"/>
          </a:xfrm>
          <a:prstGeom xmlns:a="http://schemas.openxmlformats.org/drawingml/2006/main" prst="rect">
            <a:avLst/>
          </a:prstGeom>
          <a:solidFill xmlns:a="http://schemas.openxmlformats.org/drawingml/2006/main">
            <a:srgbClr val="FFFFFF"/>
          </a:solidFill>
          <a:ln xmlns:a="http://schemas.openxmlformats.org/drawingml/2006/main" w="12383">
            <a:solidFill>
              <a:srgbClr val="535353"/>
            </a:solidFill>
            <a:prstDash val="solid"/>
          </a:ln>
        </p:spPr>
      </p:sp>
      <p:sp>
        <p:nvSpPr>
          <p:cNvPr id="12" name="ahu-label">
            <a:extLst xmlns:a="http://schemas.openxmlformats.org/drawingml/2006/main">
              <a:ext uri="{FF2B5EF4-FFF2-40B4-BE49-F238E27FC236}">
                <a16:creationId xmlns:a16="http://schemas.microsoft.com/office/drawing/2014/main" id="{BB6B96DB-BF1B-4BD4-BF1C-91386E0A4399}"/>
              </a:ext>
            </a:extLst>
          </p:cNvPr>
          <p:cNvSpPr>
            <a:spLocks xmlns:a="http://schemas.openxmlformats.org/drawingml/2006/main" noGrp="1"/>
          </p:cNvSpPr>
          <p:nvPr/>
        </p:nvSpPr>
        <p:spPr>
          <a:xfrm xmlns:a="http://schemas.openxmlformats.org/drawingml/2006/main">
            <a:off x="9277350" y="26670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222222"/>
                </a:solidFill>
                <a:latin typeface="Times New Roman"/>
                <a:ea typeface="Times New Roman"/>
                <a:cs typeface="Times New Roman"/>
              </a:defRPr>
            </a:defPPr>
            <a:lvl1pPr algn="ctr">
              <a:defRPr sz="1800" b="1">
                <a:solidFill>
                  <a:srgbClr val="222222"/>
                </a:solidFill>
                <a:latin typeface="Times New Roman"/>
                <a:ea typeface="Times New Roman"/>
                <a:cs typeface="Times New Roman"/>
              </a:defRPr>
            </a:lvl1pPr>
            <a:lvl2pPr algn="ctr">
              <a:defRPr sz="1800" b="1">
                <a:solidFill>
                  <a:srgbClr val="222222"/>
                </a:solidFill>
                <a:latin typeface="Times New Roman"/>
                <a:ea typeface="Times New Roman"/>
                <a:cs typeface="Times New Roman"/>
              </a:defRPr>
            </a:lvl2pPr>
            <a:lvl3pPr algn="ctr">
              <a:defRPr sz="1800" b="1">
                <a:solidFill>
                  <a:srgbClr val="222222"/>
                </a:solidFill>
                <a:latin typeface="Times New Roman"/>
                <a:ea typeface="Times New Roman"/>
                <a:cs typeface="Times New Roman"/>
              </a:defRPr>
            </a:lvl3pPr>
            <a:lvl4pPr algn="ctr">
              <a:defRPr sz="1800" b="1">
                <a:solidFill>
                  <a:srgbClr val="222222"/>
                </a:solidFill>
                <a:latin typeface="Times New Roman"/>
                <a:ea typeface="Times New Roman"/>
                <a:cs typeface="Times New Roman"/>
              </a:defRPr>
            </a:lvl4pPr>
            <a:lvl5pPr algn="ctr">
              <a:defRPr sz="1800" b="1">
                <a:solidFill>
                  <a:srgbClr val="222222"/>
                </a:solidFill>
                <a:latin typeface="Times New Roman"/>
                <a:ea typeface="Times New Roman"/>
                <a:cs typeface="Times New Roman"/>
              </a:defRPr>
            </a:lvl5pPr>
            <a:lvl6pPr algn="ctr">
              <a:defRPr sz="1800" b="1">
                <a:solidFill>
                  <a:srgbClr val="222222"/>
                </a:solidFill>
                <a:latin typeface="Times New Roman"/>
                <a:ea typeface="Times New Roman"/>
                <a:cs typeface="Times New Roman"/>
              </a:defRPr>
            </a:lvl6pPr>
            <a:lvl7pPr algn="ctr">
              <a:defRPr sz="1800" b="1">
                <a:solidFill>
                  <a:srgbClr val="222222"/>
                </a:solidFill>
                <a:latin typeface="Times New Roman"/>
                <a:ea typeface="Times New Roman"/>
                <a:cs typeface="Times New Roman"/>
              </a:defRPr>
            </a:lvl7pPr>
            <a:lvl8pPr algn="ctr">
              <a:defRPr sz="1800" b="1">
                <a:solidFill>
                  <a:srgbClr val="222222"/>
                </a:solidFill>
                <a:latin typeface="Times New Roman"/>
                <a:ea typeface="Times New Roman"/>
                <a:cs typeface="Times New Roman"/>
              </a:defRPr>
            </a:lvl8pPr>
            <a:lvl9pPr algn="ctr">
              <a:defRPr sz="1800" b="1">
                <a:solidFill>
                  <a:srgbClr val="222222"/>
                </a:solidFill>
                <a:latin typeface="Times New Roman"/>
                <a:ea typeface="Times New Roman"/>
                <a:cs typeface="Times New Roman"/>
              </a:defRPr>
            </a:lvl9pPr>
          </a:lstStyle>
          <a:p xmlns:a="http://schemas.openxmlformats.org/drawingml/2006/main">
            <a:pPr algn="ctr">
              <a:defRPr sz="1800" b="1">
                <a:solidFill>
                  <a:srgbClr val="222222"/>
                </a:solidFill>
                <a:latin typeface="Times New Roman"/>
                <a:ea typeface="Times New Roman"/>
                <a:cs typeface="Times New Roman"/>
              </a:defRPr>
            </a:pPr>
            <a:r>
              <a:rPr sz="1800" b="1">
                <a:solidFill>
                  <a:srgbClr val="222222"/>
                </a:solidFill>
                <a:latin typeface="Times New Roman"/>
                <a:ea typeface="Times New Roman"/>
                <a:cs typeface="Times New Roman"/>
              </a:rPr>
              <a:t>Air-handling unit</a:t>
            </a:r>
          </a:p>
        </p:txBody>
      </p:sp>
      <p:sp>
        <p:nvSpPr>
          <p:cNvPr id="13" name="coil">
            <a:extLst xmlns:a="http://schemas.openxmlformats.org/drawingml/2006/main">
              <a:ext uri="{FF2B5EF4-FFF2-40B4-BE49-F238E27FC236}">
                <a16:creationId xmlns:a16="http://schemas.microsoft.com/office/drawing/2014/main" id="{AC7F24EC-2B3E-47D4-8658-BD4E0E4ABE51}"/>
              </a:ext>
            </a:extLst>
          </p:cNvPr>
          <p:cNvSpPr>
            <a:spLocks xmlns:a="http://schemas.openxmlformats.org/drawingml/2006/main" noGrp="1"/>
          </p:cNvSpPr>
          <p:nvPr/>
        </p:nvSpPr>
        <p:spPr>
          <a:xfrm xmlns:a="http://schemas.openxmlformats.org/drawingml/2006/main">
            <a:off x="9334500" y="3143250"/>
            <a:ext cx="552450" cy="495300"/>
          </a:xfrm>
          <a:prstGeom xmlns:a="http://schemas.openxmlformats.org/drawingml/2006/main" prst="rect">
            <a:avLst/>
          </a:prstGeom>
          <a:solidFill xmlns:a="http://schemas.openxmlformats.org/drawingml/2006/main">
            <a:srgbClr val="FFFFFF"/>
          </a:solidFill>
          <a:ln xmlns:a="http://schemas.openxmlformats.org/drawingml/2006/main" w="12383">
            <a:solidFill>
              <a:srgbClr val="535353"/>
            </a:solidFill>
            <a:prstDash val="solid"/>
          </a:ln>
        </p:spPr>
        <p:txBody>
          <a:bodyPr xmlns:a="http://schemas.openxmlformats.org/drawingml/2006/main" lIns="57150" tIns="57150" rIns="57150" bIns="57150" anchor="ctr">
            <a:noAutofit/>
          </a:bodyPr>
          <a:lstStyle xmlns:a="http://schemas.openxmlformats.org/drawingml/2006/main">
            <a:defPPr algn="ctr">
              <a:defRPr sz="1600" b="0">
                <a:solidFill>
                  <a:srgbClr val="222222"/>
                </a:solidFill>
                <a:latin typeface="Times New Roman"/>
                <a:ea typeface="Times New Roman"/>
                <a:cs typeface="Times New Roman"/>
              </a:defRPr>
            </a:defPPr>
            <a:lvl1pPr algn="ctr">
              <a:defRPr sz="1600" b="0">
                <a:solidFill>
                  <a:srgbClr val="222222"/>
                </a:solidFill>
                <a:latin typeface="Times New Roman"/>
                <a:ea typeface="Times New Roman"/>
                <a:cs typeface="Times New Roman"/>
              </a:defRPr>
            </a:lvl1pPr>
            <a:lvl2pPr algn="ctr">
              <a:defRPr sz="1600" b="0">
                <a:solidFill>
                  <a:srgbClr val="222222"/>
                </a:solidFill>
                <a:latin typeface="Times New Roman"/>
                <a:ea typeface="Times New Roman"/>
                <a:cs typeface="Times New Roman"/>
              </a:defRPr>
            </a:lvl2pPr>
            <a:lvl3pPr algn="ctr">
              <a:defRPr sz="1600" b="0">
                <a:solidFill>
                  <a:srgbClr val="222222"/>
                </a:solidFill>
                <a:latin typeface="Times New Roman"/>
                <a:ea typeface="Times New Roman"/>
                <a:cs typeface="Times New Roman"/>
              </a:defRPr>
            </a:lvl3pPr>
            <a:lvl4pPr algn="ctr">
              <a:defRPr sz="1600" b="0">
                <a:solidFill>
                  <a:srgbClr val="222222"/>
                </a:solidFill>
                <a:latin typeface="Times New Roman"/>
                <a:ea typeface="Times New Roman"/>
                <a:cs typeface="Times New Roman"/>
              </a:defRPr>
            </a:lvl4pPr>
            <a:lvl5pPr algn="ctr">
              <a:defRPr sz="1600" b="0">
                <a:solidFill>
                  <a:srgbClr val="222222"/>
                </a:solidFill>
                <a:latin typeface="Times New Roman"/>
                <a:ea typeface="Times New Roman"/>
                <a:cs typeface="Times New Roman"/>
              </a:defRPr>
            </a:lvl5pPr>
            <a:lvl6pPr algn="ctr">
              <a:defRPr sz="1600" b="0">
                <a:solidFill>
                  <a:srgbClr val="222222"/>
                </a:solidFill>
                <a:latin typeface="Times New Roman"/>
                <a:ea typeface="Times New Roman"/>
                <a:cs typeface="Times New Roman"/>
              </a:defRPr>
            </a:lvl6pPr>
            <a:lvl7pPr algn="ctr">
              <a:defRPr sz="1600" b="0">
                <a:solidFill>
                  <a:srgbClr val="222222"/>
                </a:solidFill>
                <a:latin typeface="Times New Roman"/>
                <a:ea typeface="Times New Roman"/>
                <a:cs typeface="Times New Roman"/>
              </a:defRPr>
            </a:lvl7pPr>
            <a:lvl8pPr algn="ctr">
              <a:defRPr sz="1600" b="0">
                <a:solidFill>
                  <a:srgbClr val="222222"/>
                </a:solidFill>
                <a:latin typeface="Times New Roman"/>
                <a:ea typeface="Times New Roman"/>
                <a:cs typeface="Times New Roman"/>
              </a:defRPr>
            </a:lvl8pPr>
            <a:lvl9pPr algn="ctr">
              <a:defRPr sz="1600" b="0">
                <a:solidFill>
                  <a:srgbClr val="222222"/>
                </a:solidFill>
                <a:latin typeface="Times New Roman"/>
                <a:ea typeface="Times New Roman"/>
                <a:cs typeface="Times New Roman"/>
              </a:defRPr>
            </a:lvl9pPr>
          </a:lstStyle>
          <a:p xmlns:a="http://schemas.openxmlformats.org/drawingml/2006/main">
            <a:pPr algn="ctr">
              <a:defRPr sz="1600" b="0">
                <a:solidFill>
                  <a:srgbClr val="222222"/>
                </a:solidFill>
                <a:latin typeface="Times New Roman"/>
                <a:ea typeface="Times New Roman"/>
                <a:cs typeface="Times New Roman"/>
              </a:defRPr>
            </a:pPr>
            <a:r>
              <a:rPr sz="1600" b="0">
                <a:solidFill>
                  <a:srgbClr val="222222"/>
                </a:solidFill>
                <a:latin typeface="Times New Roman"/>
                <a:ea typeface="Times New Roman"/>
                <a:cs typeface="Times New Roman"/>
              </a:rPr>
              <a:t>Coil</a:t>
            </a:r>
          </a:p>
        </p:txBody>
      </p:sp>
      <p:sp>
        <p:nvSpPr>
          <p:cNvPr id="14" name="supply-fan">
            <a:extLst xmlns:a="http://schemas.openxmlformats.org/drawingml/2006/main">
              <a:ext uri="{FF2B5EF4-FFF2-40B4-BE49-F238E27FC236}">
                <a16:creationId xmlns:a16="http://schemas.microsoft.com/office/drawing/2014/main" id="{5AB11C49-41EB-4F49-A9CB-07B4617B9DF0}"/>
              </a:ext>
            </a:extLst>
          </p:cNvPr>
          <p:cNvSpPr>
            <a:spLocks xmlns:a="http://schemas.openxmlformats.org/drawingml/2006/main" noGrp="1"/>
          </p:cNvSpPr>
          <p:nvPr/>
        </p:nvSpPr>
        <p:spPr>
          <a:xfrm xmlns:a="http://schemas.openxmlformats.org/drawingml/2006/main">
            <a:off x="10496550" y="3181350"/>
            <a:ext cx="419100" cy="419100"/>
          </a:xfrm>
          <a:prstGeom xmlns:a="http://schemas.openxmlformats.org/drawingml/2006/main" prst="ellipse">
            <a:avLst/>
          </a:prstGeom>
          <a:solidFill xmlns:a="http://schemas.openxmlformats.org/drawingml/2006/main">
            <a:srgbClr val="FFFFFF"/>
          </a:solidFill>
          <a:ln xmlns:a="http://schemas.openxmlformats.org/drawingml/2006/main" w="12383">
            <a:solidFill>
              <a:srgbClr val="535353"/>
            </a:solidFill>
            <a:prstDash val="solid"/>
          </a:ln>
        </p:spPr>
        <p:txBody>
          <a:bodyPr xmlns:a="http://schemas.openxmlformats.org/drawingml/2006/main" lIns="0" tIns="0" rIns="0" bIns="0" anchor="ctr"/>
          <a:lstStyle xmlns:a="http://schemas.openxmlformats.org/drawingml/2006/main">
            <a:defPPr algn="ctr">
              <a:defRPr sz="1600">
                <a:solidFill>
                  <a:srgbClr val="222222"/>
                </a:solidFill>
                <a:latin typeface="Times New Roman"/>
                <a:ea typeface="Times New Roman"/>
                <a:cs typeface="Times New Roman"/>
              </a:defRPr>
            </a:defPPr>
            <a:lvl1pPr algn="ctr">
              <a:defRPr sz="1600">
                <a:solidFill>
                  <a:srgbClr val="222222"/>
                </a:solidFill>
                <a:latin typeface="Times New Roman"/>
                <a:ea typeface="Times New Roman"/>
                <a:cs typeface="Times New Roman"/>
              </a:defRPr>
            </a:lvl1pPr>
            <a:lvl2pPr algn="ctr">
              <a:defRPr sz="1600">
                <a:solidFill>
                  <a:srgbClr val="222222"/>
                </a:solidFill>
                <a:latin typeface="Times New Roman"/>
                <a:ea typeface="Times New Roman"/>
                <a:cs typeface="Times New Roman"/>
              </a:defRPr>
            </a:lvl2pPr>
            <a:lvl3pPr algn="ctr">
              <a:defRPr sz="1600">
                <a:solidFill>
                  <a:srgbClr val="222222"/>
                </a:solidFill>
                <a:latin typeface="Times New Roman"/>
                <a:ea typeface="Times New Roman"/>
                <a:cs typeface="Times New Roman"/>
              </a:defRPr>
            </a:lvl3pPr>
            <a:lvl4pPr algn="ctr">
              <a:defRPr sz="1600">
                <a:solidFill>
                  <a:srgbClr val="222222"/>
                </a:solidFill>
                <a:latin typeface="Times New Roman"/>
                <a:ea typeface="Times New Roman"/>
                <a:cs typeface="Times New Roman"/>
              </a:defRPr>
            </a:lvl4pPr>
            <a:lvl5pPr algn="ctr">
              <a:defRPr sz="1600">
                <a:solidFill>
                  <a:srgbClr val="222222"/>
                </a:solidFill>
                <a:latin typeface="Times New Roman"/>
                <a:ea typeface="Times New Roman"/>
                <a:cs typeface="Times New Roman"/>
              </a:defRPr>
            </a:lvl5pPr>
            <a:lvl6pPr algn="ctr">
              <a:defRPr sz="1600">
                <a:solidFill>
                  <a:srgbClr val="222222"/>
                </a:solidFill>
                <a:latin typeface="Times New Roman"/>
                <a:ea typeface="Times New Roman"/>
                <a:cs typeface="Times New Roman"/>
              </a:defRPr>
            </a:lvl6pPr>
            <a:lvl7pPr algn="ctr">
              <a:defRPr sz="1600">
                <a:solidFill>
                  <a:srgbClr val="222222"/>
                </a:solidFill>
                <a:latin typeface="Times New Roman"/>
                <a:ea typeface="Times New Roman"/>
                <a:cs typeface="Times New Roman"/>
              </a:defRPr>
            </a:lvl7pPr>
            <a:lvl8pPr algn="ctr">
              <a:defRPr sz="1600">
                <a:solidFill>
                  <a:srgbClr val="222222"/>
                </a:solidFill>
                <a:latin typeface="Times New Roman"/>
                <a:ea typeface="Times New Roman"/>
                <a:cs typeface="Times New Roman"/>
              </a:defRPr>
            </a:lvl8pPr>
            <a:lvl9pPr algn="ctr">
              <a:defRPr sz="1600">
                <a:solidFill>
                  <a:srgbClr val="222222"/>
                </a:solidFill>
                <a:latin typeface="Times New Roman"/>
                <a:ea typeface="Times New Roman"/>
                <a:cs typeface="Times New Roman"/>
              </a:defRPr>
            </a:lvl9pPr>
          </a:lstStyle>
          <a:p xmlns:a="http://schemas.openxmlformats.org/drawingml/2006/main">
            <a:pPr algn="ctr">
              <a:defRPr sz="1600">
                <a:solidFill>
                  <a:srgbClr val="222222"/>
                </a:solidFill>
                <a:latin typeface="Times New Roman"/>
                <a:ea typeface="Times New Roman"/>
                <a:cs typeface="Times New Roman"/>
              </a:defRPr>
            </a:pPr>
            <a:r>
              <a:rPr sz="1600">
                <a:solidFill>
                  <a:srgbClr val="222222"/>
                </a:solidFill>
                <a:latin typeface="Times New Roman"/>
                <a:ea typeface="Times New Roman"/>
                <a:cs typeface="Times New Roman"/>
              </a:rPr>
              <a:t>SF</a:t>
            </a:r>
          </a:p>
        </p:txBody>
      </p:sp>
      <p:sp>
        <p:nvSpPr>
          <p:cNvPr id="15" name="offices">
            <a:extLst xmlns:a="http://schemas.openxmlformats.org/drawingml/2006/main">
              <a:ext uri="{FF2B5EF4-FFF2-40B4-BE49-F238E27FC236}">
                <a16:creationId xmlns:a16="http://schemas.microsoft.com/office/drawing/2014/main" id="{1D2CF22C-E332-4649-92EB-EF2F315AB137}"/>
              </a:ext>
            </a:extLst>
          </p:cNvPr>
          <p:cNvSpPr>
            <a:spLocks xmlns:a="http://schemas.openxmlformats.org/drawingml/2006/main" noGrp="1"/>
          </p:cNvSpPr>
          <p:nvPr/>
        </p:nvSpPr>
        <p:spPr>
          <a:xfrm xmlns:a="http://schemas.openxmlformats.org/drawingml/2006/main">
            <a:off x="9201150" y="4648200"/>
            <a:ext cx="2247900" cy="609600"/>
          </a:xfrm>
          <a:prstGeom xmlns:a="http://schemas.openxmlformats.org/drawingml/2006/main" prst="rect">
            <a:avLst/>
          </a:prstGeom>
          <a:solidFill xmlns:a="http://schemas.openxmlformats.org/drawingml/2006/main">
            <a:srgbClr val="FFFFFF"/>
          </a:solidFill>
          <a:ln xmlns:a="http://schemas.openxmlformats.org/drawingml/2006/main" w="12383">
            <a:solidFill>
              <a:srgbClr val="535353"/>
            </a:solidFill>
            <a:prstDash val="solid"/>
          </a:ln>
        </p:spPr>
        <p:txBody>
          <a:bodyPr xmlns:a="http://schemas.openxmlformats.org/drawingml/2006/main" lIns="57150" tIns="57150" rIns="57150" bIns="57150" anchor="ctr">
            <a:noAutofit/>
          </a:bodyPr>
          <a:lstStyle xmlns:a="http://schemas.openxmlformats.org/drawingml/2006/main">
            <a:defPPr algn="ctr">
              <a:defRPr sz="1900" b="0">
                <a:solidFill>
                  <a:srgbClr val="222222"/>
                </a:solidFill>
                <a:latin typeface="Times New Roman"/>
                <a:ea typeface="Times New Roman"/>
                <a:cs typeface="Times New Roman"/>
              </a:defRPr>
            </a:defPPr>
            <a:lvl1pPr algn="ctr">
              <a:defRPr sz="1900" b="0">
                <a:solidFill>
                  <a:srgbClr val="222222"/>
                </a:solidFill>
                <a:latin typeface="Times New Roman"/>
                <a:ea typeface="Times New Roman"/>
                <a:cs typeface="Times New Roman"/>
              </a:defRPr>
            </a:lvl1pPr>
            <a:lvl2pPr algn="ctr">
              <a:defRPr sz="1900" b="0">
                <a:solidFill>
                  <a:srgbClr val="222222"/>
                </a:solidFill>
                <a:latin typeface="Times New Roman"/>
                <a:ea typeface="Times New Roman"/>
                <a:cs typeface="Times New Roman"/>
              </a:defRPr>
            </a:lvl2pPr>
            <a:lvl3pPr algn="ctr">
              <a:defRPr sz="1900" b="0">
                <a:solidFill>
                  <a:srgbClr val="222222"/>
                </a:solidFill>
                <a:latin typeface="Times New Roman"/>
                <a:ea typeface="Times New Roman"/>
                <a:cs typeface="Times New Roman"/>
              </a:defRPr>
            </a:lvl3pPr>
            <a:lvl4pPr algn="ctr">
              <a:defRPr sz="1900" b="0">
                <a:solidFill>
                  <a:srgbClr val="222222"/>
                </a:solidFill>
                <a:latin typeface="Times New Roman"/>
                <a:ea typeface="Times New Roman"/>
                <a:cs typeface="Times New Roman"/>
              </a:defRPr>
            </a:lvl4pPr>
            <a:lvl5pPr algn="ctr">
              <a:defRPr sz="1900" b="0">
                <a:solidFill>
                  <a:srgbClr val="222222"/>
                </a:solidFill>
                <a:latin typeface="Times New Roman"/>
                <a:ea typeface="Times New Roman"/>
                <a:cs typeface="Times New Roman"/>
              </a:defRPr>
            </a:lvl5pPr>
            <a:lvl6pPr algn="ctr">
              <a:defRPr sz="1900" b="0">
                <a:solidFill>
                  <a:srgbClr val="222222"/>
                </a:solidFill>
                <a:latin typeface="Times New Roman"/>
                <a:ea typeface="Times New Roman"/>
                <a:cs typeface="Times New Roman"/>
              </a:defRPr>
            </a:lvl6pPr>
            <a:lvl7pPr algn="ctr">
              <a:defRPr sz="1900" b="0">
                <a:solidFill>
                  <a:srgbClr val="222222"/>
                </a:solidFill>
                <a:latin typeface="Times New Roman"/>
                <a:ea typeface="Times New Roman"/>
                <a:cs typeface="Times New Roman"/>
              </a:defRPr>
            </a:lvl7pPr>
            <a:lvl8pPr algn="ctr">
              <a:defRPr sz="1900" b="0">
                <a:solidFill>
                  <a:srgbClr val="222222"/>
                </a:solidFill>
                <a:latin typeface="Times New Roman"/>
                <a:ea typeface="Times New Roman"/>
                <a:cs typeface="Times New Roman"/>
              </a:defRPr>
            </a:lvl8pPr>
            <a:lvl9pPr algn="ctr">
              <a:defRPr sz="1900" b="0">
                <a:solidFill>
                  <a:srgbClr val="222222"/>
                </a:solidFill>
                <a:latin typeface="Times New Roman"/>
                <a:ea typeface="Times New Roman"/>
                <a:cs typeface="Times New Roman"/>
              </a:defRPr>
            </a:lvl9pPr>
          </a:lstStyle>
          <a:p xmlns:a="http://schemas.openxmlformats.org/drawingml/2006/main">
            <a:pPr algn="ctr">
              <a:defRPr sz="1900" b="0">
                <a:solidFill>
                  <a:srgbClr val="222222"/>
                </a:solidFill>
                <a:latin typeface="Times New Roman"/>
                <a:ea typeface="Times New Roman"/>
                <a:cs typeface="Times New Roman"/>
              </a:defRPr>
            </a:pPr>
            <a:r>
              <a:rPr sz="1900" b="0">
                <a:solidFill>
                  <a:srgbClr val="222222"/>
                </a:solidFill>
                <a:latin typeface="Times New Roman"/>
                <a:ea typeface="Times New Roman"/>
                <a:cs typeface="Times New Roman"/>
              </a:rPr>
              <a:t>Office spaces</a:t>
            </a:r>
          </a:p>
        </p:txBody>
      </p:sp>
      <p:cxnSp>
        <p:nvCxnSpPr>
          <p:cNvPr id="16" name="warm-cw-0">
            <a:extLst xmlns:a="http://schemas.openxmlformats.org/drawingml/2006/main">
              <a:ext uri="{FF2B5EF4-FFF2-40B4-BE49-F238E27FC236}">
                <a16:creationId xmlns:a16="http://schemas.microsoft.com/office/drawing/2014/main" id="{4592E033-1171-4B6B-B0CE-2ABBD77D95A4}"/>
              </a:ext>
            </a:extLst>
          </p:cNvPr>
          <p:cNvCxnSpPr/>
          <p:nvPr/>
        </p:nvCxnSpPr>
        <p:spPr>
          <a:xfrm xmlns:a="http://schemas.openxmlformats.org/drawingml/2006/main">
            <a:off x="3305175" y="2790825"/>
            <a:ext cx="1019175" cy="0"/>
          </a:xfrm>
          <a:prstGeom xmlns:a="http://schemas.openxmlformats.org/drawingml/2006/main" prst="straightConnector1">
            <a:avLst/>
          </a:prstGeom>
          <a:ln xmlns:a="http://schemas.openxmlformats.org/drawingml/2006/main" w="17145">
            <a:solidFill>
              <a:srgbClr val="535353"/>
            </a:solidFill>
            <a:prstDash val="dash"/>
          </a:ln>
        </p:spPr>
      </p:cxnSp>
      <p:cxnSp>
        <p:nvCxnSpPr>
          <p:cNvPr id="17" name="warm-cw-1">
            <a:extLst xmlns:a="http://schemas.openxmlformats.org/drawingml/2006/main">
              <a:ext uri="{FF2B5EF4-FFF2-40B4-BE49-F238E27FC236}">
                <a16:creationId xmlns:a16="http://schemas.microsoft.com/office/drawing/2014/main" id="{A1624244-7C4C-44A5-BF9D-0B2F502E1AD7}"/>
              </a:ext>
            </a:extLst>
          </p:cNvPr>
          <p:cNvCxnSpPr/>
          <p:nvPr/>
        </p:nvCxnSpPr>
        <p:spPr>
          <a:xfrm xmlns:a="http://schemas.openxmlformats.org/drawingml/2006/main">
            <a:off x="3305175" y="2085975"/>
            <a:ext cx="0" cy="704850"/>
          </a:xfrm>
          <a:prstGeom xmlns:a="http://schemas.openxmlformats.org/drawingml/2006/main" prst="straightConnector1">
            <a:avLst/>
          </a:prstGeom>
          <a:ln xmlns:a="http://schemas.openxmlformats.org/drawingml/2006/main" w="17145">
            <a:solidFill>
              <a:srgbClr val="535353"/>
            </a:solidFill>
            <a:prstDash val="dash"/>
          </a:ln>
        </p:spPr>
      </p:cxnSp>
      <p:cxnSp>
        <p:nvCxnSpPr>
          <p:cNvPr id="18" name="warm-cw-2">
            <a:extLst xmlns:a="http://schemas.openxmlformats.org/drawingml/2006/main">
              <a:ext uri="{FF2B5EF4-FFF2-40B4-BE49-F238E27FC236}">
                <a16:creationId xmlns:a16="http://schemas.microsoft.com/office/drawing/2014/main" id="{24DB5C4F-5D99-4B34-A450-A4FBA58191F5}"/>
              </a:ext>
            </a:extLst>
          </p:cNvPr>
          <p:cNvCxnSpPr/>
          <p:nvPr/>
        </p:nvCxnSpPr>
        <p:spPr>
          <a:xfrm xmlns:a="http://schemas.openxmlformats.org/drawingml/2006/main">
            <a:off x="1714500" y="2085975"/>
            <a:ext cx="1590675" cy="0"/>
          </a:xfrm>
          <a:prstGeom xmlns:a="http://schemas.openxmlformats.org/drawingml/2006/main" prst="straightConnector1">
            <a:avLst/>
          </a:prstGeom>
          <a:ln xmlns:a="http://schemas.openxmlformats.org/drawingml/2006/main" w="17145">
            <a:solidFill>
              <a:srgbClr val="535353"/>
            </a:solidFill>
            <a:prstDash val="dash"/>
          </a:ln>
        </p:spPr>
      </p:cxnSp>
      <p:cxnSp>
        <p:nvCxnSpPr>
          <p:cNvPr id="19" name="warm-cw-3">
            <a:extLst xmlns:a="http://schemas.openxmlformats.org/drawingml/2006/main">
              <a:ext uri="{FF2B5EF4-FFF2-40B4-BE49-F238E27FC236}">
                <a16:creationId xmlns:a16="http://schemas.microsoft.com/office/drawing/2014/main" id="{D5510530-5727-4AA2-8605-1DA29F2079CE}"/>
              </a:ext>
            </a:extLst>
          </p:cNvPr>
          <p:cNvCxnSpPr/>
          <p:nvPr/>
        </p:nvCxnSpPr>
        <p:spPr>
          <a:xfrm xmlns:a="http://schemas.openxmlformats.org/drawingml/2006/main">
            <a:off x="1714500" y="2085975"/>
            <a:ext cx="0" cy="200025"/>
          </a:xfrm>
          <a:prstGeom xmlns:a="http://schemas.openxmlformats.org/drawingml/2006/main" prst="straightConnector1">
            <a:avLst/>
          </a:prstGeom>
          <a:ln xmlns:a="http://schemas.openxmlformats.org/drawingml/2006/main" w="17145">
            <a:solidFill>
              <a:srgbClr val="535353"/>
            </a:solidFill>
            <a:prstDash val="dash"/>
            <a:tailEnd type="triangle" w="sm" len="sm"/>
          </a:ln>
        </p:spPr>
      </p:cxnSp>
      <p:sp>
        <p:nvSpPr>
          <p:cNvPr id="20" name="warm-cw-label">
            <a:extLst xmlns:a="http://schemas.openxmlformats.org/drawingml/2006/main">
              <a:ext uri="{FF2B5EF4-FFF2-40B4-BE49-F238E27FC236}">
                <a16:creationId xmlns:a16="http://schemas.microsoft.com/office/drawing/2014/main" id="{CEA4D6D6-D189-445E-B396-4325C147112F}"/>
              </a:ext>
            </a:extLst>
          </p:cNvPr>
          <p:cNvSpPr>
            <a:spLocks xmlns:a="http://schemas.openxmlformats.org/drawingml/2006/main" noGrp="1"/>
          </p:cNvSpPr>
          <p:nvPr/>
        </p:nvSpPr>
        <p:spPr>
          <a:xfrm xmlns:a="http://schemas.openxmlformats.org/drawingml/2006/main">
            <a:off x="3009900" y="1733550"/>
            <a:ext cx="12668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00" b="0">
                <a:solidFill>
                  <a:srgbClr val="222222"/>
                </a:solidFill>
                <a:latin typeface="Times New Roman"/>
                <a:ea typeface="Times New Roman"/>
                <a:cs typeface="Times New Roman"/>
              </a:defRPr>
            </a:defPPr>
            <a:lvl1pPr algn="l">
              <a:defRPr sz="1600" b="0">
                <a:solidFill>
                  <a:srgbClr val="222222"/>
                </a:solidFill>
                <a:latin typeface="Times New Roman"/>
                <a:ea typeface="Times New Roman"/>
                <a:cs typeface="Times New Roman"/>
              </a:defRPr>
            </a:lvl1pPr>
            <a:lvl2pPr algn="l">
              <a:defRPr sz="1600" b="0">
                <a:solidFill>
                  <a:srgbClr val="222222"/>
                </a:solidFill>
                <a:latin typeface="Times New Roman"/>
                <a:ea typeface="Times New Roman"/>
                <a:cs typeface="Times New Roman"/>
              </a:defRPr>
            </a:lvl2pPr>
            <a:lvl3pPr algn="l">
              <a:defRPr sz="1600" b="0">
                <a:solidFill>
                  <a:srgbClr val="222222"/>
                </a:solidFill>
                <a:latin typeface="Times New Roman"/>
                <a:ea typeface="Times New Roman"/>
                <a:cs typeface="Times New Roman"/>
              </a:defRPr>
            </a:lvl3pPr>
            <a:lvl4pPr algn="l">
              <a:defRPr sz="1600" b="0">
                <a:solidFill>
                  <a:srgbClr val="222222"/>
                </a:solidFill>
                <a:latin typeface="Times New Roman"/>
                <a:ea typeface="Times New Roman"/>
                <a:cs typeface="Times New Roman"/>
              </a:defRPr>
            </a:lvl4pPr>
            <a:lvl5pPr algn="l">
              <a:defRPr sz="1600" b="0">
                <a:solidFill>
                  <a:srgbClr val="222222"/>
                </a:solidFill>
                <a:latin typeface="Times New Roman"/>
                <a:ea typeface="Times New Roman"/>
                <a:cs typeface="Times New Roman"/>
              </a:defRPr>
            </a:lvl5pPr>
            <a:lvl6pPr algn="l">
              <a:defRPr sz="1600" b="0">
                <a:solidFill>
                  <a:srgbClr val="222222"/>
                </a:solidFill>
                <a:latin typeface="Times New Roman"/>
                <a:ea typeface="Times New Roman"/>
                <a:cs typeface="Times New Roman"/>
              </a:defRPr>
            </a:lvl6pPr>
            <a:lvl7pPr algn="l">
              <a:defRPr sz="1600" b="0">
                <a:solidFill>
                  <a:srgbClr val="222222"/>
                </a:solidFill>
                <a:latin typeface="Times New Roman"/>
                <a:ea typeface="Times New Roman"/>
                <a:cs typeface="Times New Roman"/>
              </a:defRPr>
            </a:lvl7pPr>
            <a:lvl8pPr algn="l">
              <a:defRPr sz="1600" b="0">
                <a:solidFill>
                  <a:srgbClr val="222222"/>
                </a:solidFill>
                <a:latin typeface="Times New Roman"/>
                <a:ea typeface="Times New Roman"/>
                <a:cs typeface="Times New Roman"/>
              </a:defRPr>
            </a:lvl8pPr>
            <a:lvl9pPr algn="l">
              <a:defRPr sz="1600" b="0">
                <a:solidFill>
                  <a:srgbClr val="222222"/>
                </a:solidFill>
                <a:latin typeface="Times New Roman"/>
                <a:ea typeface="Times New Roman"/>
                <a:cs typeface="Times New Roman"/>
              </a:defRPr>
            </a:lvl9pPr>
          </a:lstStyle>
          <a:p xmlns:a="http://schemas.openxmlformats.org/drawingml/2006/main">
            <a:pPr algn="l">
              <a:defRPr sz="1600" b="0">
                <a:solidFill>
                  <a:srgbClr val="222222"/>
                </a:solidFill>
                <a:latin typeface="Times New Roman"/>
                <a:ea typeface="Times New Roman"/>
                <a:cs typeface="Times New Roman"/>
              </a:defRPr>
            </a:pPr>
            <a:r>
              <a:rPr sz="1600" b="0">
                <a:solidFill>
                  <a:srgbClr val="222222"/>
                </a:solidFill>
                <a:latin typeface="Times New Roman"/>
                <a:ea typeface="Times New Roman"/>
                <a:cs typeface="Times New Roman"/>
              </a:rPr>
              <a:t>Warm CW</a:t>
            </a:r>
          </a:p>
        </p:txBody>
      </p:sp>
      <p:cxnSp>
        <p:nvCxnSpPr>
          <p:cNvPr id="21" name="cool-cw-a-0">
            <a:extLst xmlns:a="http://schemas.openxmlformats.org/drawingml/2006/main">
              <a:ext uri="{FF2B5EF4-FFF2-40B4-BE49-F238E27FC236}">
                <a16:creationId xmlns:a16="http://schemas.microsoft.com/office/drawing/2014/main" id="{0BDA1FD8-D515-4DC3-B8B3-57B9ED9FF9D6}"/>
              </a:ext>
            </a:extLst>
          </p:cNvPr>
          <p:cNvCxnSpPr/>
          <p:nvPr/>
        </p:nvCxnSpPr>
        <p:spPr>
          <a:xfrm xmlns:a="http://schemas.openxmlformats.org/drawingml/2006/main">
            <a:off x="1714500" y="3028950"/>
            <a:ext cx="0" cy="600075"/>
          </a:xfrm>
          <a:prstGeom xmlns:a="http://schemas.openxmlformats.org/drawingml/2006/main" prst="straightConnector1">
            <a:avLst/>
          </a:prstGeom>
          <a:ln xmlns:a="http://schemas.openxmlformats.org/drawingml/2006/main" w="17145">
            <a:solidFill>
              <a:srgbClr val="535353"/>
            </a:solidFill>
            <a:prstDash val="dash"/>
          </a:ln>
        </p:spPr>
      </p:cxnSp>
      <p:cxnSp>
        <p:nvCxnSpPr>
          <p:cNvPr id="22" name="cool-cw-a-1">
            <a:extLst xmlns:a="http://schemas.openxmlformats.org/drawingml/2006/main">
              <a:ext uri="{FF2B5EF4-FFF2-40B4-BE49-F238E27FC236}">
                <a16:creationId xmlns:a16="http://schemas.microsoft.com/office/drawing/2014/main" id="{D6CE8CAD-0C87-401D-8E73-A22BA5B9D08A}"/>
              </a:ext>
            </a:extLst>
          </p:cNvPr>
          <p:cNvCxnSpPr/>
          <p:nvPr/>
        </p:nvCxnSpPr>
        <p:spPr>
          <a:xfrm xmlns:a="http://schemas.openxmlformats.org/drawingml/2006/main">
            <a:off x="1714500" y="3629025"/>
            <a:ext cx="933450" cy="0"/>
          </a:xfrm>
          <a:prstGeom xmlns:a="http://schemas.openxmlformats.org/drawingml/2006/main" prst="straightConnector1">
            <a:avLst/>
          </a:prstGeom>
          <a:ln xmlns:a="http://schemas.openxmlformats.org/drawingml/2006/main" w="17145">
            <a:solidFill>
              <a:srgbClr val="535353"/>
            </a:solidFill>
            <a:prstDash val="dash"/>
            <a:tailEnd type="triangle" w="sm" len="sm"/>
          </a:ln>
        </p:spPr>
      </p:cxnSp>
      <p:sp>
        <p:nvSpPr>
          <p:cNvPr id="23" name="cw-pump">
            <a:extLst xmlns:a="http://schemas.openxmlformats.org/drawingml/2006/main">
              <a:ext uri="{FF2B5EF4-FFF2-40B4-BE49-F238E27FC236}">
                <a16:creationId xmlns:a16="http://schemas.microsoft.com/office/drawing/2014/main" id="{B29B6724-CF50-4414-9583-3549C5AF4161}"/>
              </a:ext>
            </a:extLst>
          </p:cNvPr>
          <p:cNvSpPr>
            <a:spLocks xmlns:a="http://schemas.openxmlformats.org/drawingml/2006/main" noGrp="1"/>
          </p:cNvSpPr>
          <p:nvPr/>
        </p:nvSpPr>
        <p:spPr>
          <a:xfrm xmlns:a="http://schemas.openxmlformats.org/drawingml/2006/main">
            <a:off x="2647950" y="3419475"/>
            <a:ext cx="419100" cy="419100"/>
          </a:xfrm>
          <a:prstGeom xmlns:a="http://schemas.openxmlformats.org/drawingml/2006/main" prst="ellipse">
            <a:avLst/>
          </a:prstGeom>
          <a:solidFill xmlns:a="http://schemas.openxmlformats.org/drawingml/2006/main">
            <a:srgbClr val="FFFFFF"/>
          </a:solidFill>
          <a:ln xmlns:a="http://schemas.openxmlformats.org/drawingml/2006/main" w="12383">
            <a:solidFill>
              <a:srgbClr val="535353"/>
            </a:solidFill>
            <a:prstDash val="solid"/>
          </a:ln>
        </p:spPr>
        <p:txBody>
          <a:bodyPr xmlns:a="http://schemas.openxmlformats.org/drawingml/2006/main" lIns="0" tIns="0" rIns="0" bIns="0" anchor="ctr"/>
          <a:lstStyle xmlns:a="http://schemas.openxmlformats.org/drawingml/2006/main">
            <a:defPPr algn="ctr">
              <a:defRPr sz="1600">
                <a:solidFill>
                  <a:srgbClr val="222222"/>
                </a:solidFill>
                <a:latin typeface="Times New Roman"/>
                <a:ea typeface="Times New Roman"/>
                <a:cs typeface="Times New Roman"/>
              </a:defRPr>
            </a:defPPr>
            <a:lvl1pPr algn="ctr">
              <a:defRPr sz="1600">
                <a:solidFill>
                  <a:srgbClr val="222222"/>
                </a:solidFill>
                <a:latin typeface="Times New Roman"/>
                <a:ea typeface="Times New Roman"/>
                <a:cs typeface="Times New Roman"/>
              </a:defRPr>
            </a:lvl1pPr>
            <a:lvl2pPr algn="ctr">
              <a:defRPr sz="1600">
                <a:solidFill>
                  <a:srgbClr val="222222"/>
                </a:solidFill>
                <a:latin typeface="Times New Roman"/>
                <a:ea typeface="Times New Roman"/>
                <a:cs typeface="Times New Roman"/>
              </a:defRPr>
            </a:lvl2pPr>
            <a:lvl3pPr algn="ctr">
              <a:defRPr sz="1600">
                <a:solidFill>
                  <a:srgbClr val="222222"/>
                </a:solidFill>
                <a:latin typeface="Times New Roman"/>
                <a:ea typeface="Times New Roman"/>
                <a:cs typeface="Times New Roman"/>
              </a:defRPr>
            </a:lvl3pPr>
            <a:lvl4pPr algn="ctr">
              <a:defRPr sz="1600">
                <a:solidFill>
                  <a:srgbClr val="222222"/>
                </a:solidFill>
                <a:latin typeface="Times New Roman"/>
                <a:ea typeface="Times New Roman"/>
                <a:cs typeface="Times New Roman"/>
              </a:defRPr>
            </a:lvl4pPr>
            <a:lvl5pPr algn="ctr">
              <a:defRPr sz="1600">
                <a:solidFill>
                  <a:srgbClr val="222222"/>
                </a:solidFill>
                <a:latin typeface="Times New Roman"/>
                <a:ea typeface="Times New Roman"/>
                <a:cs typeface="Times New Roman"/>
              </a:defRPr>
            </a:lvl5pPr>
            <a:lvl6pPr algn="ctr">
              <a:defRPr sz="1600">
                <a:solidFill>
                  <a:srgbClr val="222222"/>
                </a:solidFill>
                <a:latin typeface="Times New Roman"/>
                <a:ea typeface="Times New Roman"/>
                <a:cs typeface="Times New Roman"/>
              </a:defRPr>
            </a:lvl6pPr>
            <a:lvl7pPr algn="ctr">
              <a:defRPr sz="1600">
                <a:solidFill>
                  <a:srgbClr val="222222"/>
                </a:solidFill>
                <a:latin typeface="Times New Roman"/>
                <a:ea typeface="Times New Roman"/>
                <a:cs typeface="Times New Roman"/>
              </a:defRPr>
            </a:lvl7pPr>
            <a:lvl8pPr algn="ctr">
              <a:defRPr sz="1600">
                <a:solidFill>
                  <a:srgbClr val="222222"/>
                </a:solidFill>
                <a:latin typeface="Times New Roman"/>
                <a:ea typeface="Times New Roman"/>
                <a:cs typeface="Times New Roman"/>
              </a:defRPr>
            </a:lvl8pPr>
            <a:lvl9pPr algn="ctr">
              <a:defRPr sz="1600">
                <a:solidFill>
                  <a:srgbClr val="222222"/>
                </a:solidFill>
                <a:latin typeface="Times New Roman"/>
                <a:ea typeface="Times New Roman"/>
                <a:cs typeface="Times New Roman"/>
              </a:defRPr>
            </a:lvl9pPr>
          </a:lstStyle>
          <a:p xmlns:a="http://schemas.openxmlformats.org/drawingml/2006/main">
            <a:pPr algn="ctr">
              <a:defRPr sz="1600">
                <a:solidFill>
                  <a:srgbClr val="222222"/>
                </a:solidFill>
                <a:latin typeface="Times New Roman"/>
                <a:ea typeface="Times New Roman"/>
                <a:cs typeface="Times New Roman"/>
              </a:defRPr>
            </a:pPr>
            <a:r>
              <a:rPr sz="1600">
                <a:solidFill>
                  <a:srgbClr val="222222"/>
                </a:solidFill>
                <a:latin typeface="Times New Roman"/>
                <a:ea typeface="Times New Roman"/>
                <a:cs typeface="Times New Roman"/>
              </a:rPr>
              <a:t>P</a:t>
            </a:r>
          </a:p>
        </p:txBody>
      </p:sp>
      <p:cxnSp>
        <p:nvCxnSpPr>
          <p:cNvPr id="24" name="cool-cw-b-0">
            <a:extLst xmlns:a="http://schemas.openxmlformats.org/drawingml/2006/main">
              <a:ext uri="{FF2B5EF4-FFF2-40B4-BE49-F238E27FC236}">
                <a16:creationId xmlns:a16="http://schemas.microsoft.com/office/drawing/2014/main" id="{06A5833F-4D54-4E78-9151-C118DFE11A28}"/>
              </a:ext>
            </a:extLst>
          </p:cNvPr>
          <p:cNvCxnSpPr/>
          <p:nvPr/>
        </p:nvCxnSpPr>
        <p:spPr>
          <a:xfrm xmlns:a="http://schemas.openxmlformats.org/drawingml/2006/main">
            <a:off x="3067050" y="3629025"/>
            <a:ext cx="876300" cy="0"/>
          </a:xfrm>
          <a:prstGeom xmlns:a="http://schemas.openxmlformats.org/drawingml/2006/main" prst="straightConnector1">
            <a:avLst/>
          </a:prstGeom>
          <a:ln xmlns:a="http://schemas.openxmlformats.org/drawingml/2006/main" w="17145">
            <a:solidFill>
              <a:srgbClr val="535353"/>
            </a:solidFill>
            <a:prstDash val="dash"/>
          </a:ln>
        </p:spPr>
      </p:cxnSp>
      <p:cxnSp>
        <p:nvCxnSpPr>
          <p:cNvPr id="25" name="cool-cw-b-1">
            <a:extLst xmlns:a="http://schemas.openxmlformats.org/drawingml/2006/main">
              <a:ext uri="{FF2B5EF4-FFF2-40B4-BE49-F238E27FC236}">
                <a16:creationId xmlns:a16="http://schemas.microsoft.com/office/drawing/2014/main" id="{60E818F7-2FCC-47FF-B9DE-50C4A61EBCF9}"/>
              </a:ext>
            </a:extLst>
          </p:cNvPr>
          <p:cNvCxnSpPr/>
          <p:nvPr/>
        </p:nvCxnSpPr>
        <p:spPr>
          <a:xfrm xmlns:a="http://schemas.openxmlformats.org/drawingml/2006/main">
            <a:off x="3943350" y="3105150"/>
            <a:ext cx="0" cy="523875"/>
          </a:xfrm>
          <a:prstGeom xmlns:a="http://schemas.openxmlformats.org/drawingml/2006/main" prst="straightConnector1">
            <a:avLst/>
          </a:prstGeom>
          <a:ln xmlns:a="http://schemas.openxmlformats.org/drawingml/2006/main" w="17145">
            <a:solidFill>
              <a:srgbClr val="535353"/>
            </a:solidFill>
            <a:prstDash val="dash"/>
          </a:ln>
        </p:spPr>
      </p:cxnSp>
      <p:cxnSp>
        <p:nvCxnSpPr>
          <p:cNvPr id="26" name="cool-cw-b-2">
            <a:extLst xmlns:a="http://schemas.openxmlformats.org/drawingml/2006/main">
              <a:ext uri="{FF2B5EF4-FFF2-40B4-BE49-F238E27FC236}">
                <a16:creationId xmlns:a16="http://schemas.microsoft.com/office/drawing/2014/main" id="{5866ECF6-16FE-41F2-98BB-CD689DD77507}"/>
              </a:ext>
            </a:extLst>
          </p:cNvPr>
          <p:cNvCxnSpPr/>
          <p:nvPr/>
        </p:nvCxnSpPr>
        <p:spPr>
          <a:xfrm xmlns:a="http://schemas.openxmlformats.org/drawingml/2006/main">
            <a:off x="3943350" y="3105150"/>
            <a:ext cx="381000" cy="0"/>
          </a:xfrm>
          <a:prstGeom xmlns:a="http://schemas.openxmlformats.org/drawingml/2006/main" prst="straightConnector1">
            <a:avLst/>
          </a:prstGeom>
          <a:ln xmlns:a="http://schemas.openxmlformats.org/drawingml/2006/main" w="17145">
            <a:solidFill>
              <a:srgbClr val="535353"/>
            </a:solidFill>
            <a:prstDash val="dash"/>
            <a:tailEnd type="triangle" w="sm" len="sm"/>
          </a:ln>
        </p:spPr>
      </p:cxnSp>
      <p:sp>
        <p:nvSpPr>
          <p:cNvPr id="27" name="cw-pump-label">
            <a:extLst xmlns:a="http://schemas.openxmlformats.org/drawingml/2006/main">
              <a:ext uri="{FF2B5EF4-FFF2-40B4-BE49-F238E27FC236}">
                <a16:creationId xmlns:a16="http://schemas.microsoft.com/office/drawing/2014/main" id="{E8CA430E-F1AF-4FA9-94F6-B77FFEED9847}"/>
              </a:ext>
            </a:extLst>
          </p:cNvPr>
          <p:cNvSpPr>
            <a:spLocks xmlns:a="http://schemas.openxmlformats.org/drawingml/2006/main" noGrp="1"/>
          </p:cNvSpPr>
          <p:nvPr/>
        </p:nvSpPr>
        <p:spPr>
          <a:xfrm xmlns:a="http://schemas.openxmlformats.org/drawingml/2006/main">
            <a:off x="1866900" y="3962400"/>
            <a:ext cx="2143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00" b="0">
                <a:solidFill>
                  <a:srgbClr val="222222"/>
                </a:solidFill>
                <a:latin typeface="Times New Roman"/>
                <a:ea typeface="Times New Roman"/>
                <a:cs typeface="Times New Roman"/>
              </a:defRPr>
            </a:defPPr>
            <a:lvl1pPr algn="l">
              <a:defRPr sz="1600" b="0">
                <a:solidFill>
                  <a:srgbClr val="222222"/>
                </a:solidFill>
                <a:latin typeface="Times New Roman"/>
                <a:ea typeface="Times New Roman"/>
                <a:cs typeface="Times New Roman"/>
              </a:defRPr>
            </a:lvl1pPr>
            <a:lvl2pPr algn="l">
              <a:defRPr sz="1600" b="0">
                <a:solidFill>
                  <a:srgbClr val="222222"/>
                </a:solidFill>
                <a:latin typeface="Times New Roman"/>
                <a:ea typeface="Times New Roman"/>
                <a:cs typeface="Times New Roman"/>
              </a:defRPr>
            </a:lvl2pPr>
            <a:lvl3pPr algn="l">
              <a:defRPr sz="1600" b="0">
                <a:solidFill>
                  <a:srgbClr val="222222"/>
                </a:solidFill>
                <a:latin typeface="Times New Roman"/>
                <a:ea typeface="Times New Roman"/>
                <a:cs typeface="Times New Roman"/>
              </a:defRPr>
            </a:lvl3pPr>
            <a:lvl4pPr algn="l">
              <a:defRPr sz="1600" b="0">
                <a:solidFill>
                  <a:srgbClr val="222222"/>
                </a:solidFill>
                <a:latin typeface="Times New Roman"/>
                <a:ea typeface="Times New Roman"/>
                <a:cs typeface="Times New Roman"/>
              </a:defRPr>
            </a:lvl4pPr>
            <a:lvl5pPr algn="l">
              <a:defRPr sz="1600" b="0">
                <a:solidFill>
                  <a:srgbClr val="222222"/>
                </a:solidFill>
                <a:latin typeface="Times New Roman"/>
                <a:ea typeface="Times New Roman"/>
                <a:cs typeface="Times New Roman"/>
              </a:defRPr>
            </a:lvl5pPr>
            <a:lvl6pPr algn="l">
              <a:defRPr sz="1600" b="0">
                <a:solidFill>
                  <a:srgbClr val="222222"/>
                </a:solidFill>
                <a:latin typeface="Times New Roman"/>
                <a:ea typeface="Times New Roman"/>
                <a:cs typeface="Times New Roman"/>
              </a:defRPr>
            </a:lvl6pPr>
            <a:lvl7pPr algn="l">
              <a:defRPr sz="1600" b="0">
                <a:solidFill>
                  <a:srgbClr val="222222"/>
                </a:solidFill>
                <a:latin typeface="Times New Roman"/>
                <a:ea typeface="Times New Roman"/>
                <a:cs typeface="Times New Roman"/>
              </a:defRPr>
            </a:lvl7pPr>
            <a:lvl8pPr algn="l">
              <a:defRPr sz="1600" b="0">
                <a:solidFill>
                  <a:srgbClr val="222222"/>
                </a:solidFill>
                <a:latin typeface="Times New Roman"/>
                <a:ea typeface="Times New Roman"/>
                <a:cs typeface="Times New Roman"/>
              </a:defRPr>
            </a:lvl8pPr>
            <a:lvl9pPr algn="l">
              <a:defRPr sz="1600" b="0">
                <a:solidFill>
                  <a:srgbClr val="222222"/>
                </a:solidFill>
                <a:latin typeface="Times New Roman"/>
                <a:ea typeface="Times New Roman"/>
                <a:cs typeface="Times New Roman"/>
              </a:defRPr>
            </a:lvl9pPr>
          </a:lstStyle>
          <a:p xmlns:a="http://schemas.openxmlformats.org/drawingml/2006/main">
            <a:pPr algn="l">
              <a:defRPr sz="1600" b="0">
                <a:solidFill>
                  <a:srgbClr val="222222"/>
                </a:solidFill>
                <a:latin typeface="Times New Roman"/>
                <a:ea typeface="Times New Roman"/>
                <a:cs typeface="Times New Roman"/>
              </a:defRPr>
            </a:pPr>
            <a:r>
              <a:rPr sz="1600" b="0">
                <a:solidFill>
                  <a:srgbClr val="222222"/>
                </a:solidFill>
                <a:latin typeface="Times New Roman"/>
                <a:ea typeface="Times New Roman"/>
                <a:cs typeface="Times New Roman"/>
              </a:rPr>
              <a:t>CW pump group</a:t>
            </a:r>
          </a:p>
        </p:txBody>
      </p:sp>
      <p:sp>
        <p:nvSpPr>
          <p:cNvPr id="28" name="cool-cw-label">
            <a:extLst xmlns:a="http://schemas.openxmlformats.org/drawingml/2006/main">
              <a:ext uri="{FF2B5EF4-FFF2-40B4-BE49-F238E27FC236}">
                <a16:creationId xmlns:a16="http://schemas.microsoft.com/office/drawing/2014/main" id="{0982ACA8-B8EC-48B0-9A59-AB3BAF9D7352}"/>
              </a:ext>
            </a:extLst>
          </p:cNvPr>
          <p:cNvSpPr>
            <a:spLocks xmlns:a="http://schemas.openxmlformats.org/drawingml/2006/main" noGrp="1"/>
          </p:cNvSpPr>
          <p:nvPr/>
        </p:nvSpPr>
        <p:spPr>
          <a:xfrm xmlns:a="http://schemas.openxmlformats.org/drawingml/2006/main">
            <a:off x="619125" y="321945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00" b="0">
                <a:solidFill>
                  <a:srgbClr val="222222"/>
                </a:solidFill>
                <a:latin typeface="Times New Roman"/>
                <a:ea typeface="Times New Roman"/>
                <a:cs typeface="Times New Roman"/>
              </a:defRPr>
            </a:defPPr>
            <a:lvl1pPr algn="l">
              <a:defRPr sz="1600" b="0">
                <a:solidFill>
                  <a:srgbClr val="222222"/>
                </a:solidFill>
                <a:latin typeface="Times New Roman"/>
                <a:ea typeface="Times New Roman"/>
                <a:cs typeface="Times New Roman"/>
              </a:defRPr>
            </a:lvl1pPr>
            <a:lvl2pPr algn="l">
              <a:defRPr sz="1600" b="0">
                <a:solidFill>
                  <a:srgbClr val="222222"/>
                </a:solidFill>
                <a:latin typeface="Times New Roman"/>
                <a:ea typeface="Times New Roman"/>
                <a:cs typeface="Times New Roman"/>
              </a:defRPr>
            </a:lvl2pPr>
            <a:lvl3pPr algn="l">
              <a:defRPr sz="1600" b="0">
                <a:solidFill>
                  <a:srgbClr val="222222"/>
                </a:solidFill>
                <a:latin typeface="Times New Roman"/>
                <a:ea typeface="Times New Roman"/>
                <a:cs typeface="Times New Roman"/>
              </a:defRPr>
            </a:lvl3pPr>
            <a:lvl4pPr algn="l">
              <a:defRPr sz="1600" b="0">
                <a:solidFill>
                  <a:srgbClr val="222222"/>
                </a:solidFill>
                <a:latin typeface="Times New Roman"/>
                <a:ea typeface="Times New Roman"/>
                <a:cs typeface="Times New Roman"/>
              </a:defRPr>
            </a:lvl4pPr>
            <a:lvl5pPr algn="l">
              <a:defRPr sz="1600" b="0">
                <a:solidFill>
                  <a:srgbClr val="222222"/>
                </a:solidFill>
                <a:latin typeface="Times New Roman"/>
                <a:ea typeface="Times New Roman"/>
                <a:cs typeface="Times New Roman"/>
              </a:defRPr>
            </a:lvl5pPr>
            <a:lvl6pPr algn="l">
              <a:defRPr sz="1600" b="0">
                <a:solidFill>
                  <a:srgbClr val="222222"/>
                </a:solidFill>
                <a:latin typeface="Times New Roman"/>
                <a:ea typeface="Times New Roman"/>
                <a:cs typeface="Times New Roman"/>
              </a:defRPr>
            </a:lvl6pPr>
            <a:lvl7pPr algn="l">
              <a:defRPr sz="1600" b="0">
                <a:solidFill>
                  <a:srgbClr val="222222"/>
                </a:solidFill>
                <a:latin typeface="Times New Roman"/>
                <a:ea typeface="Times New Roman"/>
                <a:cs typeface="Times New Roman"/>
              </a:defRPr>
            </a:lvl7pPr>
            <a:lvl8pPr algn="l">
              <a:defRPr sz="1600" b="0">
                <a:solidFill>
                  <a:srgbClr val="222222"/>
                </a:solidFill>
                <a:latin typeface="Times New Roman"/>
                <a:ea typeface="Times New Roman"/>
                <a:cs typeface="Times New Roman"/>
              </a:defRPr>
            </a:lvl8pPr>
            <a:lvl9pPr algn="l">
              <a:defRPr sz="1600" b="0">
                <a:solidFill>
                  <a:srgbClr val="222222"/>
                </a:solidFill>
                <a:latin typeface="Times New Roman"/>
                <a:ea typeface="Times New Roman"/>
                <a:cs typeface="Times New Roman"/>
              </a:defRPr>
            </a:lvl9pPr>
          </a:lstStyle>
          <a:p xmlns:a="http://schemas.openxmlformats.org/drawingml/2006/main">
            <a:pPr algn="l">
              <a:defRPr sz="1600" b="0">
                <a:solidFill>
                  <a:srgbClr val="222222"/>
                </a:solidFill>
                <a:latin typeface="Times New Roman"/>
                <a:ea typeface="Times New Roman"/>
                <a:cs typeface="Times New Roman"/>
              </a:defRPr>
            </a:pPr>
            <a:r>
              <a:rPr sz="1600" b="0">
                <a:solidFill>
                  <a:srgbClr val="222222"/>
                </a:solidFill>
                <a:latin typeface="Times New Roman"/>
                <a:ea typeface="Times New Roman"/>
                <a:cs typeface="Times New Roman"/>
              </a:rPr>
              <a:t>Cooled CW</a:t>
            </a:r>
          </a:p>
        </p:txBody>
      </p:sp>
      <p:cxnSp>
        <p:nvCxnSpPr>
          <p:cNvPr id="29" name="chw-supply-a-0">
            <a:extLst xmlns:a="http://schemas.openxmlformats.org/drawingml/2006/main">
              <a:ext uri="{FF2B5EF4-FFF2-40B4-BE49-F238E27FC236}">
                <a16:creationId xmlns:a16="http://schemas.microsoft.com/office/drawing/2014/main" id="{3FE6642F-348C-4C47-8E21-D91719B66268}"/>
              </a:ext>
            </a:extLst>
          </p:cNvPr>
          <p:cNvCxnSpPr/>
          <p:nvPr/>
        </p:nvCxnSpPr>
        <p:spPr>
          <a:xfrm xmlns:a="http://schemas.openxmlformats.org/drawingml/2006/main">
            <a:off x="6896100" y="3771900"/>
            <a:ext cx="476250" cy="0"/>
          </a:xfrm>
          <a:prstGeom xmlns:a="http://schemas.openxmlformats.org/drawingml/2006/main" prst="straightConnector1">
            <a:avLst/>
          </a:prstGeom>
          <a:ln xmlns:a="http://schemas.openxmlformats.org/drawingml/2006/main" w="17145">
            <a:solidFill>
              <a:srgbClr val="535353"/>
            </a:solidFill>
            <a:prstDash val="solid"/>
          </a:ln>
        </p:spPr>
      </p:cxnSp>
      <p:cxnSp>
        <p:nvCxnSpPr>
          <p:cNvPr id="30" name="chw-supply-a-1">
            <a:extLst xmlns:a="http://schemas.openxmlformats.org/drawingml/2006/main">
              <a:ext uri="{FF2B5EF4-FFF2-40B4-BE49-F238E27FC236}">
                <a16:creationId xmlns:a16="http://schemas.microsoft.com/office/drawing/2014/main" id="{87E5DF39-67E1-489D-B3CF-9A032E7FC5DF}"/>
              </a:ext>
            </a:extLst>
          </p:cNvPr>
          <p:cNvCxnSpPr/>
          <p:nvPr/>
        </p:nvCxnSpPr>
        <p:spPr>
          <a:xfrm xmlns:a="http://schemas.openxmlformats.org/drawingml/2006/main">
            <a:off x="7372350" y="3505200"/>
            <a:ext cx="0" cy="266700"/>
          </a:xfrm>
          <a:prstGeom xmlns:a="http://schemas.openxmlformats.org/drawingml/2006/main" prst="straightConnector1">
            <a:avLst/>
          </a:prstGeom>
          <a:ln xmlns:a="http://schemas.openxmlformats.org/drawingml/2006/main" w="17145">
            <a:solidFill>
              <a:srgbClr val="535353"/>
            </a:solidFill>
            <a:prstDash val="solid"/>
          </a:ln>
        </p:spPr>
      </p:cxnSp>
      <p:cxnSp>
        <p:nvCxnSpPr>
          <p:cNvPr id="31" name="chw-supply-a-2">
            <a:extLst xmlns:a="http://schemas.openxmlformats.org/drawingml/2006/main">
              <a:ext uri="{FF2B5EF4-FFF2-40B4-BE49-F238E27FC236}">
                <a16:creationId xmlns:a16="http://schemas.microsoft.com/office/drawing/2014/main" id="{9E605B5D-A8C5-4EDB-9155-385A8D2D4640}"/>
              </a:ext>
            </a:extLst>
          </p:cNvPr>
          <p:cNvCxnSpPr/>
          <p:nvPr/>
        </p:nvCxnSpPr>
        <p:spPr>
          <a:xfrm xmlns:a="http://schemas.openxmlformats.org/drawingml/2006/main">
            <a:off x="7372350" y="3505200"/>
            <a:ext cx="152400" cy="0"/>
          </a:xfrm>
          <a:prstGeom xmlns:a="http://schemas.openxmlformats.org/drawingml/2006/main" prst="straightConnector1">
            <a:avLst/>
          </a:prstGeom>
          <a:ln xmlns:a="http://schemas.openxmlformats.org/drawingml/2006/main" w="17145">
            <a:solidFill>
              <a:srgbClr val="535353"/>
            </a:solidFill>
            <a:prstDash val="solid"/>
            <a:tailEnd type="triangle" w="sm" len="sm"/>
          </a:ln>
        </p:spPr>
      </p:cxnSp>
      <p:sp>
        <p:nvSpPr>
          <p:cNvPr id="32" name="chw-pump">
            <a:extLst xmlns:a="http://schemas.openxmlformats.org/drawingml/2006/main">
              <a:ext uri="{FF2B5EF4-FFF2-40B4-BE49-F238E27FC236}">
                <a16:creationId xmlns:a16="http://schemas.microsoft.com/office/drawing/2014/main" id="{61BFD246-FD9D-462B-8C96-9DA58297296D}"/>
              </a:ext>
            </a:extLst>
          </p:cNvPr>
          <p:cNvSpPr>
            <a:spLocks xmlns:a="http://schemas.openxmlformats.org/drawingml/2006/main" noGrp="1"/>
          </p:cNvSpPr>
          <p:nvPr/>
        </p:nvSpPr>
        <p:spPr>
          <a:xfrm xmlns:a="http://schemas.openxmlformats.org/drawingml/2006/main">
            <a:off x="7524750" y="3295650"/>
            <a:ext cx="419100" cy="419100"/>
          </a:xfrm>
          <a:prstGeom xmlns:a="http://schemas.openxmlformats.org/drawingml/2006/main" prst="ellipse">
            <a:avLst/>
          </a:prstGeom>
          <a:solidFill xmlns:a="http://schemas.openxmlformats.org/drawingml/2006/main">
            <a:srgbClr val="FFFFFF"/>
          </a:solidFill>
          <a:ln xmlns:a="http://schemas.openxmlformats.org/drawingml/2006/main" w="12383">
            <a:solidFill>
              <a:srgbClr val="535353"/>
            </a:solidFill>
            <a:prstDash val="solid"/>
          </a:ln>
        </p:spPr>
        <p:txBody>
          <a:bodyPr xmlns:a="http://schemas.openxmlformats.org/drawingml/2006/main" lIns="0" tIns="0" rIns="0" bIns="0" anchor="ctr"/>
          <a:lstStyle xmlns:a="http://schemas.openxmlformats.org/drawingml/2006/main">
            <a:defPPr algn="ctr">
              <a:defRPr sz="1600">
                <a:solidFill>
                  <a:srgbClr val="222222"/>
                </a:solidFill>
                <a:latin typeface="Times New Roman"/>
                <a:ea typeface="Times New Roman"/>
                <a:cs typeface="Times New Roman"/>
              </a:defRPr>
            </a:defPPr>
            <a:lvl1pPr algn="ctr">
              <a:defRPr sz="1600">
                <a:solidFill>
                  <a:srgbClr val="222222"/>
                </a:solidFill>
                <a:latin typeface="Times New Roman"/>
                <a:ea typeface="Times New Roman"/>
                <a:cs typeface="Times New Roman"/>
              </a:defRPr>
            </a:lvl1pPr>
            <a:lvl2pPr algn="ctr">
              <a:defRPr sz="1600">
                <a:solidFill>
                  <a:srgbClr val="222222"/>
                </a:solidFill>
                <a:latin typeface="Times New Roman"/>
                <a:ea typeface="Times New Roman"/>
                <a:cs typeface="Times New Roman"/>
              </a:defRPr>
            </a:lvl2pPr>
            <a:lvl3pPr algn="ctr">
              <a:defRPr sz="1600">
                <a:solidFill>
                  <a:srgbClr val="222222"/>
                </a:solidFill>
                <a:latin typeface="Times New Roman"/>
                <a:ea typeface="Times New Roman"/>
                <a:cs typeface="Times New Roman"/>
              </a:defRPr>
            </a:lvl3pPr>
            <a:lvl4pPr algn="ctr">
              <a:defRPr sz="1600">
                <a:solidFill>
                  <a:srgbClr val="222222"/>
                </a:solidFill>
                <a:latin typeface="Times New Roman"/>
                <a:ea typeface="Times New Roman"/>
                <a:cs typeface="Times New Roman"/>
              </a:defRPr>
            </a:lvl4pPr>
            <a:lvl5pPr algn="ctr">
              <a:defRPr sz="1600">
                <a:solidFill>
                  <a:srgbClr val="222222"/>
                </a:solidFill>
                <a:latin typeface="Times New Roman"/>
                <a:ea typeface="Times New Roman"/>
                <a:cs typeface="Times New Roman"/>
              </a:defRPr>
            </a:lvl5pPr>
            <a:lvl6pPr algn="ctr">
              <a:defRPr sz="1600">
                <a:solidFill>
                  <a:srgbClr val="222222"/>
                </a:solidFill>
                <a:latin typeface="Times New Roman"/>
                <a:ea typeface="Times New Roman"/>
                <a:cs typeface="Times New Roman"/>
              </a:defRPr>
            </a:lvl6pPr>
            <a:lvl7pPr algn="ctr">
              <a:defRPr sz="1600">
                <a:solidFill>
                  <a:srgbClr val="222222"/>
                </a:solidFill>
                <a:latin typeface="Times New Roman"/>
                <a:ea typeface="Times New Roman"/>
                <a:cs typeface="Times New Roman"/>
              </a:defRPr>
            </a:lvl7pPr>
            <a:lvl8pPr algn="ctr">
              <a:defRPr sz="1600">
                <a:solidFill>
                  <a:srgbClr val="222222"/>
                </a:solidFill>
                <a:latin typeface="Times New Roman"/>
                <a:ea typeface="Times New Roman"/>
                <a:cs typeface="Times New Roman"/>
              </a:defRPr>
            </a:lvl8pPr>
            <a:lvl9pPr algn="ctr">
              <a:defRPr sz="1600">
                <a:solidFill>
                  <a:srgbClr val="222222"/>
                </a:solidFill>
                <a:latin typeface="Times New Roman"/>
                <a:ea typeface="Times New Roman"/>
                <a:cs typeface="Times New Roman"/>
              </a:defRPr>
            </a:lvl9pPr>
          </a:lstStyle>
          <a:p xmlns:a="http://schemas.openxmlformats.org/drawingml/2006/main">
            <a:pPr algn="ctr">
              <a:defRPr sz="1600">
                <a:solidFill>
                  <a:srgbClr val="222222"/>
                </a:solidFill>
                <a:latin typeface="Times New Roman"/>
                <a:ea typeface="Times New Roman"/>
                <a:cs typeface="Times New Roman"/>
              </a:defRPr>
            </a:pPr>
            <a:r>
              <a:rPr sz="1600">
                <a:solidFill>
                  <a:srgbClr val="222222"/>
                </a:solidFill>
                <a:latin typeface="Times New Roman"/>
                <a:ea typeface="Times New Roman"/>
                <a:cs typeface="Times New Roman"/>
              </a:rPr>
              <a:t>P</a:t>
            </a:r>
          </a:p>
        </p:txBody>
      </p:sp>
      <p:cxnSp>
        <p:nvCxnSpPr>
          <p:cNvPr id="33" name="chw-supply-b-0">
            <a:extLst xmlns:a="http://schemas.openxmlformats.org/drawingml/2006/main">
              <a:ext uri="{FF2B5EF4-FFF2-40B4-BE49-F238E27FC236}">
                <a16:creationId xmlns:a16="http://schemas.microsoft.com/office/drawing/2014/main" id="{9B209C58-0F92-4A4E-9473-92908DDD33BB}"/>
              </a:ext>
            </a:extLst>
          </p:cNvPr>
          <p:cNvCxnSpPr/>
          <p:nvPr/>
        </p:nvCxnSpPr>
        <p:spPr>
          <a:xfrm xmlns:a="http://schemas.openxmlformats.org/drawingml/2006/main">
            <a:off x="7943850" y="3505200"/>
            <a:ext cx="628650" cy="0"/>
          </a:xfrm>
          <a:prstGeom xmlns:a="http://schemas.openxmlformats.org/drawingml/2006/main" prst="straightConnector1">
            <a:avLst/>
          </a:prstGeom>
          <a:ln xmlns:a="http://schemas.openxmlformats.org/drawingml/2006/main" w="17145">
            <a:solidFill>
              <a:srgbClr val="535353"/>
            </a:solidFill>
            <a:prstDash val="solid"/>
          </a:ln>
        </p:spPr>
      </p:cxnSp>
      <p:cxnSp>
        <p:nvCxnSpPr>
          <p:cNvPr id="34" name="chw-supply-b-1">
            <a:extLst xmlns:a="http://schemas.openxmlformats.org/drawingml/2006/main">
              <a:ext uri="{FF2B5EF4-FFF2-40B4-BE49-F238E27FC236}">
                <a16:creationId xmlns:a16="http://schemas.microsoft.com/office/drawing/2014/main" id="{7FCBF84F-A0DD-4597-ADF9-953260C7A0A8}"/>
              </a:ext>
            </a:extLst>
          </p:cNvPr>
          <p:cNvCxnSpPr/>
          <p:nvPr/>
        </p:nvCxnSpPr>
        <p:spPr>
          <a:xfrm xmlns:a="http://schemas.openxmlformats.org/drawingml/2006/main">
            <a:off x="8572500" y="3505200"/>
            <a:ext cx="0" cy="228600"/>
          </a:xfrm>
          <a:prstGeom xmlns:a="http://schemas.openxmlformats.org/drawingml/2006/main" prst="straightConnector1">
            <a:avLst/>
          </a:prstGeom>
          <a:ln xmlns:a="http://schemas.openxmlformats.org/drawingml/2006/main" w="17145">
            <a:solidFill>
              <a:srgbClr val="535353"/>
            </a:solidFill>
            <a:prstDash val="solid"/>
          </a:ln>
        </p:spPr>
      </p:cxnSp>
      <p:cxnSp>
        <p:nvCxnSpPr>
          <p:cNvPr id="35" name="chw-supply-b-2">
            <a:extLst xmlns:a="http://schemas.openxmlformats.org/drawingml/2006/main">
              <a:ext uri="{FF2B5EF4-FFF2-40B4-BE49-F238E27FC236}">
                <a16:creationId xmlns:a16="http://schemas.microsoft.com/office/drawing/2014/main" id="{FD3812BE-C25D-4212-9165-F2412B4750E3}"/>
              </a:ext>
            </a:extLst>
          </p:cNvPr>
          <p:cNvCxnSpPr/>
          <p:nvPr/>
        </p:nvCxnSpPr>
        <p:spPr>
          <a:xfrm xmlns:a="http://schemas.openxmlformats.org/drawingml/2006/main">
            <a:off x="8572500" y="3733800"/>
            <a:ext cx="1038225" cy="0"/>
          </a:xfrm>
          <a:prstGeom xmlns:a="http://schemas.openxmlformats.org/drawingml/2006/main" prst="straightConnector1">
            <a:avLst/>
          </a:prstGeom>
          <a:ln xmlns:a="http://schemas.openxmlformats.org/drawingml/2006/main" w="17145">
            <a:solidFill>
              <a:srgbClr val="535353"/>
            </a:solidFill>
            <a:prstDash val="solid"/>
          </a:ln>
        </p:spPr>
      </p:cxnSp>
      <p:cxnSp>
        <p:nvCxnSpPr>
          <p:cNvPr id="36" name="chw-supply-b-3">
            <a:extLst xmlns:a="http://schemas.openxmlformats.org/drawingml/2006/main">
              <a:ext uri="{FF2B5EF4-FFF2-40B4-BE49-F238E27FC236}">
                <a16:creationId xmlns:a16="http://schemas.microsoft.com/office/drawing/2014/main" id="{EF0F7FA1-9E3E-4C4D-88F8-2ACDFED6E0FF}"/>
              </a:ext>
            </a:extLst>
          </p:cNvPr>
          <p:cNvCxnSpPr/>
          <p:nvPr/>
        </p:nvCxnSpPr>
        <p:spPr>
          <a:xfrm xmlns:a="http://schemas.openxmlformats.org/drawingml/2006/main">
            <a:off x="9610725" y="3638550"/>
            <a:ext cx="0" cy="95250"/>
          </a:xfrm>
          <a:prstGeom xmlns:a="http://schemas.openxmlformats.org/drawingml/2006/main" prst="straightConnector1">
            <a:avLst/>
          </a:prstGeom>
          <a:ln xmlns:a="http://schemas.openxmlformats.org/drawingml/2006/main" w="17145">
            <a:solidFill>
              <a:srgbClr val="535353"/>
            </a:solidFill>
            <a:prstDash val="solid"/>
            <a:headEnd type="triangle" w="sm" len="sm"/>
          </a:ln>
        </p:spPr>
      </p:cxnSp>
      <p:sp>
        <p:nvSpPr>
          <p:cNvPr id="37" name="chw-pump-label">
            <a:extLst xmlns:a="http://schemas.openxmlformats.org/drawingml/2006/main">
              <a:ext uri="{FF2B5EF4-FFF2-40B4-BE49-F238E27FC236}">
                <a16:creationId xmlns:a16="http://schemas.microsoft.com/office/drawing/2014/main" id="{02543D0A-9198-4F6E-9320-2281294B493F}"/>
              </a:ext>
            </a:extLst>
          </p:cNvPr>
          <p:cNvSpPr>
            <a:spLocks xmlns:a="http://schemas.openxmlformats.org/drawingml/2006/main" noGrp="1"/>
          </p:cNvSpPr>
          <p:nvPr/>
        </p:nvSpPr>
        <p:spPr>
          <a:xfrm xmlns:a="http://schemas.openxmlformats.org/drawingml/2006/main">
            <a:off x="7048500" y="4114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00" b="0">
                <a:solidFill>
                  <a:srgbClr val="222222"/>
                </a:solidFill>
                <a:latin typeface="Times New Roman"/>
                <a:ea typeface="Times New Roman"/>
                <a:cs typeface="Times New Roman"/>
              </a:defRPr>
            </a:defPPr>
            <a:lvl1pPr algn="l">
              <a:defRPr sz="1600" b="0">
                <a:solidFill>
                  <a:srgbClr val="222222"/>
                </a:solidFill>
                <a:latin typeface="Times New Roman"/>
                <a:ea typeface="Times New Roman"/>
                <a:cs typeface="Times New Roman"/>
              </a:defRPr>
            </a:lvl1pPr>
            <a:lvl2pPr algn="l">
              <a:defRPr sz="1600" b="0">
                <a:solidFill>
                  <a:srgbClr val="222222"/>
                </a:solidFill>
                <a:latin typeface="Times New Roman"/>
                <a:ea typeface="Times New Roman"/>
                <a:cs typeface="Times New Roman"/>
              </a:defRPr>
            </a:lvl2pPr>
            <a:lvl3pPr algn="l">
              <a:defRPr sz="1600" b="0">
                <a:solidFill>
                  <a:srgbClr val="222222"/>
                </a:solidFill>
                <a:latin typeface="Times New Roman"/>
                <a:ea typeface="Times New Roman"/>
                <a:cs typeface="Times New Roman"/>
              </a:defRPr>
            </a:lvl3pPr>
            <a:lvl4pPr algn="l">
              <a:defRPr sz="1600" b="0">
                <a:solidFill>
                  <a:srgbClr val="222222"/>
                </a:solidFill>
                <a:latin typeface="Times New Roman"/>
                <a:ea typeface="Times New Roman"/>
                <a:cs typeface="Times New Roman"/>
              </a:defRPr>
            </a:lvl4pPr>
            <a:lvl5pPr algn="l">
              <a:defRPr sz="1600" b="0">
                <a:solidFill>
                  <a:srgbClr val="222222"/>
                </a:solidFill>
                <a:latin typeface="Times New Roman"/>
                <a:ea typeface="Times New Roman"/>
                <a:cs typeface="Times New Roman"/>
              </a:defRPr>
            </a:lvl5pPr>
            <a:lvl6pPr algn="l">
              <a:defRPr sz="1600" b="0">
                <a:solidFill>
                  <a:srgbClr val="222222"/>
                </a:solidFill>
                <a:latin typeface="Times New Roman"/>
                <a:ea typeface="Times New Roman"/>
                <a:cs typeface="Times New Roman"/>
              </a:defRPr>
            </a:lvl6pPr>
            <a:lvl7pPr algn="l">
              <a:defRPr sz="1600" b="0">
                <a:solidFill>
                  <a:srgbClr val="222222"/>
                </a:solidFill>
                <a:latin typeface="Times New Roman"/>
                <a:ea typeface="Times New Roman"/>
                <a:cs typeface="Times New Roman"/>
              </a:defRPr>
            </a:lvl7pPr>
            <a:lvl8pPr algn="l">
              <a:defRPr sz="1600" b="0">
                <a:solidFill>
                  <a:srgbClr val="222222"/>
                </a:solidFill>
                <a:latin typeface="Times New Roman"/>
                <a:ea typeface="Times New Roman"/>
                <a:cs typeface="Times New Roman"/>
              </a:defRPr>
            </a:lvl8pPr>
            <a:lvl9pPr algn="l">
              <a:defRPr sz="1600" b="0">
                <a:solidFill>
                  <a:srgbClr val="222222"/>
                </a:solidFill>
                <a:latin typeface="Times New Roman"/>
                <a:ea typeface="Times New Roman"/>
                <a:cs typeface="Times New Roman"/>
              </a:defRPr>
            </a:lvl9pPr>
          </a:lstStyle>
          <a:p xmlns:a="http://schemas.openxmlformats.org/drawingml/2006/main">
            <a:pPr algn="l">
              <a:defRPr sz="1600" b="0">
                <a:solidFill>
                  <a:srgbClr val="222222"/>
                </a:solidFill>
                <a:latin typeface="Times New Roman"/>
                <a:ea typeface="Times New Roman"/>
                <a:cs typeface="Times New Roman"/>
              </a:defRPr>
            </a:pPr>
            <a:r>
              <a:rPr sz="1600" b="0">
                <a:solidFill>
                  <a:srgbClr val="222222"/>
                </a:solidFill>
                <a:latin typeface="Times New Roman"/>
                <a:ea typeface="Times New Roman"/>
                <a:cs typeface="Times New Roman"/>
              </a:rPr>
              <a:t>CHW pumps</a:t>
            </a:r>
          </a:p>
        </p:txBody>
      </p:sp>
      <p:sp>
        <p:nvSpPr>
          <p:cNvPr id="38" name="chw-supply-label">
            <a:extLst xmlns:a="http://schemas.openxmlformats.org/drawingml/2006/main">
              <a:ext uri="{FF2B5EF4-FFF2-40B4-BE49-F238E27FC236}">
                <a16:creationId xmlns:a16="http://schemas.microsoft.com/office/drawing/2014/main" id="{7E49C488-FB2D-48F6-A528-7DC8ABCA6350}"/>
              </a:ext>
            </a:extLst>
          </p:cNvPr>
          <p:cNvSpPr>
            <a:spLocks xmlns:a="http://schemas.openxmlformats.org/drawingml/2006/main" noGrp="1"/>
          </p:cNvSpPr>
          <p:nvPr/>
        </p:nvSpPr>
        <p:spPr>
          <a:xfrm xmlns:a="http://schemas.openxmlformats.org/drawingml/2006/main">
            <a:off x="7200900" y="37719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00" b="0">
                <a:solidFill>
                  <a:srgbClr val="222222"/>
                </a:solidFill>
                <a:latin typeface="Times New Roman"/>
                <a:ea typeface="Times New Roman"/>
                <a:cs typeface="Times New Roman"/>
              </a:defRPr>
            </a:defPPr>
            <a:lvl1pPr algn="l">
              <a:defRPr sz="1600" b="0">
                <a:solidFill>
                  <a:srgbClr val="222222"/>
                </a:solidFill>
                <a:latin typeface="Times New Roman"/>
                <a:ea typeface="Times New Roman"/>
                <a:cs typeface="Times New Roman"/>
              </a:defRPr>
            </a:lvl1pPr>
            <a:lvl2pPr algn="l">
              <a:defRPr sz="1600" b="0">
                <a:solidFill>
                  <a:srgbClr val="222222"/>
                </a:solidFill>
                <a:latin typeface="Times New Roman"/>
                <a:ea typeface="Times New Roman"/>
                <a:cs typeface="Times New Roman"/>
              </a:defRPr>
            </a:lvl2pPr>
            <a:lvl3pPr algn="l">
              <a:defRPr sz="1600" b="0">
                <a:solidFill>
                  <a:srgbClr val="222222"/>
                </a:solidFill>
                <a:latin typeface="Times New Roman"/>
                <a:ea typeface="Times New Roman"/>
                <a:cs typeface="Times New Roman"/>
              </a:defRPr>
            </a:lvl3pPr>
            <a:lvl4pPr algn="l">
              <a:defRPr sz="1600" b="0">
                <a:solidFill>
                  <a:srgbClr val="222222"/>
                </a:solidFill>
                <a:latin typeface="Times New Roman"/>
                <a:ea typeface="Times New Roman"/>
                <a:cs typeface="Times New Roman"/>
              </a:defRPr>
            </a:lvl4pPr>
            <a:lvl5pPr algn="l">
              <a:defRPr sz="1600" b="0">
                <a:solidFill>
                  <a:srgbClr val="222222"/>
                </a:solidFill>
                <a:latin typeface="Times New Roman"/>
                <a:ea typeface="Times New Roman"/>
                <a:cs typeface="Times New Roman"/>
              </a:defRPr>
            </a:lvl5pPr>
            <a:lvl6pPr algn="l">
              <a:defRPr sz="1600" b="0">
                <a:solidFill>
                  <a:srgbClr val="222222"/>
                </a:solidFill>
                <a:latin typeface="Times New Roman"/>
                <a:ea typeface="Times New Roman"/>
                <a:cs typeface="Times New Roman"/>
              </a:defRPr>
            </a:lvl6pPr>
            <a:lvl7pPr algn="l">
              <a:defRPr sz="1600" b="0">
                <a:solidFill>
                  <a:srgbClr val="222222"/>
                </a:solidFill>
                <a:latin typeface="Times New Roman"/>
                <a:ea typeface="Times New Roman"/>
                <a:cs typeface="Times New Roman"/>
              </a:defRPr>
            </a:lvl7pPr>
            <a:lvl8pPr algn="l">
              <a:defRPr sz="1600" b="0">
                <a:solidFill>
                  <a:srgbClr val="222222"/>
                </a:solidFill>
                <a:latin typeface="Times New Roman"/>
                <a:ea typeface="Times New Roman"/>
                <a:cs typeface="Times New Roman"/>
              </a:defRPr>
            </a:lvl8pPr>
            <a:lvl9pPr algn="l">
              <a:defRPr sz="1600" b="0">
                <a:solidFill>
                  <a:srgbClr val="222222"/>
                </a:solidFill>
                <a:latin typeface="Times New Roman"/>
                <a:ea typeface="Times New Roman"/>
                <a:cs typeface="Times New Roman"/>
              </a:defRPr>
            </a:lvl9pPr>
          </a:lstStyle>
          <a:p xmlns:a="http://schemas.openxmlformats.org/drawingml/2006/main">
            <a:pPr algn="l">
              <a:defRPr sz="1600" b="0">
                <a:solidFill>
                  <a:srgbClr val="222222"/>
                </a:solidFill>
                <a:latin typeface="Times New Roman"/>
                <a:ea typeface="Times New Roman"/>
                <a:cs typeface="Times New Roman"/>
              </a:defRPr>
            </a:pPr>
            <a:r>
              <a:rPr sz="1600" b="0">
                <a:solidFill>
                  <a:srgbClr val="222222"/>
                </a:solidFill>
                <a:latin typeface="Times New Roman"/>
                <a:ea typeface="Times New Roman"/>
                <a:cs typeface="Times New Roman"/>
              </a:rPr>
              <a:t>Supply CHW</a:t>
            </a:r>
          </a:p>
        </p:txBody>
      </p:sp>
      <p:cxnSp>
        <p:nvCxnSpPr>
          <p:cNvPr id="39" name="chw-return-0">
            <a:extLst xmlns:a="http://schemas.openxmlformats.org/drawingml/2006/main">
              <a:ext uri="{FF2B5EF4-FFF2-40B4-BE49-F238E27FC236}">
                <a16:creationId xmlns:a16="http://schemas.microsoft.com/office/drawing/2014/main" id="{2F310DFD-074C-4AF7-B063-0B204C541830}"/>
              </a:ext>
            </a:extLst>
          </p:cNvPr>
          <p:cNvCxnSpPr/>
          <p:nvPr/>
        </p:nvCxnSpPr>
        <p:spPr>
          <a:xfrm xmlns:a="http://schemas.openxmlformats.org/drawingml/2006/main">
            <a:off x="9610725" y="3000375"/>
            <a:ext cx="0" cy="142875"/>
          </a:xfrm>
          <a:prstGeom xmlns:a="http://schemas.openxmlformats.org/drawingml/2006/main" prst="straightConnector1">
            <a:avLst/>
          </a:prstGeom>
          <a:ln xmlns:a="http://schemas.openxmlformats.org/drawingml/2006/main" w="17145">
            <a:solidFill>
              <a:srgbClr val="535353"/>
            </a:solidFill>
            <a:prstDash val="solid"/>
          </a:ln>
        </p:spPr>
      </p:cxnSp>
      <p:cxnSp>
        <p:nvCxnSpPr>
          <p:cNvPr id="40" name="chw-return-1">
            <a:extLst xmlns:a="http://schemas.openxmlformats.org/drawingml/2006/main">
              <a:ext uri="{FF2B5EF4-FFF2-40B4-BE49-F238E27FC236}">
                <a16:creationId xmlns:a16="http://schemas.microsoft.com/office/drawing/2014/main" id="{4BBB17D5-91A6-4331-A254-EDC430FEE3D7}"/>
              </a:ext>
            </a:extLst>
          </p:cNvPr>
          <p:cNvCxnSpPr/>
          <p:nvPr/>
        </p:nvCxnSpPr>
        <p:spPr>
          <a:xfrm xmlns:a="http://schemas.openxmlformats.org/drawingml/2006/main">
            <a:off x="9029700" y="3000375"/>
            <a:ext cx="581025" cy="0"/>
          </a:xfrm>
          <a:prstGeom xmlns:a="http://schemas.openxmlformats.org/drawingml/2006/main" prst="straightConnector1">
            <a:avLst/>
          </a:prstGeom>
          <a:ln xmlns:a="http://schemas.openxmlformats.org/drawingml/2006/main" w="17145">
            <a:solidFill>
              <a:srgbClr val="535353"/>
            </a:solidFill>
            <a:prstDash val="solid"/>
          </a:ln>
        </p:spPr>
      </p:cxnSp>
      <p:cxnSp>
        <p:nvCxnSpPr>
          <p:cNvPr id="41" name="chw-return-2">
            <a:extLst xmlns:a="http://schemas.openxmlformats.org/drawingml/2006/main">
              <a:ext uri="{FF2B5EF4-FFF2-40B4-BE49-F238E27FC236}">
                <a16:creationId xmlns:a16="http://schemas.microsoft.com/office/drawing/2014/main" id="{8AFDFACA-89C6-44F2-B972-758D3865DBE6}"/>
              </a:ext>
            </a:extLst>
          </p:cNvPr>
          <p:cNvCxnSpPr/>
          <p:nvPr/>
        </p:nvCxnSpPr>
        <p:spPr>
          <a:xfrm xmlns:a="http://schemas.openxmlformats.org/drawingml/2006/main">
            <a:off x="9029700" y="2219325"/>
            <a:ext cx="0" cy="781050"/>
          </a:xfrm>
          <a:prstGeom xmlns:a="http://schemas.openxmlformats.org/drawingml/2006/main" prst="straightConnector1">
            <a:avLst/>
          </a:prstGeom>
          <a:ln xmlns:a="http://schemas.openxmlformats.org/drawingml/2006/main" w="17145">
            <a:solidFill>
              <a:srgbClr val="535353"/>
            </a:solidFill>
            <a:prstDash val="solid"/>
          </a:ln>
        </p:spPr>
      </p:cxnSp>
      <p:cxnSp>
        <p:nvCxnSpPr>
          <p:cNvPr id="42" name="chw-return-3">
            <a:extLst xmlns:a="http://schemas.openxmlformats.org/drawingml/2006/main">
              <a:ext uri="{FF2B5EF4-FFF2-40B4-BE49-F238E27FC236}">
                <a16:creationId xmlns:a16="http://schemas.microsoft.com/office/drawing/2014/main" id="{36BCC6AD-BF28-43AE-9A78-301B98F5F7BE}"/>
              </a:ext>
            </a:extLst>
          </p:cNvPr>
          <p:cNvCxnSpPr/>
          <p:nvPr/>
        </p:nvCxnSpPr>
        <p:spPr>
          <a:xfrm xmlns:a="http://schemas.openxmlformats.org/drawingml/2006/main">
            <a:off x="7296150" y="2219325"/>
            <a:ext cx="1733550" cy="0"/>
          </a:xfrm>
          <a:prstGeom xmlns:a="http://schemas.openxmlformats.org/drawingml/2006/main" prst="straightConnector1">
            <a:avLst/>
          </a:prstGeom>
          <a:ln xmlns:a="http://schemas.openxmlformats.org/drawingml/2006/main" w="17145">
            <a:solidFill>
              <a:srgbClr val="535353"/>
            </a:solidFill>
            <a:prstDash val="solid"/>
          </a:ln>
        </p:spPr>
      </p:cxnSp>
      <p:cxnSp>
        <p:nvCxnSpPr>
          <p:cNvPr id="43" name="chw-return-4">
            <a:extLst xmlns:a="http://schemas.openxmlformats.org/drawingml/2006/main">
              <a:ext uri="{FF2B5EF4-FFF2-40B4-BE49-F238E27FC236}">
                <a16:creationId xmlns:a16="http://schemas.microsoft.com/office/drawing/2014/main" id="{E86A97B8-58B7-4726-8FBD-AEA58D3AFF52}"/>
              </a:ext>
            </a:extLst>
          </p:cNvPr>
          <p:cNvCxnSpPr/>
          <p:nvPr/>
        </p:nvCxnSpPr>
        <p:spPr>
          <a:xfrm xmlns:a="http://schemas.openxmlformats.org/drawingml/2006/main">
            <a:off x="7296150" y="2219325"/>
            <a:ext cx="0" cy="771525"/>
          </a:xfrm>
          <a:prstGeom xmlns:a="http://schemas.openxmlformats.org/drawingml/2006/main" prst="straightConnector1">
            <a:avLst/>
          </a:prstGeom>
          <a:ln xmlns:a="http://schemas.openxmlformats.org/drawingml/2006/main" w="17145">
            <a:solidFill>
              <a:srgbClr val="535353"/>
            </a:solidFill>
            <a:prstDash val="solid"/>
          </a:ln>
        </p:spPr>
      </p:cxnSp>
      <p:cxnSp>
        <p:nvCxnSpPr>
          <p:cNvPr id="44" name="chw-return-5">
            <a:extLst xmlns:a="http://schemas.openxmlformats.org/drawingml/2006/main">
              <a:ext uri="{FF2B5EF4-FFF2-40B4-BE49-F238E27FC236}">
                <a16:creationId xmlns:a16="http://schemas.microsoft.com/office/drawing/2014/main" id="{DAF2ABA9-C4E4-4B79-9CB3-79C04348B28E}"/>
              </a:ext>
            </a:extLst>
          </p:cNvPr>
          <p:cNvCxnSpPr/>
          <p:nvPr/>
        </p:nvCxnSpPr>
        <p:spPr>
          <a:xfrm xmlns:a="http://schemas.openxmlformats.org/drawingml/2006/main">
            <a:off x="6896100" y="2990850"/>
            <a:ext cx="400050" cy="0"/>
          </a:xfrm>
          <a:prstGeom xmlns:a="http://schemas.openxmlformats.org/drawingml/2006/main" prst="straightConnector1">
            <a:avLst/>
          </a:prstGeom>
          <a:ln xmlns:a="http://schemas.openxmlformats.org/drawingml/2006/main" w="17145">
            <a:solidFill>
              <a:srgbClr val="535353"/>
            </a:solidFill>
            <a:prstDash val="solid"/>
            <a:headEnd type="triangle" w="sm" len="sm"/>
          </a:ln>
        </p:spPr>
      </p:cxnSp>
      <p:sp>
        <p:nvSpPr>
          <p:cNvPr id="45" name="chw-return-label">
            <a:extLst xmlns:a="http://schemas.openxmlformats.org/drawingml/2006/main">
              <a:ext uri="{FF2B5EF4-FFF2-40B4-BE49-F238E27FC236}">
                <a16:creationId xmlns:a16="http://schemas.microsoft.com/office/drawing/2014/main" id="{1C33DE0B-0B76-46D9-BD6B-58943D33E491}"/>
              </a:ext>
            </a:extLst>
          </p:cNvPr>
          <p:cNvSpPr>
            <a:spLocks xmlns:a="http://schemas.openxmlformats.org/drawingml/2006/main" noGrp="1"/>
          </p:cNvSpPr>
          <p:nvPr/>
        </p:nvSpPr>
        <p:spPr>
          <a:xfrm xmlns:a="http://schemas.openxmlformats.org/drawingml/2006/main">
            <a:off x="7534275" y="1905000"/>
            <a:ext cx="157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00" b="0">
                <a:solidFill>
                  <a:srgbClr val="222222"/>
                </a:solidFill>
                <a:latin typeface="Times New Roman"/>
                <a:ea typeface="Times New Roman"/>
                <a:cs typeface="Times New Roman"/>
              </a:defRPr>
            </a:defPPr>
            <a:lvl1pPr algn="l">
              <a:defRPr sz="1600" b="0">
                <a:solidFill>
                  <a:srgbClr val="222222"/>
                </a:solidFill>
                <a:latin typeface="Times New Roman"/>
                <a:ea typeface="Times New Roman"/>
                <a:cs typeface="Times New Roman"/>
              </a:defRPr>
            </a:lvl1pPr>
            <a:lvl2pPr algn="l">
              <a:defRPr sz="1600" b="0">
                <a:solidFill>
                  <a:srgbClr val="222222"/>
                </a:solidFill>
                <a:latin typeface="Times New Roman"/>
                <a:ea typeface="Times New Roman"/>
                <a:cs typeface="Times New Roman"/>
              </a:defRPr>
            </a:lvl2pPr>
            <a:lvl3pPr algn="l">
              <a:defRPr sz="1600" b="0">
                <a:solidFill>
                  <a:srgbClr val="222222"/>
                </a:solidFill>
                <a:latin typeface="Times New Roman"/>
                <a:ea typeface="Times New Roman"/>
                <a:cs typeface="Times New Roman"/>
              </a:defRPr>
            </a:lvl3pPr>
            <a:lvl4pPr algn="l">
              <a:defRPr sz="1600" b="0">
                <a:solidFill>
                  <a:srgbClr val="222222"/>
                </a:solidFill>
                <a:latin typeface="Times New Roman"/>
                <a:ea typeface="Times New Roman"/>
                <a:cs typeface="Times New Roman"/>
              </a:defRPr>
            </a:lvl4pPr>
            <a:lvl5pPr algn="l">
              <a:defRPr sz="1600" b="0">
                <a:solidFill>
                  <a:srgbClr val="222222"/>
                </a:solidFill>
                <a:latin typeface="Times New Roman"/>
                <a:ea typeface="Times New Roman"/>
                <a:cs typeface="Times New Roman"/>
              </a:defRPr>
            </a:lvl5pPr>
            <a:lvl6pPr algn="l">
              <a:defRPr sz="1600" b="0">
                <a:solidFill>
                  <a:srgbClr val="222222"/>
                </a:solidFill>
                <a:latin typeface="Times New Roman"/>
                <a:ea typeface="Times New Roman"/>
                <a:cs typeface="Times New Roman"/>
              </a:defRPr>
            </a:lvl6pPr>
            <a:lvl7pPr algn="l">
              <a:defRPr sz="1600" b="0">
                <a:solidFill>
                  <a:srgbClr val="222222"/>
                </a:solidFill>
                <a:latin typeface="Times New Roman"/>
                <a:ea typeface="Times New Roman"/>
                <a:cs typeface="Times New Roman"/>
              </a:defRPr>
            </a:lvl7pPr>
            <a:lvl8pPr algn="l">
              <a:defRPr sz="1600" b="0">
                <a:solidFill>
                  <a:srgbClr val="222222"/>
                </a:solidFill>
                <a:latin typeface="Times New Roman"/>
                <a:ea typeface="Times New Roman"/>
                <a:cs typeface="Times New Roman"/>
              </a:defRPr>
            </a:lvl8pPr>
            <a:lvl9pPr algn="l">
              <a:defRPr sz="1600" b="0">
                <a:solidFill>
                  <a:srgbClr val="222222"/>
                </a:solidFill>
                <a:latin typeface="Times New Roman"/>
                <a:ea typeface="Times New Roman"/>
                <a:cs typeface="Times New Roman"/>
              </a:defRPr>
            </a:lvl9pPr>
          </a:lstStyle>
          <a:p xmlns:a="http://schemas.openxmlformats.org/drawingml/2006/main">
            <a:pPr algn="l">
              <a:defRPr sz="1600" b="0">
                <a:solidFill>
                  <a:srgbClr val="222222"/>
                </a:solidFill>
                <a:latin typeface="Times New Roman"/>
                <a:ea typeface="Times New Roman"/>
                <a:cs typeface="Times New Roman"/>
              </a:defRPr>
            </a:pPr>
            <a:r>
              <a:rPr sz="1600" b="0">
                <a:solidFill>
                  <a:srgbClr val="222222"/>
                </a:solidFill>
                <a:latin typeface="Times New Roman"/>
                <a:ea typeface="Times New Roman"/>
                <a:cs typeface="Times New Roman"/>
              </a:rPr>
              <a:t>Return CHW</a:t>
            </a:r>
          </a:p>
        </p:txBody>
      </p:sp>
      <p:cxnSp>
        <p:nvCxnSpPr>
          <p:cNvPr id="46" name="air-supply-internal-0">
            <a:extLst xmlns:a="http://schemas.openxmlformats.org/drawingml/2006/main">
              <a:ext uri="{FF2B5EF4-FFF2-40B4-BE49-F238E27FC236}">
                <a16:creationId xmlns:a16="http://schemas.microsoft.com/office/drawing/2014/main" id="{DB62628E-A99A-434D-A082-84E8EDB9408A}"/>
              </a:ext>
            </a:extLst>
          </p:cNvPr>
          <p:cNvCxnSpPr/>
          <p:nvPr/>
        </p:nvCxnSpPr>
        <p:spPr>
          <a:xfrm xmlns:a="http://schemas.openxmlformats.org/drawingml/2006/main">
            <a:off x="9886950" y="3390900"/>
            <a:ext cx="609600" cy="0"/>
          </a:xfrm>
          <a:prstGeom xmlns:a="http://schemas.openxmlformats.org/drawingml/2006/main" prst="straightConnector1">
            <a:avLst/>
          </a:prstGeom>
          <a:ln xmlns:a="http://schemas.openxmlformats.org/drawingml/2006/main" w="33338">
            <a:solidFill>
              <a:srgbClr val="777777"/>
            </a:solidFill>
            <a:prstDash val="solid"/>
            <a:tailEnd type="triangle" w="sm" len="sm"/>
          </a:ln>
        </p:spPr>
      </p:cxnSp>
      <p:cxnSp>
        <p:nvCxnSpPr>
          <p:cNvPr id="47" name="air-supply-0">
            <a:extLst xmlns:a="http://schemas.openxmlformats.org/drawingml/2006/main">
              <a:ext uri="{FF2B5EF4-FFF2-40B4-BE49-F238E27FC236}">
                <a16:creationId xmlns:a16="http://schemas.microsoft.com/office/drawing/2014/main" id="{AF733C37-227E-4FAE-A57D-94DB2E29F067}"/>
              </a:ext>
            </a:extLst>
          </p:cNvPr>
          <p:cNvCxnSpPr/>
          <p:nvPr/>
        </p:nvCxnSpPr>
        <p:spPr>
          <a:xfrm xmlns:a="http://schemas.openxmlformats.org/drawingml/2006/main">
            <a:off x="10915650" y="3390900"/>
            <a:ext cx="771525" cy="0"/>
          </a:xfrm>
          <a:prstGeom xmlns:a="http://schemas.openxmlformats.org/drawingml/2006/main" prst="straightConnector1">
            <a:avLst/>
          </a:prstGeom>
          <a:ln xmlns:a="http://schemas.openxmlformats.org/drawingml/2006/main" w="33338">
            <a:solidFill>
              <a:srgbClr val="777777"/>
            </a:solidFill>
            <a:prstDash val="solid"/>
          </a:ln>
        </p:spPr>
      </p:cxnSp>
      <p:cxnSp>
        <p:nvCxnSpPr>
          <p:cNvPr id="48" name="air-supply-1">
            <a:extLst xmlns:a="http://schemas.openxmlformats.org/drawingml/2006/main">
              <a:ext uri="{FF2B5EF4-FFF2-40B4-BE49-F238E27FC236}">
                <a16:creationId xmlns:a16="http://schemas.microsoft.com/office/drawing/2014/main" id="{52502D72-5E85-4406-A510-745EDB7B7811}"/>
              </a:ext>
            </a:extLst>
          </p:cNvPr>
          <p:cNvCxnSpPr/>
          <p:nvPr/>
        </p:nvCxnSpPr>
        <p:spPr>
          <a:xfrm xmlns:a="http://schemas.openxmlformats.org/drawingml/2006/main">
            <a:off x="11687175" y="3390900"/>
            <a:ext cx="0" cy="1562100"/>
          </a:xfrm>
          <a:prstGeom xmlns:a="http://schemas.openxmlformats.org/drawingml/2006/main" prst="straightConnector1">
            <a:avLst/>
          </a:prstGeom>
          <a:ln xmlns:a="http://schemas.openxmlformats.org/drawingml/2006/main" w="33338">
            <a:solidFill>
              <a:srgbClr val="777777"/>
            </a:solidFill>
            <a:prstDash val="solid"/>
          </a:ln>
        </p:spPr>
      </p:cxnSp>
      <p:cxnSp>
        <p:nvCxnSpPr>
          <p:cNvPr id="49" name="air-supply-2">
            <a:extLst xmlns:a="http://schemas.openxmlformats.org/drawingml/2006/main">
              <a:ext uri="{FF2B5EF4-FFF2-40B4-BE49-F238E27FC236}">
                <a16:creationId xmlns:a16="http://schemas.microsoft.com/office/drawing/2014/main" id="{FF9F57E6-5FAB-4ED6-AA6D-ADC188242F1C}"/>
              </a:ext>
            </a:extLst>
          </p:cNvPr>
          <p:cNvCxnSpPr/>
          <p:nvPr/>
        </p:nvCxnSpPr>
        <p:spPr>
          <a:xfrm xmlns:a="http://schemas.openxmlformats.org/drawingml/2006/main">
            <a:off x="11449050" y="4953000"/>
            <a:ext cx="238125" cy="0"/>
          </a:xfrm>
          <a:prstGeom xmlns:a="http://schemas.openxmlformats.org/drawingml/2006/main" prst="straightConnector1">
            <a:avLst/>
          </a:prstGeom>
          <a:ln xmlns:a="http://schemas.openxmlformats.org/drawingml/2006/main" w="33338">
            <a:solidFill>
              <a:srgbClr val="777777"/>
            </a:solidFill>
            <a:prstDash val="solid"/>
            <a:headEnd type="triangle" w="sm" len="sm"/>
          </a:ln>
        </p:spPr>
      </p:cxnSp>
      <p:sp>
        <p:nvSpPr>
          <p:cNvPr id="50" name="supply-label">
            <a:extLst xmlns:a="http://schemas.openxmlformats.org/drawingml/2006/main">
              <a:ext uri="{FF2B5EF4-FFF2-40B4-BE49-F238E27FC236}">
                <a16:creationId xmlns:a16="http://schemas.microsoft.com/office/drawing/2014/main" id="{866FE19C-CDCD-4F5C-8873-F185BF7C2864}"/>
              </a:ext>
            </a:extLst>
          </p:cNvPr>
          <p:cNvSpPr>
            <a:spLocks xmlns:a="http://schemas.openxmlformats.org/drawingml/2006/main" noGrp="1"/>
          </p:cNvSpPr>
          <p:nvPr/>
        </p:nvSpPr>
        <p:spPr>
          <a:xfrm xmlns:a="http://schemas.openxmlformats.org/drawingml/2006/main">
            <a:off x="10287000" y="4171950"/>
            <a:ext cx="135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00" b="0">
                <a:solidFill>
                  <a:srgbClr val="222222"/>
                </a:solidFill>
                <a:latin typeface="Times New Roman"/>
                <a:ea typeface="Times New Roman"/>
                <a:cs typeface="Times New Roman"/>
              </a:defRPr>
            </a:defPPr>
            <a:lvl1pPr algn="l">
              <a:defRPr sz="1600" b="0">
                <a:solidFill>
                  <a:srgbClr val="222222"/>
                </a:solidFill>
                <a:latin typeface="Times New Roman"/>
                <a:ea typeface="Times New Roman"/>
                <a:cs typeface="Times New Roman"/>
              </a:defRPr>
            </a:lvl1pPr>
            <a:lvl2pPr algn="l">
              <a:defRPr sz="1600" b="0">
                <a:solidFill>
                  <a:srgbClr val="222222"/>
                </a:solidFill>
                <a:latin typeface="Times New Roman"/>
                <a:ea typeface="Times New Roman"/>
                <a:cs typeface="Times New Roman"/>
              </a:defRPr>
            </a:lvl2pPr>
            <a:lvl3pPr algn="l">
              <a:defRPr sz="1600" b="0">
                <a:solidFill>
                  <a:srgbClr val="222222"/>
                </a:solidFill>
                <a:latin typeface="Times New Roman"/>
                <a:ea typeface="Times New Roman"/>
                <a:cs typeface="Times New Roman"/>
              </a:defRPr>
            </a:lvl3pPr>
            <a:lvl4pPr algn="l">
              <a:defRPr sz="1600" b="0">
                <a:solidFill>
                  <a:srgbClr val="222222"/>
                </a:solidFill>
                <a:latin typeface="Times New Roman"/>
                <a:ea typeface="Times New Roman"/>
                <a:cs typeface="Times New Roman"/>
              </a:defRPr>
            </a:lvl4pPr>
            <a:lvl5pPr algn="l">
              <a:defRPr sz="1600" b="0">
                <a:solidFill>
                  <a:srgbClr val="222222"/>
                </a:solidFill>
                <a:latin typeface="Times New Roman"/>
                <a:ea typeface="Times New Roman"/>
                <a:cs typeface="Times New Roman"/>
              </a:defRPr>
            </a:lvl5pPr>
            <a:lvl6pPr algn="l">
              <a:defRPr sz="1600" b="0">
                <a:solidFill>
                  <a:srgbClr val="222222"/>
                </a:solidFill>
                <a:latin typeface="Times New Roman"/>
                <a:ea typeface="Times New Roman"/>
                <a:cs typeface="Times New Roman"/>
              </a:defRPr>
            </a:lvl6pPr>
            <a:lvl7pPr algn="l">
              <a:defRPr sz="1600" b="0">
                <a:solidFill>
                  <a:srgbClr val="222222"/>
                </a:solidFill>
                <a:latin typeface="Times New Roman"/>
                <a:ea typeface="Times New Roman"/>
                <a:cs typeface="Times New Roman"/>
              </a:defRPr>
            </a:lvl7pPr>
            <a:lvl8pPr algn="l">
              <a:defRPr sz="1600" b="0">
                <a:solidFill>
                  <a:srgbClr val="222222"/>
                </a:solidFill>
                <a:latin typeface="Times New Roman"/>
                <a:ea typeface="Times New Roman"/>
                <a:cs typeface="Times New Roman"/>
              </a:defRPr>
            </a:lvl8pPr>
            <a:lvl9pPr algn="l">
              <a:defRPr sz="1600" b="0">
                <a:solidFill>
                  <a:srgbClr val="222222"/>
                </a:solidFill>
                <a:latin typeface="Times New Roman"/>
                <a:ea typeface="Times New Roman"/>
                <a:cs typeface="Times New Roman"/>
              </a:defRPr>
            </a:lvl9pPr>
          </a:lstStyle>
          <a:p xmlns:a="http://schemas.openxmlformats.org/drawingml/2006/main">
            <a:pPr algn="l">
              <a:defRPr sz="1600" b="0">
                <a:solidFill>
                  <a:srgbClr val="222222"/>
                </a:solidFill>
                <a:latin typeface="Times New Roman"/>
                <a:ea typeface="Times New Roman"/>
                <a:cs typeface="Times New Roman"/>
              </a:defRPr>
            </a:pPr>
            <a:r>
              <a:rPr sz="1600" b="0">
                <a:solidFill>
                  <a:srgbClr val="222222"/>
                </a:solidFill>
                <a:latin typeface="Times New Roman"/>
                <a:ea typeface="Times New Roman"/>
                <a:cs typeface="Times New Roman"/>
              </a:rPr>
              <a:t>Supply air</a:t>
            </a:r>
          </a:p>
        </p:txBody>
      </p:sp>
      <p:cxnSp>
        <p:nvCxnSpPr>
          <p:cNvPr id="51" name="air-return-a-0">
            <a:extLst xmlns:a="http://schemas.openxmlformats.org/drawingml/2006/main">
              <a:ext uri="{FF2B5EF4-FFF2-40B4-BE49-F238E27FC236}">
                <a16:creationId xmlns:a16="http://schemas.microsoft.com/office/drawing/2014/main" id="{FAC36977-1639-403B-B2F7-C509BA3A04CA}"/>
              </a:ext>
            </a:extLst>
          </p:cNvPr>
          <p:cNvCxnSpPr/>
          <p:nvPr/>
        </p:nvCxnSpPr>
        <p:spPr>
          <a:xfrm xmlns:a="http://schemas.openxmlformats.org/drawingml/2006/main">
            <a:off x="8724900" y="4953000"/>
            <a:ext cx="476250" cy="0"/>
          </a:xfrm>
          <a:prstGeom xmlns:a="http://schemas.openxmlformats.org/drawingml/2006/main" prst="straightConnector1">
            <a:avLst/>
          </a:prstGeom>
          <a:ln xmlns:a="http://schemas.openxmlformats.org/drawingml/2006/main" w="33338">
            <a:solidFill>
              <a:srgbClr val="777777"/>
            </a:solidFill>
            <a:prstDash val="solid"/>
          </a:ln>
        </p:spPr>
      </p:cxnSp>
      <p:cxnSp>
        <p:nvCxnSpPr>
          <p:cNvPr id="52" name="air-return-a-1">
            <a:extLst xmlns:a="http://schemas.openxmlformats.org/drawingml/2006/main">
              <a:ext uri="{FF2B5EF4-FFF2-40B4-BE49-F238E27FC236}">
                <a16:creationId xmlns:a16="http://schemas.microsoft.com/office/drawing/2014/main" id="{7DB0A5D0-C3D2-43B9-AC23-353C9B4AA610}"/>
              </a:ext>
            </a:extLst>
          </p:cNvPr>
          <p:cNvCxnSpPr/>
          <p:nvPr/>
        </p:nvCxnSpPr>
        <p:spPr>
          <a:xfrm xmlns:a="http://schemas.openxmlformats.org/drawingml/2006/main">
            <a:off x="8724900" y="4543425"/>
            <a:ext cx="0" cy="409575"/>
          </a:xfrm>
          <a:prstGeom xmlns:a="http://schemas.openxmlformats.org/drawingml/2006/main" prst="straightConnector1">
            <a:avLst/>
          </a:prstGeom>
          <a:ln xmlns:a="http://schemas.openxmlformats.org/drawingml/2006/main" w="33338">
            <a:solidFill>
              <a:srgbClr val="777777"/>
            </a:solidFill>
            <a:prstDash val="solid"/>
            <a:headEnd type="triangle" w="sm" len="sm"/>
          </a:ln>
        </p:spPr>
      </p:cxnSp>
      <p:sp>
        <p:nvSpPr>
          <p:cNvPr id="53" name="return-fan">
            <a:extLst xmlns:a="http://schemas.openxmlformats.org/drawingml/2006/main">
              <a:ext uri="{FF2B5EF4-FFF2-40B4-BE49-F238E27FC236}">
                <a16:creationId xmlns:a16="http://schemas.microsoft.com/office/drawing/2014/main" id="{2071C0DD-CE5F-4FF7-AF8F-44C4214A2B97}"/>
              </a:ext>
            </a:extLst>
          </p:cNvPr>
          <p:cNvSpPr>
            <a:spLocks xmlns:a="http://schemas.openxmlformats.org/drawingml/2006/main" noGrp="1"/>
          </p:cNvSpPr>
          <p:nvPr/>
        </p:nvSpPr>
        <p:spPr>
          <a:xfrm xmlns:a="http://schemas.openxmlformats.org/drawingml/2006/main">
            <a:off x="8515350" y="4124325"/>
            <a:ext cx="419100" cy="419100"/>
          </a:xfrm>
          <a:prstGeom xmlns:a="http://schemas.openxmlformats.org/drawingml/2006/main" prst="ellipse">
            <a:avLst/>
          </a:prstGeom>
          <a:solidFill xmlns:a="http://schemas.openxmlformats.org/drawingml/2006/main">
            <a:srgbClr val="FFFFFF"/>
          </a:solidFill>
          <a:ln xmlns:a="http://schemas.openxmlformats.org/drawingml/2006/main" w="12383">
            <a:solidFill>
              <a:srgbClr val="535353"/>
            </a:solidFill>
            <a:prstDash val="solid"/>
          </a:ln>
        </p:spPr>
        <p:txBody>
          <a:bodyPr xmlns:a="http://schemas.openxmlformats.org/drawingml/2006/main" lIns="0" tIns="0" rIns="0" bIns="0" anchor="ctr"/>
          <a:lstStyle xmlns:a="http://schemas.openxmlformats.org/drawingml/2006/main">
            <a:defPPr algn="ctr">
              <a:defRPr sz="1600">
                <a:solidFill>
                  <a:srgbClr val="222222"/>
                </a:solidFill>
                <a:latin typeface="Times New Roman"/>
                <a:ea typeface="Times New Roman"/>
                <a:cs typeface="Times New Roman"/>
              </a:defRPr>
            </a:defPPr>
            <a:lvl1pPr algn="ctr">
              <a:defRPr sz="1600">
                <a:solidFill>
                  <a:srgbClr val="222222"/>
                </a:solidFill>
                <a:latin typeface="Times New Roman"/>
                <a:ea typeface="Times New Roman"/>
                <a:cs typeface="Times New Roman"/>
              </a:defRPr>
            </a:lvl1pPr>
            <a:lvl2pPr algn="ctr">
              <a:defRPr sz="1600">
                <a:solidFill>
                  <a:srgbClr val="222222"/>
                </a:solidFill>
                <a:latin typeface="Times New Roman"/>
                <a:ea typeface="Times New Roman"/>
                <a:cs typeface="Times New Roman"/>
              </a:defRPr>
            </a:lvl2pPr>
            <a:lvl3pPr algn="ctr">
              <a:defRPr sz="1600">
                <a:solidFill>
                  <a:srgbClr val="222222"/>
                </a:solidFill>
                <a:latin typeface="Times New Roman"/>
                <a:ea typeface="Times New Roman"/>
                <a:cs typeface="Times New Roman"/>
              </a:defRPr>
            </a:lvl3pPr>
            <a:lvl4pPr algn="ctr">
              <a:defRPr sz="1600">
                <a:solidFill>
                  <a:srgbClr val="222222"/>
                </a:solidFill>
                <a:latin typeface="Times New Roman"/>
                <a:ea typeface="Times New Roman"/>
                <a:cs typeface="Times New Roman"/>
              </a:defRPr>
            </a:lvl4pPr>
            <a:lvl5pPr algn="ctr">
              <a:defRPr sz="1600">
                <a:solidFill>
                  <a:srgbClr val="222222"/>
                </a:solidFill>
                <a:latin typeface="Times New Roman"/>
                <a:ea typeface="Times New Roman"/>
                <a:cs typeface="Times New Roman"/>
              </a:defRPr>
            </a:lvl5pPr>
            <a:lvl6pPr algn="ctr">
              <a:defRPr sz="1600">
                <a:solidFill>
                  <a:srgbClr val="222222"/>
                </a:solidFill>
                <a:latin typeface="Times New Roman"/>
                <a:ea typeface="Times New Roman"/>
                <a:cs typeface="Times New Roman"/>
              </a:defRPr>
            </a:lvl6pPr>
            <a:lvl7pPr algn="ctr">
              <a:defRPr sz="1600">
                <a:solidFill>
                  <a:srgbClr val="222222"/>
                </a:solidFill>
                <a:latin typeface="Times New Roman"/>
                <a:ea typeface="Times New Roman"/>
                <a:cs typeface="Times New Roman"/>
              </a:defRPr>
            </a:lvl7pPr>
            <a:lvl8pPr algn="ctr">
              <a:defRPr sz="1600">
                <a:solidFill>
                  <a:srgbClr val="222222"/>
                </a:solidFill>
                <a:latin typeface="Times New Roman"/>
                <a:ea typeface="Times New Roman"/>
                <a:cs typeface="Times New Roman"/>
              </a:defRPr>
            </a:lvl8pPr>
            <a:lvl9pPr algn="ctr">
              <a:defRPr sz="1600">
                <a:solidFill>
                  <a:srgbClr val="222222"/>
                </a:solidFill>
                <a:latin typeface="Times New Roman"/>
                <a:ea typeface="Times New Roman"/>
                <a:cs typeface="Times New Roman"/>
              </a:defRPr>
            </a:lvl9pPr>
          </a:lstStyle>
          <a:p xmlns:a="http://schemas.openxmlformats.org/drawingml/2006/main">
            <a:pPr algn="ctr">
              <a:defRPr sz="1600">
                <a:solidFill>
                  <a:srgbClr val="222222"/>
                </a:solidFill>
                <a:latin typeface="Times New Roman"/>
                <a:ea typeface="Times New Roman"/>
                <a:cs typeface="Times New Roman"/>
              </a:defRPr>
            </a:pPr>
            <a:r>
              <a:rPr sz="1600">
                <a:solidFill>
                  <a:srgbClr val="222222"/>
                </a:solidFill>
                <a:latin typeface="Times New Roman"/>
                <a:ea typeface="Times New Roman"/>
                <a:cs typeface="Times New Roman"/>
              </a:rPr>
              <a:t>RF</a:t>
            </a:r>
          </a:p>
        </p:txBody>
      </p:sp>
      <p:cxnSp>
        <p:nvCxnSpPr>
          <p:cNvPr id="54" name="air-return-b-0">
            <a:extLst xmlns:a="http://schemas.openxmlformats.org/drawingml/2006/main">
              <a:ext uri="{FF2B5EF4-FFF2-40B4-BE49-F238E27FC236}">
                <a16:creationId xmlns:a16="http://schemas.microsoft.com/office/drawing/2014/main" id="{DD1320C9-8D14-4E56-AE31-975798B04AE6}"/>
              </a:ext>
            </a:extLst>
          </p:cNvPr>
          <p:cNvCxnSpPr/>
          <p:nvPr/>
        </p:nvCxnSpPr>
        <p:spPr>
          <a:xfrm xmlns:a="http://schemas.openxmlformats.org/drawingml/2006/main">
            <a:off x="8724900" y="3286125"/>
            <a:ext cx="0" cy="838200"/>
          </a:xfrm>
          <a:prstGeom xmlns:a="http://schemas.openxmlformats.org/drawingml/2006/main" prst="straightConnector1">
            <a:avLst/>
          </a:prstGeom>
          <a:ln xmlns:a="http://schemas.openxmlformats.org/drawingml/2006/main" w="33338">
            <a:solidFill>
              <a:srgbClr val="777777"/>
            </a:solidFill>
            <a:prstDash val="solid"/>
          </a:ln>
        </p:spPr>
      </p:cxnSp>
      <p:cxnSp>
        <p:nvCxnSpPr>
          <p:cNvPr id="55" name="air-return-b-1">
            <a:extLst xmlns:a="http://schemas.openxmlformats.org/drawingml/2006/main">
              <a:ext uri="{FF2B5EF4-FFF2-40B4-BE49-F238E27FC236}">
                <a16:creationId xmlns:a16="http://schemas.microsoft.com/office/drawing/2014/main" id="{0B1ED526-0C64-4E4E-B54A-EC42540E2EFE}"/>
              </a:ext>
            </a:extLst>
          </p:cNvPr>
          <p:cNvCxnSpPr/>
          <p:nvPr/>
        </p:nvCxnSpPr>
        <p:spPr>
          <a:xfrm xmlns:a="http://schemas.openxmlformats.org/drawingml/2006/main">
            <a:off x="8724900" y="3286125"/>
            <a:ext cx="609600" cy="0"/>
          </a:xfrm>
          <a:prstGeom xmlns:a="http://schemas.openxmlformats.org/drawingml/2006/main" prst="straightConnector1">
            <a:avLst/>
          </a:prstGeom>
          <a:ln xmlns:a="http://schemas.openxmlformats.org/drawingml/2006/main" w="33338">
            <a:solidFill>
              <a:srgbClr val="777777"/>
            </a:solidFill>
            <a:prstDash val="solid"/>
            <a:tailEnd type="triangle" w="sm" len="sm"/>
          </a:ln>
        </p:spPr>
      </p:cxnSp>
      <p:sp>
        <p:nvSpPr>
          <p:cNvPr id="56" name="return-label">
            <a:extLst xmlns:a="http://schemas.openxmlformats.org/drawingml/2006/main">
              <a:ext uri="{FF2B5EF4-FFF2-40B4-BE49-F238E27FC236}">
                <a16:creationId xmlns:a16="http://schemas.microsoft.com/office/drawing/2014/main" id="{D8E6A2B8-B072-474C-891F-9897D03F4180}"/>
              </a:ext>
            </a:extLst>
          </p:cNvPr>
          <p:cNvSpPr>
            <a:spLocks xmlns:a="http://schemas.openxmlformats.org/drawingml/2006/main" noGrp="1"/>
          </p:cNvSpPr>
          <p:nvPr/>
        </p:nvSpPr>
        <p:spPr>
          <a:xfrm xmlns:a="http://schemas.openxmlformats.org/drawingml/2006/main">
            <a:off x="7410450" y="46863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00" b="0">
                <a:solidFill>
                  <a:srgbClr val="222222"/>
                </a:solidFill>
                <a:latin typeface="Times New Roman"/>
                <a:ea typeface="Times New Roman"/>
                <a:cs typeface="Times New Roman"/>
              </a:defRPr>
            </a:defPPr>
            <a:lvl1pPr algn="l">
              <a:defRPr sz="1600" b="0">
                <a:solidFill>
                  <a:srgbClr val="222222"/>
                </a:solidFill>
                <a:latin typeface="Times New Roman"/>
                <a:ea typeface="Times New Roman"/>
                <a:cs typeface="Times New Roman"/>
              </a:defRPr>
            </a:lvl1pPr>
            <a:lvl2pPr algn="l">
              <a:defRPr sz="1600" b="0">
                <a:solidFill>
                  <a:srgbClr val="222222"/>
                </a:solidFill>
                <a:latin typeface="Times New Roman"/>
                <a:ea typeface="Times New Roman"/>
                <a:cs typeface="Times New Roman"/>
              </a:defRPr>
            </a:lvl2pPr>
            <a:lvl3pPr algn="l">
              <a:defRPr sz="1600" b="0">
                <a:solidFill>
                  <a:srgbClr val="222222"/>
                </a:solidFill>
                <a:latin typeface="Times New Roman"/>
                <a:ea typeface="Times New Roman"/>
                <a:cs typeface="Times New Roman"/>
              </a:defRPr>
            </a:lvl3pPr>
            <a:lvl4pPr algn="l">
              <a:defRPr sz="1600" b="0">
                <a:solidFill>
                  <a:srgbClr val="222222"/>
                </a:solidFill>
                <a:latin typeface="Times New Roman"/>
                <a:ea typeface="Times New Roman"/>
                <a:cs typeface="Times New Roman"/>
              </a:defRPr>
            </a:lvl4pPr>
            <a:lvl5pPr algn="l">
              <a:defRPr sz="1600" b="0">
                <a:solidFill>
                  <a:srgbClr val="222222"/>
                </a:solidFill>
                <a:latin typeface="Times New Roman"/>
                <a:ea typeface="Times New Roman"/>
                <a:cs typeface="Times New Roman"/>
              </a:defRPr>
            </a:lvl5pPr>
            <a:lvl6pPr algn="l">
              <a:defRPr sz="1600" b="0">
                <a:solidFill>
                  <a:srgbClr val="222222"/>
                </a:solidFill>
                <a:latin typeface="Times New Roman"/>
                <a:ea typeface="Times New Roman"/>
                <a:cs typeface="Times New Roman"/>
              </a:defRPr>
            </a:lvl6pPr>
            <a:lvl7pPr algn="l">
              <a:defRPr sz="1600" b="0">
                <a:solidFill>
                  <a:srgbClr val="222222"/>
                </a:solidFill>
                <a:latin typeface="Times New Roman"/>
                <a:ea typeface="Times New Roman"/>
                <a:cs typeface="Times New Roman"/>
              </a:defRPr>
            </a:lvl7pPr>
            <a:lvl8pPr algn="l">
              <a:defRPr sz="1600" b="0">
                <a:solidFill>
                  <a:srgbClr val="222222"/>
                </a:solidFill>
                <a:latin typeface="Times New Roman"/>
                <a:ea typeface="Times New Roman"/>
                <a:cs typeface="Times New Roman"/>
              </a:defRPr>
            </a:lvl8pPr>
            <a:lvl9pPr algn="l">
              <a:defRPr sz="1600" b="0">
                <a:solidFill>
                  <a:srgbClr val="222222"/>
                </a:solidFill>
                <a:latin typeface="Times New Roman"/>
                <a:ea typeface="Times New Roman"/>
                <a:cs typeface="Times New Roman"/>
              </a:defRPr>
            </a:lvl9pPr>
          </a:lstStyle>
          <a:p xmlns:a="http://schemas.openxmlformats.org/drawingml/2006/main">
            <a:pPr algn="l">
              <a:defRPr sz="1600" b="0">
                <a:solidFill>
                  <a:srgbClr val="222222"/>
                </a:solidFill>
                <a:latin typeface="Times New Roman"/>
                <a:ea typeface="Times New Roman"/>
                <a:cs typeface="Times New Roman"/>
              </a:defRPr>
            </a:pPr>
            <a:r>
              <a:rPr sz="1600" b="0">
                <a:solidFill>
                  <a:srgbClr val="222222"/>
                </a:solidFill>
                <a:latin typeface="Times New Roman"/>
                <a:ea typeface="Times New Roman"/>
                <a:cs typeface="Times New Roman"/>
              </a:rPr>
              <a:t>Return air</a:t>
            </a:r>
          </a:p>
        </p:txBody>
      </p:sp>
      <p:cxnSp>
        <p:nvCxnSpPr>
          <p:cNvPr id="57" name="bas-chillers-0">
            <a:extLst xmlns:a="http://schemas.openxmlformats.org/drawingml/2006/main">
              <a:ext uri="{FF2B5EF4-FFF2-40B4-BE49-F238E27FC236}">
                <a16:creationId xmlns:a16="http://schemas.microsoft.com/office/drawing/2014/main" id="{145715E4-C26A-4F24-9B5D-10393C138DD4}"/>
              </a:ext>
            </a:extLst>
          </p:cNvPr>
          <p:cNvCxnSpPr/>
          <p:nvPr/>
        </p:nvCxnSpPr>
        <p:spPr>
          <a:xfrm xmlns:a="http://schemas.openxmlformats.org/drawingml/2006/main">
            <a:off x="5619750" y="1619250"/>
            <a:ext cx="0" cy="838200"/>
          </a:xfrm>
          <a:prstGeom xmlns:a="http://schemas.openxmlformats.org/drawingml/2006/main" prst="straightConnector1">
            <a:avLst/>
          </a:prstGeom>
          <a:ln xmlns:a="http://schemas.openxmlformats.org/drawingml/2006/main" w="13335">
            <a:solidFill>
              <a:srgbClr val="535353"/>
            </a:solidFill>
            <a:prstDash val="dot"/>
            <a:tailEnd type="triangle" w="sm" len="sm"/>
          </a:ln>
        </p:spPr>
      </p:cxnSp>
      <p:cxnSp>
        <p:nvCxnSpPr>
          <p:cNvPr id="58" name="bas-ahu-0">
            <a:extLst xmlns:a="http://schemas.openxmlformats.org/drawingml/2006/main">
              <a:ext uri="{FF2B5EF4-FFF2-40B4-BE49-F238E27FC236}">
                <a16:creationId xmlns:a16="http://schemas.microsoft.com/office/drawing/2014/main" id="{A31F90E3-E273-45D8-A20A-C9E77E572896}"/>
              </a:ext>
            </a:extLst>
          </p:cNvPr>
          <p:cNvCxnSpPr/>
          <p:nvPr/>
        </p:nvCxnSpPr>
        <p:spPr>
          <a:xfrm xmlns:a="http://schemas.openxmlformats.org/drawingml/2006/main">
            <a:off x="10934700" y="1619250"/>
            <a:ext cx="0" cy="962025"/>
          </a:xfrm>
          <a:prstGeom xmlns:a="http://schemas.openxmlformats.org/drawingml/2006/main" prst="straightConnector1">
            <a:avLst/>
          </a:prstGeom>
          <a:ln xmlns:a="http://schemas.openxmlformats.org/drawingml/2006/main" w="13335">
            <a:solidFill>
              <a:srgbClr val="535353"/>
            </a:solidFill>
            <a:prstDash val="dot"/>
            <a:tailEnd type="triangle" w="sm" len="sm"/>
          </a:ln>
        </p:spPr>
      </p:cxnSp>
      <p:cxnSp>
        <p:nvCxnSpPr>
          <p:cNvPr id="59" name="tower-heat-0">
            <a:extLst xmlns:a="http://schemas.openxmlformats.org/drawingml/2006/main">
              <a:ext uri="{FF2B5EF4-FFF2-40B4-BE49-F238E27FC236}">
                <a16:creationId xmlns:a16="http://schemas.microsoft.com/office/drawing/2014/main" id="{B7AFD32B-2A44-4E27-9D60-4191057F82B7}"/>
              </a:ext>
            </a:extLst>
          </p:cNvPr>
          <p:cNvCxnSpPr/>
          <p:nvPr/>
        </p:nvCxnSpPr>
        <p:spPr>
          <a:xfrm xmlns:a="http://schemas.openxmlformats.org/drawingml/2006/main">
            <a:off x="866775" y="1885950"/>
            <a:ext cx="0" cy="400050"/>
          </a:xfrm>
          <a:prstGeom xmlns:a="http://schemas.openxmlformats.org/drawingml/2006/main" prst="straightConnector1">
            <a:avLst/>
          </a:prstGeom>
          <a:ln xmlns:a="http://schemas.openxmlformats.org/drawingml/2006/main" w="28575">
            <a:solidFill>
              <a:srgbClr val="777777"/>
            </a:solidFill>
            <a:prstDash val="solid"/>
            <a:headEnd type="triangle" w="sm" len="sm"/>
          </a:ln>
        </p:spPr>
      </p:cxnSp>
      <p:sp>
        <p:nvSpPr>
          <p:cNvPr id="60" name="heat-label">
            <a:extLst xmlns:a="http://schemas.openxmlformats.org/drawingml/2006/main">
              <a:ext uri="{FF2B5EF4-FFF2-40B4-BE49-F238E27FC236}">
                <a16:creationId xmlns:a16="http://schemas.microsoft.com/office/drawing/2014/main" id="{F5557037-3B8E-4672-99D0-5371FDC865BA}"/>
              </a:ext>
            </a:extLst>
          </p:cNvPr>
          <p:cNvSpPr>
            <a:spLocks xmlns:a="http://schemas.openxmlformats.org/drawingml/2006/main" noGrp="1"/>
          </p:cNvSpPr>
          <p:nvPr/>
        </p:nvSpPr>
        <p:spPr>
          <a:xfrm xmlns:a="http://schemas.openxmlformats.org/drawingml/2006/main">
            <a:off x="1047750" y="1704975"/>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00" b="0">
                <a:solidFill>
                  <a:srgbClr val="222222"/>
                </a:solidFill>
                <a:latin typeface="Times New Roman"/>
                <a:ea typeface="Times New Roman"/>
                <a:cs typeface="Times New Roman"/>
              </a:defRPr>
            </a:defPPr>
            <a:lvl1pPr algn="l">
              <a:defRPr sz="1600" b="0">
                <a:solidFill>
                  <a:srgbClr val="222222"/>
                </a:solidFill>
                <a:latin typeface="Times New Roman"/>
                <a:ea typeface="Times New Roman"/>
                <a:cs typeface="Times New Roman"/>
              </a:defRPr>
            </a:lvl1pPr>
            <a:lvl2pPr algn="l">
              <a:defRPr sz="1600" b="0">
                <a:solidFill>
                  <a:srgbClr val="222222"/>
                </a:solidFill>
                <a:latin typeface="Times New Roman"/>
                <a:ea typeface="Times New Roman"/>
                <a:cs typeface="Times New Roman"/>
              </a:defRPr>
            </a:lvl2pPr>
            <a:lvl3pPr algn="l">
              <a:defRPr sz="1600" b="0">
                <a:solidFill>
                  <a:srgbClr val="222222"/>
                </a:solidFill>
                <a:latin typeface="Times New Roman"/>
                <a:ea typeface="Times New Roman"/>
                <a:cs typeface="Times New Roman"/>
              </a:defRPr>
            </a:lvl3pPr>
            <a:lvl4pPr algn="l">
              <a:defRPr sz="1600" b="0">
                <a:solidFill>
                  <a:srgbClr val="222222"/>
                </a:solidFill>
                <a:latin typeface="Times New Roman"/>
                <a:ea typeface="Times New Roman"/>
                <a:cs typeface="Times New Roman"/>
              </a:defRPr>
            </a:lvl4pPr>
            <a:lvl5pPr algn="l">
              <a:defRPr sz="1600" b="0">
                <a:solidFill>
                  <a:srgbClr val="222222"/>
                </a:solidFill>
                <a:latin typeface="Times New Roman"/>
                <a:ea typeface="Times New Roman"/>
                <a:cs typeface="Times New Roman"/>
              </a:defRPr>
            </a:lvl5pPr>
            <a:lvl6pPr algn="l">
              <a:defRPr sz="1600" b="0">
                <a:solidFill>
                  <a:srgbClr val="222222"/>
                </a:solidFill>
                <a:latin typeface="Times New Roman"/>
                <a:ea typeface="Times New Roman"/>
                <a:cs typeface="Times New Roman"/>
              </a:defRPr>
            </a:lvl6pPr>
            <a:lvl7pPr algn="l">
              <a:defRPr sz="1600" b="0">
                <a:solidFill>
                  <a:srgbClr val="222222"/>
                </a:solidFill>
                <a:latin typeface="Times New Roman"/>
                <a:ea typeface="Times New Roman"/>
                <a:cs typeface="Times New Roman"/>
              </a:defRPr>
            </a:lvl7pPr>
            <a:lvl8pPr algn="l">
              <a:defRPr sz="1600" b="0">
                <a:solidFill>
                  <a:srgbClr val="222222"/>
                </a:solidFill>
                <a:latin typeface="Times New Roman"/>
                <a:ea typeface="Times New Roman"/>
                <a:cs typeface="Times New Roman"/>
              </a:defRPr>
            </a:lvl8pPr>
            <a:lvl9pPr algn="l">
              <a:defRPr sz="1600" b="0">
                <a:solidFill>
                  <a:srgbClr val="222222"/>
                </a:solidFill>
                <a:latin typeface="Times New Roman"/>
                <a:ea typeface="Times New Roman"/>
                <a:cs typeface="Times New Roman"/>
              </a:defRPr>
            </a:lvl9pPr>
          </a:lstStyle>
          <a:p xmlns:a="http://schemas.openxmlformats.org/drawingml/2006/main">
            <a:pPr algn="l">
              <a:defRPr sz="1600" b="0">
                <a:solidFill>
                  <a:srgbClr val="222222"/>
                </a:solidFill>
                <a:latin typeface="Times New Roman"/>
                <a:ea typeface="Times New Roman"/>
                <a:cs typeface="Times New Roman"/>
              </a:defRPr>
            </a:pPr>
            <a:r>
              <a:rPr sz="1600" b="0">
                <a:solidFill>
                  <a:srgbClr val="222222"/>
                </a:solidFill>
                <a:latin typeface="Times New Roman"/>
                <a:ea typeface="Times New Roman"/>
                <a:cs typeface="Times New Roman"/>
              </a:rPr>
              <a:t>Heat to outdoor air</a:t>
            </a:r>
          </a:p>
        </p:txBody>
      </p:sp>
      <p:cxnSp>
        <p:nvCxnSpPr>
          <p:cNvPr id="61" name="legend-chw">
            <a:extLst xmlns:a="http://schemas.openxmlformats.org/drawingml/2006/main">
              <a:ext uri="{FF2B5EF4-FFF2-40B4-BE49-F238E27FC236}">
                <a16:creationId xmlns:a16="http://schemas.microsoft.com/office/drawing/2014/main" id="{5F2219FD-631E-40AA-B94E-DD77FE53CCAC}"/>
              </a:ext>
            </a:extLst>
          </p:cNvPr>
          <p:cNvCxnSpPr/>
          <p:nvPr/>
        </p:nvCxnSpPr>
        <p:spPr>
          <a:xfrm xmlns:a="http://schemas.openxmlformats.org/drawingml/2006/main">
            <a:off x="552450" y="4705350"/>
            <a:ext cx="457200" cy="0"/>
          </a:xfrm>
          <a:prstGeom xmlns:a="http://schemas.openxmlformats.org/drawingml/2006/main" prst="straightConnector1">
            <a:avLst/>
          </a:prstGeom>
          <a:ln xmlns:a="http://schemas.openxmlformats.org/drawingml/2006/main" w="17145">
            <a:solidFill>
              <a:srgbClr val="535353"/>
            </a:solidFill>
            <a:prstDash val="solid"/>
          </a:ln>
        </p:spPr>
      </p:cxnSp>
      <p:sp>
        <p:nvSpPr>
          <p:cNvPr id="62" name="legend-chw-t">
            <a:extLst xmlns:a="http://schemas.openxmlformats.org/drawingml/2006/main">
              <a:ext uri="{FF2B5EF4-FFF2-40B4-BE49-F238E27FC236}">
                <a16:creationId xmlns:a16="http://schemas.microsoft.com/office/drawing/2014/main" id="{D6DA5DD1-F4A7-4A28-90E7-9138D2D14FB1}"/>
              </a:ext>
            </a:extLst>
          </p:cNvPr>
          <p:cNvSpPr>
            <a:spLocks xmlns:a="http://schemas.openxmlformats.org/drawingml/2006/main" noGrp="1"/>
          </p:cNvSpPr>
          <p:nvPr/>
        </p:nvSpPr>
        <p:spPr>
          <a:xfrm xmlns:a="http://schemas.openxmlformats.org/drawingml/2006/main">
            <a:off x="1104900" y="45720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222222"/>
                </a:solidFill>
                <a:latin typeface="Times New Roman"/>
                <a:ea typeface="Times New Roman"/>
                <a:cs typeface="Times New Roman"/>
              </a:defRPr>
            </a:defPPr>
            <a:lvl1pPr algn="l">
              <a:defRPr sz="1500" b="0">
                <a:solidFill>
                  <a:srgbClr val="222222"/>
                </a:solidFill>
                <a:latin typeface="Times New Roman"/>
                <a:ea typeface="Times New Roman"/>
                <a:cs typeface="Times New Roman"/>
              </a:defRPr>
            </a:lvl1pPr>
            <a:lvl2pPr algn="l">
              <a:defRPr sz="1500" b="0">
                <a:solidFill>
                  <a:srgbClr val="222222"/>
                </a:solidFill>
                <a:latin typeface="Times New Roman"/>
                <a:ea typeface="Times New Roman"/>
                <a:cs typeface="Times New Roman"/>
              </a:defRPr>
            </a:lvl2pPr>
            <a:lvl3pPr algn="l">
              <a:defRPr sz="1500" b="0">
                <a:solidFill>
                  <a:srgbClr val="222222"/>
                </a:solidFill>
                <a:latin typeface="Times New Roman"/>
                <a:ea typeface="Times New Roman"/>
                <a:cs typeface="Times New Roman"/>
              </a:defRPr>
            </a:lvl3pPr>
            <a:lvl4pPr algn="l">
              <a:defRPr sz="1500" b="0">
                <a:solidFill>
                  <a:srgbClr val="222222"/>
                </a:solidFill>
                <a:latin typeface="Times New Roman"/>
                <a:ea typeface="Times New Roman"/>
                <a:cs typeface="Times New Roman"/>
              </a:defRPr>
            </a:lvl4pPr>
            <a:lvl5pPr algn="l">
              <a:defRPr sz="1500" b="0">
                <a:solidFill>
                  <a:srgbClr val="222222"/>
                </a:solidFill>
                <a:latin typeface="Times New Roman"/>
                <a:ea typeface="Times New Roman"/>
                <a:cs typeface="Times New Roman"/>
              </a:defRPr>
            </a:lvl5pPr>
            <a:lvl6pPr algn="l">
              <a:defRPr sz="1500" b="0">
                <a:solidFill>
                  <a:srgbClr val="222222"/>
                </a:solidFill>
                <a:latin typeface="Times New Roman"/>
                <a:ea typeface="Times New Roman"/>
                <a:cs typeface="Times New Roman"/>
              </a:defRPr>
            </a:lvl6pPr>
            <a:lvl7pPr algn="l">
              <a:defRPr sz="1500" b="0">
                <a:solidFill>
                  <a:srgbClr val="222222"/>
                </a:solidFill>
                <a:latin typeface="Times New Roman"/>
                <a:ea typeface="Times New Roman"/>
                <a:cs typeface="Times New Roman"/>
              </a:defRPr>
            </a:lvl7pPr>
            <a:lvl8pPr algn="l">
              <a:defRPr sz="1500" b="0">
                <a:solidFill>
                  <a:srgbClr val="222222"/>
                </a:solidFill>
                <a:latin typeface="Times New Roman"/>
                <a:ea typeface="Times New Roman"/>
                <a:cs typeface="Times New Roman"/>
              </a:defRPr>
            </a:lvl8pPr>
            <a:lvl9pPr algn="l">
              <a:defRPr sz="1500" b="0">
                <a:solidFill>
                  <a:srgbClr val="222222"/>
                </a:solidFill>
                <a:latin typeface="Times New Roman"/>
                <a:ea typeface="Times New Roman"/>
                <a:cs typeface="Times New Roman"/>
              </a:defRPr>
            </a:lvl9pPr>
          </a:lstStyle>
          <a:p xmlns:a="http://schemas.openxmlformats.org/drawingml/2006/main">
            <a:pPr algn="l">
              <a:defRPr sz="1500" b="0">
                <a:solidFill>
                  <a:srgbClr val="222222"/>
                </a:solidFill>
                <a:latin typeface="Times New Roman"/>
                <a:ea typeface="Times New Roman"/>
                <a:cs typeface="Times New Roman"/>
              </a:defRPr>
            </a:pPr>
            <a:r>
              <a:rPr sz="1500" b="0">
                <a:solidFill>
                  <a:srgbClr val="222222"/>
                </a:solidFill>
                <a:latin typeface="Times New Roman"/>
                <a:ea typeface="Times New Roman"/>
                <a:cs typeface="Times New Roman"/>
              </a:rPr>
              <a:t>Chilled water (CHW)</a:t>
            </a:r>
          </a:p>
        </p:txBody>
      </p:sp>
      <p:cxnSp>
        <p:nvCxnSpPr>
          <p:cNvPr id="63" name="legend-cw">
            <a:extLst xmlns:a="http://schemas.openxmlformats.org/drawingml/2006/main">
              <a:ext uri="{FF2B5EF4-FFF2-40B4-BE49-F238E27FC236}">
                <a16:creationId xmlns:a16="http://schemas.microsoft.com/office/drawing/2014/main" id="{D99824E6-0F35-47F2-B766-5F54AB3F2953}"/>
              </a:ext>
            </a:extLst>
          </p:cNvPr>
          <p:cNvCxnSpPr/>
          <p:nvPr/>
        </p:nvCxnSpPr>
        <p:spPr>
          <a:xfrm xmlns:a="http://schemas.openxmlformats.org/drawingml/2006/main">
            <a:off x="552450" y="5019675"/>
            <a:ext cx="457200" cy="0"/>
          </a:xfrm>
          <a:prstGeom xmlns:a="http://schemas.openxmlformats.org/drawingml/2006/main" prst="straightConnector1">
            <a:avLst/>
          </a:prstGeom>
          <a:ln xmlns:a="http://schemas.openxmlformats.org/drawingml/2006/main" w="17145">
            <a:solidFill>
              <a:srgbClr val="535353"/>
            </a:solidFill>
            <a:prstDash val="dash"/>
          </a:ln>
        </p:spPr>
      </p:cxnSp>
      <p:sp>
        <p:nvSpPr>
          <p:cNvPr id="64" name="legend-cw-t">
            <a:extLst xmlns:a="http://schemas.openxmlformats.org/drawingml/2006/main">
              <a:ext uri="{FF2B5EF4-FFF2-40B4-BE49-F238E27FC236}">
                <a16:creationId xmlns:a16="http://schemas.microsoft.com/office/drawing/2014/main" id="{1DC8C826-5D71-4EF5-B8F9-CD6C2216ADD4}"/>
              </a:ext>
            </a:extLst>
          </p:cNvPr>
          <p:cNvSpPr>
            <a:spLocks xmlns:a="http://schemas.openxmlformats.org/drawingml/2006/main" noGrp="1"/>
          </p:cNvSpPr>
          <p:nvPr/>
        </p:nvSpPr>
        <p:spPr>
          <a:xfrm xmlns:a="http://schemas.openxmlformats.org/drawingml/2006/main">
            <a:off x="1104900" y="488632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222222"/>
                </a:solidFill>
                <a:latin typeface="Times New Roman"/>
                <a:ea typeface="Times New Roman"/>
                <a:cs typeface="Times New Roman"/>
              </a:defRPr>
            </a:defPPr>
            <a:lvl1pPr algn="l">
              <a:defRPr sz="1500" b="0">
                <a:solidFill>
                  <a:srgbClr val="222222"/>
                </a:solidFill>
                <a:latin typeface="Times New Roman"/>
                <a:ea typeface="Times New Roman"/>
                <a:cs typeface="Times New Roman"/>
              </a:defRPr>
            </a:lvl1pPr>
            <a:lvl2pPr algn="l">
              <a:defRPr sz="1500" b="0">
                <a:solidFill>
                  <a:srgbClr val="222222"/>
                </a:solidFill>
                <a:latin typeface="Times New Roman"/>
                <a:ea typeface="Times New Roman"/>
                <a:cs typeface="Times New Roman"/>
              </a:defRPr>
            </a:lvl2pPr>
            <a:lvl3pPr algn="l">
              <a:defRPr sz="1500" b="0">
                <a:solidFill>
                  <a:srgbClr val="222222"/>
                </a:solidFill>
                <a:latin typeface="Times New Roman"/>
                <a:ea typeface="Times New Roman"/>
                <a:cs typeface="Times New Roman"/>
              </a:defRPr>
            </a:lvl3pPr>
            <a:lvl4pPr algn="l">
              <a:defRPr sz="1500" b="0">
                <a:solidFill>
                  <a:srgbClr val="222222"/>
                </a:solidFill>
                <a:latin typeface="Times New Roman"/>
                <a:ea typeface="Times New Roman"/>
                <a:cs typeface="Times New Roman"/>
              </a:defRPr>
            </a:lvl4pPr>
            <a:lvl5pPr algn="l">
              <a:defRPr sz="1500" b="0">
                <a:solidFill>
                  <a:srgbClr val="222222"/>
                </a:solidFill>
                <a:latin typeface="Times New Roman"/>
                <a:ea typeface="Times New Roman"/>
                <a:cs typeface="Times New Roman"/>
              </a:defRPr>
            </a:lvl5pPr>
            <a:lvl6pPr algn="l">
              <a:defRPr sz="1500" b="0">
                <a:solidFill>
                  <a:srgbClr val="222222"/>
                </a:solidFill>
                <a:latin typeface="Times New Roman"/>
                <a:ea typeface="Times New Roman"/>
                <a:cs typeface="Times New Roman"/>
              </a:defRPr>
            </a:lvl6pPr>
            <a:lvl7pPr algn="l">
              <a:defRPr sz="1500" b="0">
                <a:solidFill>
                  <a:srgbClr val="222222"/>
                </a:solidFill>
                <a:latin typeface="Times New Roman"/>
                <a:ea typeface="Times New Roman"/>
                <a:cs typeface="Times New Roman"/>
              </a:defRPr>
            </a:lvl7pPr>
            <a:lvl8pPr algn="l">
              <a:defRPr sz="1500" b="0">
                <a:solidFill>
                  <a:srgbClr val="222222"/>
                </a:solidFill>
                <a:latin typeface="Times New Roman"/>
                <a:ea typeface="Times New Roman"/>
                <a:cs typeface="Times New Roman"/>
              </a:defRPr>
            </a:lvl8pPr>
            <a:lvl9pPr algn="l">
              <a:defRPr sz="1500" b="0">
                <a:solidFill>
                  <a:srgbClr val="222222"/>
                </a:solidFill>
                <a:latin typeface="Times New Roman"/>
                <a:ea typeface="Times New Roman"/>
                <a:cs typeface="Times New Roman"/>
              </a:defRPr>
            </a:lvl9pPr>
          </a:lstStyle>
          <a:p xmlns:a="http://schemas.openxmlformats.org/drawingml/2006/main">
            <a:pPr algn="l">
              <a:defRPr sz="1500" b="0">
                <a:solidFill>
                  <a:srgbClr val="222222"/>
                </a:solidFill>
                <a:latin typeface="Times New Roman"/>
                <a:ea typeface="Times New Roman"/>
                <a:cs typeface="Times New Roman"/>
              </a:defRPr>
            </a:pPr>
            <a:r>
              <a:rPr sz="1500" b="0">
                <a:solidFill>
                  <a:srgbClr val="222222"/>
                </a:solidFill>
                <a:latin typeface="Times New Roman"/>
                <a:ea typeface="Times New Roman"/>
                <a:cs typeface="Times New Roman"/>
              </a:rPr>
              <a:t>Condenser water (CW)</a:t>
            </a:r>
          </a:p>
        </p:txBody>
      </p:sp>
      <p:cxnSp>
        <p:nvCxnSpPr>
          <p:cNvPr id="65" name="legend-air">
            <a:extLst xmlns:a="http://schemas.openxmlformats.org/drawingml/2006/main">
              <a:ext uri="{FF2B5EF4-FFF2-40B4-BE49-F238E27FC236}">
                <a16:creationId xmlns:a16="http://schemas.microsoft.com/office/drawing/2014/main" id="{89F07F9D-493E-4F9A-83AE-7992E876C758}"/>
              </a:ext>
            </a:extLst>
          </p:cNvPr>
          <p:cNvCxnSpPr/>
          <p:nvPr/>
        </p:nvCxnSpPr>
        <p:spPr>
          <a:xfrm xmlns:a="http://schemas.openxmlformats.org/drawingml/2006/main">
            <a:off x="4105275" y="4705350"/>
            <a:ext cx="457200" cy="0"/>
          </a:xfrm>
          <a:prstGeom xmlns:a="http://schemas.openxmlformats.org/drawingml/2006/main" prst="straightConnector1">
            <a:avLst/>
          </a:prstGeom>
          <a:ln xmlns:a="http://schemas.openxmlformats.org/drawingml/2006/main" w="33338">
            <a:solidFill>
              <a:srgbClr val="777777"/>
            </a:solidFill>
            <a:prstDash val="solid"/>
          </a:ln>
        </p:spPr>
      </p:cxnSp>
      <p:sp>
        <p:nvSpPr>
          <p:cNvPr id="66" name="legend-air-t">
            <a:extLst xmlns:a="http://schemas.openxmlformats.org/drawingml/2006/main">
              <a:ext uri="{FF2B5EF4-FFF2-40B4-BE49-F238E27FC236}">
                <a16:creationId xmlns:a16="http://schemas.microsoft.com/office/drawing/2014/main" id="{C586C1D6-F402-4C6D-8C6D-5A823D458C35}"/>
              </a:ext>
            </a:extLst>
          </p:cNvPr>
          <p:cNvSpPr>
            <a:spLocks xmlns:a="http://schemas.openxmlformats.org/drawingml/2006/main" noGrp="1"/>
          </p:cNvSpPr>
          <p:nvPr/>
        </p:nvSpPr>
        <p:spPr>
          <a:xfrm xmlns:a="http://schemas.openxmlformats.org/drawingml/2006/main">
            <a:off x="4657725" y="45720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222222"/>
                </a:solidFill>
                <a:latin typeface="Times New Roman"/>
                <a:ea typeface="Times New Roman"/>
                <a:cs typeface="Times New Roman"/>
              </a:defRPr>
            </a:defPPr>
            <a:lvl1pPr algn="l">
              <a:defRPr sz="1500" b="0">
                <a:solidFill>
                  <a:srgbClr val="222222"/>
                </a:solidFill>
                <a:latin typeface="Times New Roman"/>
                <a:ea typeface="Times New Roman"/>
                <a:cs typeface="Times New Roman"/>
              </a:defRPr>
            </a:lvl1pPr>
            <a:lvl2pPr algn="l">
              <a:defRPr sz="1500" b="0">
                <a:solidFill>
                  <a:srgbClr val="222222"/>
                </a:solidFill>
                <a:latin typeface="Times New Roman"/>
                <a:ea typeface="Times New Roman"/>
                <a:cs typeface="Times New Roman"/>
              </a:defRPr>
            </a:lvl2pPr>
            <a:lvl3pPr algn="l">
              <a:defRPr sz="1500" b="0">
                <a:solidFill>
                  <a:srgbClr val="222222"/>
                </a:solidFill>
                <a:latin typeface="Times New Roman"/>
                <a:ea typeface="Times New Roman"/>
                <a:cs typeface="Times New Roman"/>
              </a:defRPr>
            </a:lvl3pPr>
            <a:lvl4pPr algn="l">
              <a:defRPr sz="1500" b="0">
                <a:solidFill>
                  <a:srgbClr val="222222"/>
                </a:solidFill>
                <a:latin typeface="Times New Roman"/>
                <a:ea typeface="Times New Roman"/>
                <a:cs typeface="Times New Roman"/>
              </a:defRPr>
            </a:lvl4pPr>
            <a:lvl5pPr algn="l">
              <a:defRPr sz="1500" b="0">
                <a:solidFill>
                  <a:srgbClr val="222222"/>
                </a:solidFill>
                <a:latin typeface="Times New Roman"/>
                <a:ea typeface="Times New Roman"/>
                <a:cs typeface="Times New Roman"/>
              </a:defRPr>
            </a:lvl5pPr>
            <a:lvl6pPr algn="l">
              <a:defRPr sz="1500" b="0">
                <a:solidFill>
                  <a:srgbClr val="222222"/>
                </a:solidFill>
                <a:latin typeface="Times New Roman"/>
                <a:ea typeface="Times New Roman"/>
                <a:cs typeface="Times New Roman"/>
              </a:defRPr>
            </a:lvl6pPr>
            <a:lvl7pPr algn="l">
              <a:defRPr sz="1500" b="0">
                <a:solidFill>
                  <a:srgbClr val="222222"/>
                </a:solidFill>
                <a:latin typeface="Times New Roman"/>
                <a:ea typeface="Times New Roman"/>
                <a:cs typeface="Times New Roman"/>
              </a:defRPr>
            </a:lvl7pPr>
            <a:lvl8pPr algn="l">
              <a:defRPr sz="1500" b="0">
                <a:solidFill>
                  <a:srgbClr val="222222"/>
                </a:solidFill>
                <a:latin typeface="Times New Roman"/>
                <a:ea typeface="Times New Roman"/>
                <a:cs typeface="Times New Roman"/>
              </a:defRPr>
            </a:lvl8pPr>
            <a:lvl9pPr algn="l">
              <a:defRPr sz="1500" b="0">
                <a:solidFill>
                  <a:srgbClr val="222222"/>
                </a:solidFill>
                <a:latin typeface="Times New Roman"/>
                <a:ea typeface="Times New Roman"/>
                <a:cs typeface="Times New Roman"/>
              </a:defRPr>
            </a:lvl9pPr>
          </a:lstStyle>
          <a:p xmlns:a="http://schemas.openxmlformats.org/drawingml/2006/main">
            <a:pPr algn="l">
              <a:defRPr sz="1500" b="0">
                <a:solidFill>
                  <a:srgbClr val="222222"/>
                </a:solidFill>
                <a:latin typeface="Times New Roman"/>
                <a:ea typeface="Times New Roman"/>
                <a:cs typeface="Times New Roman"/>
              </a:defRPr>
            </a:pPr>
            <a:r>
              <a:rPr sz="1500" b="0">
                <a:solidFill>
                  <a:srgbClr val="222222"/>
                </a:solidFill>
                <a:latin typeface="Times New Roman"/>
                <a:ea typeface="Times New Roman"/>
                <a:cs typeface="Times New Roman"/>
              </a:rPr>
              <a:t>Airflow</a:t>
            </a:r>
          </a:p>
        </p:txBody>
      </p:sp>
      <p:cxnSp>
        <p:nvCxnSpPr>
          <p:cNvPr id="67" name="legend-control">
            <a:extLst xmlns:a="http://schemas.openxmlformats.org/drawingml/2006/main">
              <a:ext uri="{FF2B5EF4-FFF2-40B4-BE49-F238E27FC236}">
                <a16:creationId xmlns:a16="http://schemas.microsoft.com/office/drawing/2014/main" id="{0D2DAB20-C934-4714-A303-3B4B85108FBF}"/>
              </a:ext>
            </a:extLst>
          </p:cNvPr>
          <p:cNvCxnSpPr/>
          <p:nvPr/>
        </p:nvCxnSpPr>
        <p:spPr>
          <a:xfrm xmlns:a="http://schemas.openxmlformats.org/drawingml/2006/main">
            <a:off x="4105275" y="5019675"/>
            <a:ext cx="457200" cy="0"/>
          </a:xfrm>
          <a:prstGeom xmlns:a="http://schemas.openxmlformats.org/drawingml/2006/main" prst="straightConnector1">
            <a:avLst/>
          </a:prstGeom>
          <a:ln xmlns:a="http://schemas.openxmlformats.org/drawingml/2006/main" w="13335">
            <a:solidFill>
              <a:srgbClr val="535353"/>
            </a:solidFill>
            <a:prstDash val="dot"/>
          </a:ln>
        </p:spPr>
      </p:cxnSp>
      <p:sp>
        <p:nvSpPr>
          <p:cNvPr id="68" name="legend-control-t">
            <a:extLst xmlns:a="http://schemas.openxmlformats.org/drawingml/2006/main">
              <a:ext uri="{FF2B5EF4-FFF2-40B4-BE49-F238E27FC236}">
                <a16:creationId xmlns:a16="http://schemas.microsoft.com/office/drawing/2014/main" id="{48A762DB-06EF-4310-B9A2-D073CC05036C}"/>
              </a:ext>
            </a:extLst>
          </p:cNvPr>
          <p:cNvSpPr>
            <a:spLocks xmlns:a="http://schemas.openxmlformats.org/drawingml/2006/main" noGrp="1"/>
          </p:cNvSpPr>
          <p:nvPr/>
        </p:nvSpPr>
        <p:spPr>
          <a:xfrm xmlns:a="http://schemas.openxmlformats.org/drawingml/2006/main">
            <a:off x="4657725" y="4886325"/>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222222"/>
                </a:solidFill>
                <a:latin typeface="Times New Roman"/>
                <a:ea typeface="Times New Roman"/>
                <a:cs typeface="Times New Roman"/>
              </a:defRPr>
            </a:defPPr>
            <a:lvl1pPr algn="l">
              <a:defRPr sz="1500" b="0">
                <a:solidFill>
                  <a:srgbClr val="222222"/>
                </a:solidFill>
                <a:latin typeface="Times New Roman"/>
                <a:ea typeface="Times New Roman"/>
                <a:cs typeface="Times New Roman"/>
              </a:defRPr>
            </a:lvl1pPr>
            <a:lvl2pPr algn="l">
              <a:defRPr sz="1500" b="0">
                <a:solidFill>
                  <a:srgbClr val="222222"/>
                </a:solidFill>
                <a:latin typeface="Times New Roman"/>
                <a:ea typeface="Times New Roman"/>
                <a:cs typeface="Times New Roman"/>
              </a:defRPr>
            </a:lvl2pPr>
            <a:lvl3pPr algn="l">
              <a:defRPr sz="1500" b="0">
                <a:solidFill>
                  <a:srgbClr val="222222"/>
                </a:solidFill>
                <a:latin typeface="Times New Roman"/>
                <a:ea typeface="Times New Roman"/>
                <a:cs typeface="Times New Roman"/>
              </a:defRPr>
            </a:lvl3pPr>
            <a:lvl4pPr algn="l">
              <a:defRPr sz="1500" b="0">
                <a:solidFill>
                  <a:srgbClr val="222222"/>
                </a:solidFill>
                <a:latin typeface="Times New Roman"/>
                <a:ea typeface="Times New Roman"/>
                <a:cs typeface="Times New Roman"/>
              </a:defRPr>
            </a:lvl4pPr>
            <a:lvl5pPr algn="l">
              <a:defRPr sz="1500" b="0">
                <a:solidFill>
                  <a:srgbClr val="222222"/>
                </a:solidFill>
                <a:latin typeface="Times New Roman"/>
                <a:ea typeface="Times New Roman"/>
                <a:cs typeface="Times New Roman"/>
              </a:defRPr>
            </a:lvl5pPr>
            <a:lvl6pPr algn="l">
              <a:defRPr sz="1500" b="0">
                <a:solidFill>
                  <a:srgbClr val="222222"/>
                </a:solidFill>
                <a:latin typeface="Times New Roman"/>
                <a:ea typeface="Times New Roman"/>
                <a:cs typeface="Times New Roman"/>
              </a:defRPr>
            </a:lvl6pPr>
            <a:lvl7pPr algn="l">
              <a:defRPr sz="1500" b="0">
                <a:solidFill>
                  <a:srgbClr val="222222"/>
                </a:solidFill>
                <a:latin typeface="Times New Roman"/>
                <a:ea typeface="Times New Roman"/>
                <a:cs typeface="Times New Roman"/>
              </a:defRPr>
            </a:lvl7pPr>
            <a:lvl8pPr algn="l">
              <a:defRPr sz="1500" b="0">
                <a:solidFill>
                  <a:srgbClr val="222222"/>
                </a:solidFill>
                <a:latin typeface="Times New Roman"/>
                <a:ea typeface="Times New Roman"/>
                <a:cs typeface="Times New Roman"/>
              </a:defRPr>
            </a:lvl8pPr>
            <a:lvl9pPr algn="l">
              <a:defRPr sz="1500" b="0">
                <a:solidFill>
                  <a:srgbClr val="222222"/>
                </a:solidFill>
                <a:latin typeface="Times New Roman"/>
                <a:ea typeface="Times New Roman"/>
                <a:cs typeface="Times New Roman"/>
              </a:defRPr>
            </a:lvl9pPr>
          </a:lstStyle>
          <a:p xmlns:a="http://schemas.openxmlformats.org/drawingml/2006/main">
            <a:pPr algn="l">
              <a:defRPr sz="1500" b="0">
                <a:solidFill>
                  <a:srgbClr val="222222"/>
                </a:solidFill>
                <a:latin typeface="Times New Roman"/>
                <a:ea typeface="Times New Roman"/>
                <a:cs typeface="Times New Roman"/>
              </a:defRPr>
            </a:pPr>
            <a:r>
              <a:rPr sz="1500" b="0">
                <a:solidFill>
                  <a:srgbClr val="222222"/>
                </a:solidFill>
                <a:latin typeface="Times New Roman"/>
                <a:ea typeface="Times New Roman"/>
                <a:cs typeface="Times New Roman"/>
              </a:rPr>
              <a:t>BAS signals</a:t>
            </a:r>
          </a:p>
        </p:txBody>
      </p:sp>
      <p:sp>
        <p:nvSpPr>
          <p:cNvPr id="69" name="baseline">
            <a:extLst xmlns:a="http://schemas.openxmlformats.org/drawingml/2006/main">
              <a:ext uri="{FF2B5EF4-FFF2-40B4-BE49-F238E27FC236}">
                <a16:creationId xmlns:a16="http://schemas.microsoft.com/office/drawing/2014/main" id="{AA78101C-B088-4E59-85C2-D30E0823C2F9}"/>
              </a:ext>
            </a:extLst>
          </p:cNvPr>
          <p:cNvSpPr>
            <a:spLocks xmlns:a="http://schemas.openxmlformats.org/drawingml/2006/main" noGrp="1"/>
          </p:cNvSpPr>
          <p:nvPr/>
        </p:nvSpPr>
        <p:spPr>
          <a:xfrm xmlns:a="http://schemas.openxmlformats.org/drawingml/2006/main">
            <a:off x="533400" y="5514975"/>
            <a:ext cx="1112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1">
                <a:solidFill>
                  <a:srgbClr val="222222"/>
                </a:solidFill>
                <a:latin typeface="Times New Roman"/>
                <a:ea typeface="Times New Roman"/>
                <a:cs typeface="Times New Roman"/>
              </a:defRPr>
            </a:defPPr>
            <a:lvl1pPr algn="l">
              <a:defRPr sz="2200" b="1">
                <a:solidFill>
                  <a:srgbClr val="222222"/>
                </a:solidFill>
                <a:latin typeface="Times New Roman"/>
                <a:ea typeface="Times New Roman"/>
                <a:cs typeface="Times New Roman"/>
              </a:defRPr>
            </a:lvl1pPr>
            <a:lvl2pPr algn="l">
              <a:defRPr sz="2200" b="1">
                <a:solidFill>
                  <a:srgbClr val="222222"/>
                </a:solidFill>
                <a:latin typeface="Times New Roman"/>
                <a:ea typeface="Times New Roman"/>
                <a:cs typeface="Times New Roman"/>
              </a:defRPr>
            </a:lvl2pPr>
            <a:lvl3pPr algn="l">
              <a:defRPr sz="2200" b="1">
                <a:solidFill>
                  <a:srgbClr val="222222"/>
                </a:solidFill>
                <a:latin typeface="Times New Roman"/>
                <a:ea typeface="Times New Roman"/>
                <a:cs typeface="Times New Roman"/>
              </a:defRPr>
            </a:lvl3pPr>
            <a:lvl4pPr algn="l">
              <a:defRPr sz="2200" b="1">
                <a:solidFill>
                  <a:srgbClr val="222222"/>
                </a:solidFill>
                <a:latin typeface="Times New Roman"/>
                <a:ea typeface="Times New Roman"/>
                <a:cs typeface="Times New Roman"/>
              </a:defRPr>
            </a:lvl4pPr>
            <a:lvl5pPr algn="l">
              <a:defRPr sz="2200" b="1">
                <a:solidFill>
                  <a:srgbClr val="222222"/>
                </a:solidFill>
                <a:latin typeface="Times New Roman"/>
                <a:ea typeface="Times New Roman"/>
                <a:cs typeface="Times New Roman"/>
              </a:defRPr>
            </a:lvl5pPr>
            <a:lvl6pPr algn="l">
              <a:defRPr sz="2200" b="1">
                <a:solidFill>
                  <a:srgbClr val="222222"/>
                </a:solidFill>
                <a:latin typeface="Times New Roman"/>
                <a:ea typeface="Times New Roman"/>
                <a:cs typeface="Times New Roman"/>
              </a:defRPr>
            </a:lvl6pPr>
            <a:lvl7pPr algn="l">
              <a:defRPr sz="2200" b="1">
                <a:solidFill>
                  <a:srgbClr val="222222"/>
                </a:solidFill>
                <a:latin typeface="Times New Roman"/>
                <a:ea typeface="Times New Roman"/>
                <a:cs typeface="Times New Roman"/>
              </a:defRPr>
            </a:lvl7pPr>
            <a:lvl8pPr algn="l">
              <a:defRPr sz="2200" b="1">
                <a:solidFill>
                  <a:srgbClr val="222222"/>
                </a:solidFill>
                <a:latin typeface="Times New Roman"/>
                <a:ea typeface="Times New Roman"/>
                <a:cs typeface="Times New Roman"/>
              </a:defRPr>
            </a:lvl8pPr>
            <a:lvl9pPr algn="l">
              <a:defRPr sz="2200" b="1">
                <a:solidFill>
                  <a:srgbClr val="222222"/>
                </a:solidFill>
                <a:latin typeface="Times New Roman"/>
                <a:ea typeface="Times New Roman"/>
                <a:cs typeface="Times New Roman"/>
              </a:defRPr>
            </a:lvl9pPr>
          </a:lstStyle>
          <a:p xmlns:a="http://schemas.openxmlformats.org/drawingml/2006/main">
            <a:pPr algn="l">
              <a:defRPr sz="2200" b="1">
                <a:solidFill>
                  <a:srgbClr val="222222"/>
                </a:solidFill>
                <a:latin typeface="Times New Roman"/>
                <a:ea typeface="Times New Roman"/>
                <a:cs typeface="Times New Roman"/>
              </a:defRPr>
            </a:pPr>
            <a:r>
              <a:rPr sz="2200" b="1">
                <a:solidFill>
                  <a:srgbClr val="222222"/>
                </a:solidFill>
                <a:latin typeface="Times New Roman"/>
                <a:ea typeface="Times New Roman"/>
                <a:cs typeface="Times New Roman"/>
              </a:rPr>
              <a:t>Modeled baseline HVAC electricity: 3,043,500 kWh/year</a:t>
            </a:r>
          </a:p>
        </p:txBody>
      </p:sp>
      <p:sp>
        <p:nvSpPr>
          <p:cNvPr id="70" name="reason">
            <a:extLst xmlns:a="http://schemas.openxmlformats.org/drawingml/2006/main">
              <a:ext uri="{FF2B5EF4-FFF2-40B4-BE49-F238E27FC236}">
                <a16:creationId xmlns:a16="http://schemas.microsoft.com/office/drawing/2014/main" id="{4CC5390C-4FD1-4F66-A7F7-641D36188E44}"/>
              </a:ext>
            </a:extLst>
          </p:cNvPr>
          <p:cNvSpPr>
            <a:spLocks xmlns:a="http://schemas.openxmlformats.org/drawingml/2006/main" noGrp="1"/>
          </p:cNvSpPr>
          <p:nvPr/>
        </p:nvSpPr>
        <p:spPr>
          <a:xfrm xmlns:a="http://schemas.openxmlformats.org/drawingml/2006/main">
            <a:off x="533400" y="5953125"/>
            <a:ext cx="11049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22222"/>
                </a:solidFill>
                <a:latin typeface="Times New Roman"/>
                <a:ea typeface="Times New Roman"/>
                <a:cs typeface="Times New Roman"/>
              </a:defRPr>
            </a:defPPr>
            <a:lvl1pPr algn="l">
              <a:defRPr sz="1800" b="0">
                <a:solidFill>
                  <a:srgbClr val="222222"/>
                </a:solidFill>
                <a:latin typeface="Times New Roman"/>
                <a:ea typeface="Times New Roman"/>
                <a:cs typeface="Times New Roman"/>
              </a:defRPr>
            </a:lvl1pPr>
            <a:lvl2pPr algn="l">
              <a:defRPr sz="1800" b="0">
                <a:solidFill>
                  <a:srgbClr val="222222"/>
                </a:solidFill>
                <a:latin typeface="Times New Roman"/>
                <a:ea typeface="Times New Roman"/>
                <a:cs typeface="Times New Roman"/>
              </a:defRPr>
            </a:lvl2pPr>
            <a:lvl3pPr algn="l">
              <a:defRPr sz="1800" b="0">
                <a:solidFill>
                  <a:srgbClr val="222222"/>
                </a:solidFill>
                <a:latin typeface="Times New Roman"/>
                <a:ea typeface="Times New Roman"/>
                <a:cs typeface="Times New Roman"/>
              </a:defRPr>
            </a:lvl3pPr>
            <a:lvl4pPr algn="l">
              <a:defRPr sz="1800" b="0">
                <a:solidFill>
                  <a:srgbClr val="222222"/>
                </a:solidFill>
                <a:latin typeface="Times New Roman"/>
                <a:ea typeface="Times New Roman"/>
                <a:cs typeface="Times New Roman"/>
              </a:defRPr>
            </a:lvl4pPr>
            <a:lvl5pPr algn="l">
              <a:defRPr sz="1800" b="0">
                <a:solidFill>
                  <a:srgbClr val="222222"/>
                </a:solidFill>
                <a:latin typeface="Times New Roman"/>
                <a:ea typeface="Times New Roman"/>
                <a:cs typeface="Times New Roman"/>
              </a:defRPr>
            </a:lvl5pPr>
            <a:lvl6pPr algn="l">
              <a:defRPr sz="1800" b="0">
                <a:solidFill>
                  <a:srgbClr val="222222"/>
                </a:solidFill>
                <a:latin typeface="Times New Roman"/>
                <a:ea typeface="Times New Roman"/>
                <a:cs typeface="Times New Roman"/>
              </a:defRPr>
            </a:lvl6pPr>
            <a:lvl7pPr algn="l">
              <a:defRPr sz="1800" b="0">
                <a:solidFill>
                  <a:srgbClr val="222222"/>
                </a:solidFill>
                <a:latin typeface="Times New Roman"/>
                <a:ea typeface="Times New Roman"/>
                <a:cs typeface="Times New Roman"/>
              </a:defRPr>
            </a:lvl7pPr>
            <a:lvl8pPr algn="l">
              <a:defRPr sz="1800" b="0">
                <a:solidFill>
                  <a:srgbClr val="222222"/>
                </a:solidFill>
                <a:latin typeface="Times New Roman"/>
                <a:ea typeface="Times New Roman"/>
                <a:cs typeface="Times New Roman"/>
              </a:defRPr>
            </a:lvl8pPr>
            <a:lvl9pPr algn="l">
              <a:defRPr sz="1800" b="0">
                <a:solidFill>
                  <a:srgbClr val="222222"/>
                </a:solidFill>
                <a:latin typeface="Times New Roman"/>
                <a:ea typeface="Times New Roman"/>
                <a:cs typeface="Times New Roman"/>
              </a:defRPr>
            </a:lvl9pPr>
          </a:lstStyle>
          <a:p xmlns:a="http://schemas.openxmlformats.org/drawingml/2006/main">
            <a:pPr algn="l">
              <a:defRPr sz="1800" b="0">
                <a:solidFill>
                  <a:srgbClr val="222222"/>
                </a:solidFill>
                <a:latin typeface="Times New Roman"/>
                <a:ea typeface="Times New Roman"/>
                <a:cs typeface="Times New Roman"/>
              </a:defRPr>
            </a:pPr>
            <a:r>
              <a:rPr sz="1800" b="0">
                <a:solidFill>
                  <a:srgbClr val="222222"/>
                </a:solidFill>
                <a:latin typeface="Times New Roman"/>
                <a:ea typeface="Times New Roman"/>
                <a:cs typeface="Times New Roman"/>
              </a:rPr>
              <a:t>Part-load efficiency, equipment condition and control schedules motivate the upgrade analysis.</a:t>
            </a:r>
          </a:p>
        </p:txBody>
      </p:sp>
    </p:spTree>
    <p:extLst>
      <p:ext uri="{BB962C8B-B14F-4D97-AF65-F5344CB8AC3E}">
        <p14:creationId xmlns:p14="http://schemas.microsoft.com/office/powerpoint/2010/main" val="20904349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218253B1-2D4B-4A27-8867-8A9EC5D970A1}"/>
              </a:ext>
            </a:extLst>
          </p:cNvPr>
          <p:cNvSpPr>
            <a:spLocks xmlns:a="http://schemas.openxmlformats.org/drawingml/2006/main" noGrp="1"/>
          </p:cNvSpPr>
          <p:nvPr/>
        </p:nvSpPr>
        <p:spPr>
          <a:xfrm xmlns:a="http://schemas.openxmlformats.org/drawingml/2006/main">
            <a:off x="533400" y="30480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00" b="1">
                <a:solidFill>
                  <a:srgbClr val="222222"/>
                </a:solidFill>
                <a:latin typeface="Times New Roman"/>
                <a:ea typeface="Times New Roman"/>
                <a:cs typeface="Times New Roman"/>
              </a:defRPr>
            </a:defPPr>
            <a:lvl1pPr algn="l">
              <a:defRPr sz="3200" b="1">
                <a:solidFill>
                  <a:srgbClr val="222222"/>
                </a:solidFill>
                <a:latin typeface="Times New Roman"/>
                <a:ea typeface="Times New Roman"/>
                <a:cs typeface="Times New Roman"/>
              </a:defRPr>
            </a:lvl1pPr>
            <a:lvl2pPr algn="l">
              <a:defRPr sz="3200" b="1">
                <a:solidFill>
                  <a:srgbClr val="222222"/>
                </a:solidFill>
                <a:latin typeface="Times New Roman"/>
                <a:ea typeface="Times New Roman"/>
                <a:cs typeface="Times New Roman"/>
              </a:defRPr>
            </a:lvl2pPr>
            <a:lvl3pPr algn="l">
              <a:defRPr sz="3200" b="1">
                <a:solidFill>
                  <a:srgbClr val="222222"/>
                </a:solidFill>
                <a:latin typeface="Times New Roman"/>
                <a:ea typeface="Times New Roman"/>
                <a:cs typeface="Times New Roman"/>
              </a:defRPr>
            </a:lvl3pPr>
            <a:lvl4pPr algn="l">
              <a:defRPr sz="3200" b="1">
                <a:solidFill>
                  <a:srgbClr val="222222"/>
                </a:solidFill>
                <a:latin typeface="Times New Roman"/>
                <a:ea typeface="Times New Roman"/>
                <a:cs typeface="Times New Roman"/>
              </a:defRPr>
            </a:lvl4pPr>
            <a:lvl5pPr algn="l">
              <a:defRPr sz="3200" b="1">
                <a:solidFill>
                  <a:srgbClr val="222222"/>
                </a:solidFill>
                <a:latin typeface="Times New Roman"/>
                <a:ea typeface="Times New Roman"/>
                <a:cs typeface="Times New Roman"/>
              </a:defRPr>
            </a:lvl5pPr>
            <a:lvl6pPr algn="l">
              <a:defRPr sz="3200" b="1">
                <a:solidFill>
                  <a:srgbClr val="222222"/>
                </a:solidFill>
                <a:latin typeface="Times New Roman"/>
                <a:ea typeface="Times New Roman"/>
                <a:cs typeface="Times New Roman"/>
              </a:defRPr>
            </a:lvl6pPr>
            <a:lvl7pPr algn="l">
              <a:defRPr sz="3200" b="1">
                <a:solidFill>
                  <a:srgbClr val="222222"/>
                </a:solidFill>
                <a:latin typeface="Times New Roman"/>
                <a:ea typeface="Times New Roman"/>
                <a:cs typeface="Times New Roman"/>
              </a:defRPr>
            </a:lvl7pPr>
            <a:lvl8pPr algn="l">
              <a:defRPr sz="3200" b="1">
                <a:solidFill>
                  <a:srgbClr val="222222"/>
                </a:solidFill>
                <a:latin typeface="Times New Roman"/>
                <a:ea typeface="Times New Roman"/>
                <a:cs typeface="Times New Roman"/>
              </a:defRPr>
            </a:lvl8pPr>
            <a:lvl9pPr algn="l">
              <a:defRPr sz="3200" b="1">
                <a:solidFill>
                  <a:srgbClr val="222222"/>
                </a:solidFill>
                <a:latin typeface="Times New Roman"/>
                <a:ea typeface="Times New Roman"/>
                <a:cs typeface="Times New Roman"/>
              </a:defRPr>
            </a:lvl9pPr>
          </a:lstStyle>
          <a:p xmlns:a="http://schemas.openxmlformats.org/drawingml/2006/main">
            <a:pPr algn="l">
              <a:defRPr sz="3200" b="1">
                <a:solidFill>
                  <a:srgbClr val="222222"/>
                </a:solidFill>
                <a:latin typeface="Times New Roman"/>
                <a:ea typeface="Times New Roman"/>
                <a:cs typeface="Times New Roman"/>
              </a:defRPr>
            </a:pPr>
            <a:r>
              <a:rPr sz="3200" b="1">
                <a:solidFill>
                  <a:srgbClr val="222222"/>
                </a:solidFill>
                <a:latin typeface="Times New Roman"/>
                <a:ea typeface="Times New Roman"/>
                <a:cs typeface="Times New Roman"/>
              </a:rPr>
              <a:t>Engineering alternatives and energy savings</a:t>
            </a:r>
          </a:p>
        </p:txBody>
      </p:sp>
      <p:sp>
        <p:nvSpPr>
          <p:cNvPr id="2" name="footnote">
            <a:extLst xmlns:a="http://schemas.openxmlformats.org/drawingml/2006/main">
              <a:ext uri="{FF2B5EF4-FFF2-40B4-BE49-F238E27FC236}">
                <a16:creationId xmlns:a16="http://schemas.microsoft.com/office/drawing/2014/main" id="{0E2AAC9C-DE57-4902-B9CF-0789BCFF12F1}"/>
              </a:ext>
            </a:extLst>
          </p:cNvPr>
          <p:cNvSpPr>
            <a:spLocks xmlns:a="http://schemas.openxmlformats.org/drawingml/2006/main" noGrp="1"/>
          </p:cNvSpPr>
          <p:nvPr/>
        </p:nvSpPr>
        <p:spPr>
          <a:xfrm xmlns:a="http://schemas.openxmlformats.org/drawingml/2006/main">
            <a:off x="533400" y="6305550"/>
            <a:ext cx="10572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0">
                <a:solidFill>
                  <a:srgbClr val="535353"/>
                </a:solidFill>
                <a:latin typeface="Times New Roman"/>
                <a:ea typeface="Times New Roman"/>
                <a:cs typeface="Times New Roman"/>
              </a:defRPr>
            </a:defPPr>
            <a:lvl1pPr algn="l">
              <a:defRPr sz="1400" b="0">
                <a:solidFill>
                  <a:srgbClr val="535353"/>
                </a:solidFill>
                <a:latin typeface="Times New Roman"/>
                <a:ea typeface="Times New Roman"/>
                <a:cs typeface="Times New Roman"/>
              </a:defRPr>
            </a:lvl1pPr>
            <a:lvl2pPr algn="l">
              <a:defRPr sz="1400" b="0">
                <a:solidFill>
                  <a:srgbClr val="535353"/>
                </a:solidFill>
                <a:latin typeface="Times New Roman"/>
                <a:ea typeface="Times New Roman"/>
                <a:cs typeface="Times New Roman"/>
              </a:defRPr>
            </a:lvl2pPr>
            <a:lvl3pPr algn="l">
              <a:defRPr sz="1400" b="0">
                <a:solidFill>
                  <a:srgbClr val="535353"/>
                </a:solidFill>
                <a:latin typeface="Times New Roman"/>
                <a:ea typeface="Times New Roman"/>
                <a:cs typeface="Times New Roman"/>
              </a:defRPr>
            </a:lvl3pPr>
            <a:lvl4pPr algn="l">
              <a:defRPr sz="1400" b="0">
                <a:solidFill>
                  <a:srgbClr val="535353"/>
                </a:solidFill>
                <a:latin typeface="Times New Roman"/>
                <a:ea typeface="Times New Roman"/>
                <a:cs typeface="Times New Roman"/>
              </a:defRPr>
            </a:lvl4pPr>
            <a:lvl5pPr algn="l">
              <a:defRPr sz="1400" b="0">
                <a:solidFill>
                  <a:srgbClr val="535353"/>
                </a:solidFill>
                <a:latin typeface="Times New Roman"/>
                <a:ea typeface="Times New Roman"/>
                <a:cs typeface="Times New Roman"/>
              </a:defRPr>
            </a:lvl5pPr>
            <a:lvl6pPr algn="l">
              <a:defRPr sz="1400" b="0">
                <a:solidFill>
                  <a:srgbClr val="535353"/>
                </a:solidFill>
                <a:latin typeface="Times New Roman"/>
                <a:ea typeface="Times New Roman"/>
                <a:cs typeface="Times New Roman"/>
              </a:defRPr>
            </a:lvl6pPr>
            <a:lvl7pPr algn="l">
              <a:defRPr sz="1400" b="0">
                <a:solidFill>
                  <a:srgbClr val="535353"/>
                </a:solidFill>
                <a:latin typeface="Times New Roman"/>
                <a:ea typeface="Times New Roman"/>
                <a:cs typeface="Times New Roman"/>
              </a:defRPr>
            </a:lvl7pPr>
            <a:lvl8pPr algn="l">
              <a:defRPr sz="1400" b="0">
                <a:solidFill>
                  <a:srgbClr val="535353"/>
                </a:solidFill>
                <a:latin typeface="Times New Roman"/>
                <a:ea typeface="Times New Roman"/>
                <a:cs typeface="Times New Roman"/>
              </a:defRPr>
            </a:lvl8pPr>
            <a:lvl9pPr algn="l">
              <a:defRPr sz="1400" b="0">
                <a:solidFill>
                  <a:srgbClr val="535353"/>
                </a:solidFill>
                <a:latin typeface="Times New Roman"/>
                <a:ea typeface="Times New Roman"/>
                <a:cs typeface="Times New Roman"/>
              </a:defRPr>
            </a:lvl9pPr>
          </a:lstStyle>
          <a:p xmlns:a="http://schemas.openxmlformats.org/drawingml/2006/main">
            <a:pPr algn="l">
              <a:defRPr sz="1400" b="0">
                <a:solidFill>
                  <a:srgbClr val="535353"/>
                </a:solidFill>
                <a:latin typeface="Times New Roman"/>
                <a:ea typeface="Times New Roman"/>
                <a:cs typeface="Times New Roman"/>
              </a:defRPr>
            </a:pPr>
            <a:r>
              <a:rPr sz="1400" b="0">
                <a:solidFill>
                  <a:srgbClr val="535353"/>
                </a:solidFill>
                <a:latin typeface="Times New Roman"/>
                <a:ea typeface="Times New Roman"/>
                <a:cs typeface="Times New Roman"/>
              </a:rPr>
              <a:t>Calculated HVAC electricity savings. No measured whole-building energy reduction is claimed.</a:t>
            </a:r>
          </a:p>
        </p:txBody>
      </p:sp>
      <p:sp>
        <p:nvSpPr>
          <p:cNvPr id="3" name="slide-number">
            <a:extLst xmlns:a="http://schemas.openxmlformats.org/drawingml/2006/main">
              <a:ext uri="{FF2B5EF4-FFF2-40B4-BE49-F238E27FC236}">
                <a16:creationId xmlns:a16="http://schemas.microsoft.com/office/drawing/2014/main" id="{AAE4C0C9-9438-4766-B62E-87CEA7B56E4E}"/>
              </a:ext>
            </a:extLst>
          </p:cNvPr>
          <p:cNvSpPr>
            <a:spLocks xmlns:a="http://schemas.openxmlformats.org/drawingml/2006/main" noGrp="1"/>
          </p:cNvSpPr>
          <p:nvPr/>
        </p:nvSpPr>
        <p:spPr>
          <a:xfrm xmlns:a="http://schemas.openxmlformats.org/drawingml/2006/main">
            <a:off x="11144250" y="63627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00" b="0">
                <a:solidFill>
                  <a:srgbClr val="535353"/>
                </a:solidFill>
                <a:latin typeface="Times New Roman"/>
                <a:ea typeface="Times New Roman"/>
                <a:cs typeface="Times New Roman"/>
              </a:defRPr>
            </a:defPPr>
            <a:lvl1pPr algn="r">
              <a:defRPr sz="1400" b="0">
                <a:solidFill>
                  <a:srgbClr val="535353"/>
                </a:solidFill>
                <a:latin typeface="Times New Roman"/>
                <a:ea typeface="Times New Roman"/>
                <a:cs typeface="Times New Roman"/>
              </a:defRPr>
            </a:lvl1pPr>
            <a:lvl2pPr algn="r">
              <a:defRPr sz="1400" b="0">
                <a:solidFill>
                  <a:srgbClr val="535353"/>
                </a:solidFill>
                <a:latin typeface="Times New Roman"/>
                <a:ea typeface="Times New Roman"/>
                <a:cs typeface="Times New Roman"/>
              </a:defRPr>
            </a:lvl2pPr>
            <a:lvl3pPr algn="r">
              <a:defRPr sz="1400" b="0">
                <a:solidFill>
                  <a:srgbClr val="535353"/>
                </a:solidFill>
                <a:latin typeface="Times New Roman"/>
                <a:ea typeface="Times New Roman"/>
                <a:cs typeface="Times New Roman"/>
              </a:defRPr>
            </a:lvl3pPr>
            <a:lvl4pPr algn="r">
              <a:defRPr sz="1400" b="0">
                <a:solidFill>
                  <a:srgbClr val="535353"/>
                </a:solidFill>
                <a:latin typeface="Times New Roman"/>
                <a:ea typeface="Times New Roman"/>
                <a:cs typeface="Times New Roman"/>
              </a:defRPr>
            </a:lvl4pPr>
            <a:lvl5pPr algn="r">
              <a:defRPr sz="1400" b="0">
                <a:solidFill>
                  <a:srgbClr val="535353"/>
                </a:solidFill>
                <a:latin typeface="Times New Roman"/>
                <a:ea typeface="Times New Roman"/>
                <a:cs typeface="Times New Roman"/>
              </a:defRPr>
            </a:lvl5pPr>
            <a:lvl6pPr algn="r">
              <a:defRPr sz="1400" b="0">
                <a:solidFill>
                  <a:srgbClr val="535353"/>
                </a:solidFill>
                <a:latin typeface="Times New Roman"/>
                <a:ea typeface="Times New Roman"/>
                <a:cs typeface="Times New Roman"/>
              </a:defRPr>
            </a:lvl6pPr>
            <a:lvl7pPr algn="r">
              <a:defRPr sz="1400" b="0">
                <a:solidFill>
                  <a:srgbClr val="535353"/>
                </a:solidFill>
                <a:latin typeface="Times New Roman"/>
                <a:ea typeface="Times New Roman"/>
                <a:cs typeface="Times New Roman"/>
              </a:defRPr>
            </a:lvl7pPr>
            <a:lvl8pPr algn="r">
              <a:defRPr sz="1400" b="0">
                <a:solidFill>
                  <a:srgbClr val="535353"/>
                </a:solidFill>
                <a:latin typeface="Times New Roman"/>
                <a:ea typeface="Times New Roman"/>
                <a:cs typeface="Times New Roman"/>
              </a:defRPr>
            </a:lvl8pPr>
            <a:lvl9pPr algn="r">
              <a:defRPr sz="1400" b="0">
                <a:solidFill>
                  <a:srgbClr val="535353"/>
                </a:solidFill>
                <a:latin typeface="Times New Roman"/>
                <a:ea typeface="Times New Roman"/>
                <a:cs typeface="Times New Roman"/>
              </a:defRPr>
            </a:lvl9pPr>
          </a:lstStyle>
          <a:p xmlns:a="http://schemas.openxmlformats.org/drawingml/2006/main">
            <a:pPr algn="r">
              <a:defRPr sz="1400" b="0">
                <a:solidFill>
                  <a:srgbClr val="535353"/>
                </a:solidFill>
                <a:latin typeface="Times New Roman"/>
                <a:ea typeface="Times New Roman"/>
                <a:cs typeface="Times New Roman"/>
              </a:defRPr>
            </a:pPr>
            <a:r>
              <a:rPr sz="1400" b="0">
                <a:solidFill>
                  <a:srgbClr val="535353"/>
                </a:solidFill>
                <a:latin typeface="Times New Roman"/>
                <a:ea typeface="Times New Roman"/>
                <a:cs typeface="Times New Roman"/>
              </a:rPr>
              <a:t>3 / 7</a:t>
            </a:r>
          </a:p>
        </p:txBody>
      </p:sp>
      <p:sp>
        <p:nvSpPr>
          <p:cNvPr id="4" name="chart-heading">
            <a:extLst xmlns:a="http://schemas.openxmlformats.org/drawingml/2006/main">
              <a:ext uri="{FF2B5EF4-FFF2-40B4-BE49-F238E27FC236}">
                <a16:creationId xmlns:a16="http://schemas.microsoft.com/office/drawing/2014/main" id="{F55EFB1C-16E1-42E5-B164-D7E6188B02AA}"/>
              </a:ext>
            </a:extLst>
          </p:cNvPr>
          <p:cNvSpPr>
            <a:spLocks xmlns:a="http://schemas.openxmlformats.org/drawingml/2006/main" noGrp="1"/>
          </p:cNvSpPr>
          <p:nvPr/>
        </p:nvSpPr>
        <p:spPr>
          <a:xfrm xmlns:a="http://schemas.openxmlformats.org/drawingml/2006/main">
            <a:off x="533400" y="1190625"/>
            <a:ext cx="657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222222"/>
                </a:solidFill>
                <a:latin typeface="Times New Roman"/>
                <a:ea typeface="Times New Roman"/>
                <a:cs typeface="Times New Roman"/>
              </a:defRPr>
            </a:defPPr>
            <a:lvl1pPr algn="l">
              <a:defRPr sz="2100" b="1">
                <a:solidFill>
                  <a:srgbClr val="222222"/>
                </a:solidFill>
                <a:latin typeface="Times New Roman"/>
                <a:ea typeface="Times New Roman"/>
                <a:cs typeface="Times New Roman"/>
              </a:defRPr>
            </a:lvl1pPr>
            <a:lvl2pPr algn="l">
              <a:defRPr sz="2100" b="1">
                <a:solidFill>
                  <a:srgbClr val="222222"/>
                </a:solidFill>
                <a:latin typeface="Times New Roman"/>
                <a:ea typeface="Times New Roman"/>
                <a:cs typeface="Times New Roman"/>
              </a:defRPr>
            </a:lvl2pPr>
            <a:lvl3pPr algn="l">
              <a:defRPr sz="2100" b="1">
                <a:solidFill>
                  <a:srgbClr val="222222"/>
                </a:solidFill>
                <a:latin typeface="Times New Roman"/>
                <a:ea typeface="Times New Roman"/>
                <a:cs typeface="Times New Roman"/>
              </a:defRPr>
            </a:lvl3pPr>
            <a:lvl4pPr algn="l">
              <a:defRPr sz="2100" b="1">
                <a:solidFill>
                  <a:srgbClr val="222222"/>
                </a:solidFill>
                <a:latin typeface="Times New Roman"/>
                <a:ea typeface="Times New Roman"/>
                <a:cs typeface="Times New Roman"/>
              </a:defRPr>
            </a:lvl4pPr>
            <a:lvl5pPr algn="l">
              <a:defRPr sz="2100" b="1">
                <a:solidFill>
                  <a:srgbClr val="222222"/>
                </a:solidFill>
                <a:latin typeface="Times New Roman"/>
                <a:ea typeface="Times New Roman"/>
                <a:cs typeface="Times New Roman"/>
              </a:defRPr>
            </a:lvl5pPr>
            <a:lvl6pPr algn="l">
              <a:defRPr sz="2100" b="1">
                <a:solidFill>
                  <a:srgbClr val="222222"/>
                </a:solidFill>
                <a:latin typeface="Times New Roman"/>
                <a:ea typeface="Times New Roman"/>
                <a:cs typeface="Times New Roman"/>
              </a:defRPr>
            </a:lvl6pPr>
            <a:lvl7pPr algn="l">
              <a:defRPr sz="2100" b="1">
                <a:solidFill>
                  <a:srgbClr val="222222"/>
                </a:solidFill>
                <a:latin typeface="Times New Roman"/>
                <a:ea typeface="Times New Roman"/>
                <a:cs typeface="Times New Roman"/>
              </a:defRPr>
            </a:lvl7pPr>
            <a:lvl8pPr algn="l">
              <a:defRPr sz="2100" b="1">
                <a:solidFill>
                  <a:srgbClr val="222222"/>
                </a:solidFill>
                <a:latin typeface="Times New Roman"/>
                <a:ea typeface="Times New Roman"/>
                <a:cs typeface="Times New Roman"/>
              </a:defRPr>
            </a:lvl8pPr>
            <a:lvl9pPr algn="l">
              <a:defRPr sz="2100" b="1">
                <a:solidFill>
                  <a:srgbClr val="222222"/>
                </a:solidFill>
                <a:latin typeface="Times New Roman"/>
                <a:ea typeface="Times New Roman"/>
                <a:cs typeface="Times New Roman"/>
              </a:defRPr>
            </a:lvl9pPr>
          </a:lstStyle>
          <a:p xmlns:a="http://schemas.openxmlformats.org/drawingml/2006/main">
            <a:pPr algn="l">
              <a:defRPr sz="2100" b="1">
                <a:solidFill>
                  <a:srgbClr val="222222"/>
                </a:solidFill>
                <a:latin typeface="Times New Roman"/>
                <a:ea typeface="Times New Roman"/>
                <a:cs typeface="Times New Roman"/>
              </a:defRPr>
            </a:pPr>
            <a:r>
              <a:rPr sz="2100" b="1">
                <a:solidFill>
                  <a:srgbClr val="222222"/>
                </a:solidFill>
                <a:latin typeface="Times New Roman"/>
                <a:ea typeface="Times New Roman"/>
                <a:cs typeface="Times New Roman"/>
              </a:rPr>
              <a:t>Annual HVAC electricity (kWh)</a:t>
            </a:r>
          </a:p>
        </p:txBody>
      </p:sp>
      <p:graphicFrame>
        <p:nvGraphicFramePr>
          <p:cNvPr id="5" name="Chart">
            <a:extLst xmlns:a="http://schemas.openxmlformats.org/drawingml/2006/main">
              <a:ext uri="{FF2B5EF4-FFF2-40B4-BE49-F238E27FC236}">
                <a16:creationId xmlns:a16="http://schemas.microsoft.com/office/drawing/2014/main" id="{4BA5FD10-0991-4978-B0BC-4882DC623117}"/>
              </a:ext>
            </a:extLst>
          </p:cNvPr>
          <p:cNvGraphicFramePr/>
          <p:nvPr/>
        </p:nvGraphicFramePr>
        <p:xfrm>
          <a:off xmlns:a="http://schemas.openxmlformats.org/drawingml/2006/main" x="533400" y="1676400"/>
          <a:ext xmlns:a="http://schemas.openxmlformats.org/drawingml/2006/main" cx="6743700" cy="3962400"/>
        </p:xfrm>
        <a:graphic xmlns:a="http://schemas.openxmlformats.org/drawingml/2006/main">
          <a:graphicData uri="http://schemas.openxmlformats.org/drawingml/2006/chart">
            <c:chart xmlns:r="http://schemas.openxmlformats.org/officeDocument/2006/relationships" xmlns:c="http://schemas.openxmlformats.org/drawingml/2006/chart" r:id="R0c1995725a334e7c"/>
          </a:graphicData>
        </a:graphic>
      </p:graphicFrame>
      <p:sp>
        <p:nvSpPr>
          <p:cNvPr id="6" name="axis-unit">
            <a:extLst xmlns:a="http://schemas.openxmlformats.org/drawingml/2006/main">
              <a:ext uri="{FF2B5EF4-FFF2-40B4-BE49-F238E27FC236}">
                <a16:creationId xmlns:a16="http://schemas.microsoft.com/office/drawing/2014/main" id="{3011FAC0-7C42-4321-A226-B27586CE7FEF}"/>
              </a:ext>
            </a:extLst>
          </p:cNvPr>
          <p:cNvSpPr>
            <a:spLocks xmlns:a="http://schemas.openxmlformats.org/drawingml/2006/main" noGrp="1"/>
          </p:cNvSpPr>
          <p:nvPr/>
        </p:nvSpPr>
        <p:spPr>
          <a:xfrm xmlns:a="http://schemas.openxmlformats.org/drawingml/2006/main">
            <a:off x="666750" y="56769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35353"/>
                </a:solidFill>
                <a:latin typeface="Times New Roman"/>
                <a:ea typeface="Times New Roman"/>
                <a:cs typeface="Times New Roman"/>
              </a:defRPr>
            </a:defPPr>
            <a:lvl1pPr algn="l">
              <a:defRPr sz="1500" b="0">
                <a:solidFill>
                  <a:srgbClr val="535353"/>
                </a:solidFill>
                <a:latin typeface="Times New Roman"/>
                <a:ea typeface="Times New Roman"/>
                <a:cs typeface="Times New Roman"/>
              </a:defRPr>
            </a:lvl1pPr>
            <a:lvl2pPr algn="l">
              <a:defRPr sz="1500" b="0">
                <a:solidFill>
                  <a:srgbClr val="535353"/>
                </a:solidFill>
                <a:latin typeface="Times New Roman"/>
                <a:ea typeface="Times New Roman"/>
                <a:cs typeface="Times New Roman"/>
              </a:defRPr>
            </a:lvl2pPr>
            <a:lvl3pPr algn="l">
              <a:defRPr sz="1500" b="0">
                <a:solidFill>
                  <a:srgbClr val="535353"/>
                </a:solidFill>
                <a:latin typeface="Times New Roman"/>
                <a:ea typeface="Times New Roman"/>
                <a:cs typeface="Times New Roman"/>
              </a:defRPr>
            </a:lvl3pPr>
            <a:lvl4pPr algn="l">
              <a:defRPr sz="1500" b="0">
                <a:solidFill>
                  <a:srgbClr val="535353"/>
                </a:solidFill>
                <a:latin typeface="Times New Roman"/>
                <a:ea typeface="Times New Roman"/>
                <a:cs typeface="Times New Roman"/>
              </a:defRPr>
            </a:lvl4pPr>
            <a:lvl5pPr algn="l">
              <a:defRPr sz="1500" b="0">
                <a:solidFill>
                  <a:srgbClr val="535353"/>
                </a:solidFill>
                <a:latin typeface="Times New Roman"/>
                <a:ea typeface="Times New Roman"/>
                <a:cs typeface="Times New Roman"/>
              </a:defRPr>
            </a:lvl5pPr>
            <a:lvl6pPr algn="l">
              <a:defRPr sz="1500" b="0">
                <a:solidFill>
                  <a:srgbClr val="535353"/>
                </a:solidFill>
                <a:latin typeface="Times New Roman"/>
                <a:ea typeface="Times New Roman"/>
                <a:cs typeface="Times New Roman"/>
              </a:defRPr>
            </a:lvl6pPr>
            <a:lvl7pPr algn="l">
              <a:defRPr sz="1500" b="0">
                <a:solidFill>
                  <a:srgbClr val="535353"/>
                </a:solidFill>
                <a:latin typeface="Times New Roman"/>
                <a:ea typeface="Times New Roman"/>
                <a:cs typeface="Times New Roman"/>
              </a:defRPr>
            </a:lvl7pPr>
            <a:lvl8pPr algn="l">
              <a:defRPr sz="1500" b="0">
                <a:solidFill>
                  <a:srgbClr val="535353"/>
                </a:solidFill>
                <a:latin typeface="Times New Roman"/>
                <a:ea typeface="Times New Roman"/>
                <a:cs typeface="Times New Roman"/>
              </a:defRPr>
            </a:lvl8pPr>
            <a:lvl9pPr algn="l">
              <a:defRPr sz="1500" b="0">
                <a:solidFill>
                  <a:srgbClr val="535353"/>
                </a:solidFill>
                <a:latin typeface="Times New Roman"/>
                <a:ea typeface="Times New Roman"/>
                <a:cs typeface="Times New Roman"/>
              </a:defRPr>
            </a:lvl9pPr>
          </a:lstStyle>
          <a:p xmlns:a="http://schemas.openxmlformats.org/drawingml/2006/main">
            <a:pPr algn="l">
              <a:defRPr sz="1500" b="0">
                <a:solidFill>
                  <a:srgbClr val="535353"/>
                </a:solidFill>
                <a:latin typeface="Times New Roman"/>
                <a:ea typeface="Times New Roman"/>
                <a:cs typeface="Times New Roman"/>
              </a:defRPr>
            </a:pPr>
            <a:r>
              <a:rPr sz="1500" b="0">
                <a:solidFill>
                  <a:srgbClr val="535353"/>
                </a:solidFill>
                <a:latin typeface="Times New Roman"/>
                <a:ea typeface="Times New Roman"/>
                <a:cs typeface="Times New Roman"/>
              </a:rPr>
              <a:t>Million kWh/year</a:t>
            </a:r>
          </a:p>
        </p:txBody>
      </p:sp>
      <p:sp>
        <p:nvSpPr>
          <p:cNvPr id="7" name="a-label">
            <a:extLst xmlns:a="http://schemas.openxmlformats.org/drawingml/2006/main">
              <a:ext uri="{FF2B5EF4-FFF2-40B4-BE49-F238E27FC236}">
                <a16:creationId xmlns:a16="http://schemas.microsoft.com/office/drawing/2014/main" id="{22C66103-2B4F-462E-9BC8-C3BB5AAD862B}"/>
              </a:ext>
            </a:extLst>
          </p:cNvPr>
          <p:cNvSpPr>
            <a:spLocks xmlns:a="http://schemas.openxmlformats.org/drawingml/2006/main" noGrp="1"/>
          </p:cNvSpPr>
          <p:nvPr/>
        </p:nvSpPr>
        <p:spPr>
          <a:xfrm xmlns:a="http://schemas.openxmlformats.org/drawingml/2006/main">
            <a:off x="7696200" y="1266825"/>
            <a:ext cx="3886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1">
                <a:solidFill>
                  <a:srgbClr val="222222"/>
                </a:solidFill>
                <a:latin typeface="Times New Roman"/>
                <a:ea typeface="Times New Roman"/>
                <a:cs typeface="Times New Roman"/>
              </a:defRPr>
            </a:defPPr>
            <a:lvl1pPr algn="l">
              <a:defRPr sz="2200" b="1">
                <a:solidFill>
                  <a:srgbClr val="222222"/>
                </a:solidFill>
                <a:latin typeface="Times New Roman"/>
                <a:ea typeface="Times New Roman"/>
                <a:cs typeface="Times New Roman"/>
              </a:defRPr>
            </a:lvl1pPr>
            <a:lvl2pPr algn="l">
              <a:defRPr sz="2200" b="1">
                <a:solidFill>
                  <a:srgbClr val="222222"/>
                </a:solidFill>
                <a:latin typeface="Times New Roman"/>
                <a:ea typeface="Times New Roman"/>
                <a:cs typeface="Times New Roman"/>
              </a:defRPr>
            </a:lvl2pPr>
            <a:lvl3pPr algn="l">
              <a:defRPr sz="2200" b="1">
                <a:solidFill>
                  <a:srgbClr val="222222"/>
                </a:solidFill>
                <a:latin typeface="Times New Roman"/>
                <a:ea typeface="Times New Roman"/>
                <a:cs typeface="Times New Roman"/>
              </a:defRPr>
            </a:lvl3pPr>
            <a:lvl4pPr algn="l">
              <a:defRPr sz="2200" b="1">
                <a:solidFill>
                  <a:srgbClr val="222222"/>
                </a:solidFill>
                <a:latin typeface="Times New Roman"/>
                <a:ea typeface="Times New Roman"/>
                <a:cs typeface="Times New Roman"/>
              </a:defRPr>
            </a:lvl4pPr>
            <a:lvl5pPr algn="l">
              <a:defRPr sz="2200" b="1">
                <a:solidFill>
                  <a:srgbClr val="222222"/>
                </a:solidFill>
                <a:latin typeface="Times New Roman"/>
                <a:ea typeface="Times New Roman"/>
                <a:cs typeface="Times New Roman"/>
              </a:defRPr>
            </a:lvl5pPr>
            <a:lvl6pPr algn="l">
              <a:defRPr sz="2200" b="1">
                <a:solidFill>
                  <a:srgbClr val="222222"/>
                </a:solidFill>
                <a:latin typeface="Times New Roman"/>
                <a:ea typeface="Times New Roman"/>
                <a:cs typeface="Times New Roman"/>
              </a:defRPr>
            </a:lvl6pPr>
            <a:lvl7pPr algn="l">
              <a:defRPr sz="2200" b="1">
                <a:solidFill>
                  <a:srgbClr val="222222"/>
                </a:solidFill>
                <a:latin typeface="Times New Roman"/>
                <a:ea typeface="Times New Roman"/>
                <a:cs typeface="Times New Roman"/>
              </a:defRPr>
            </a:lvl7pPr>
            <a:lvl8pPr algn="l">
              <a:defRPr sz="2200" b="1">
                <a:solidFill>
                  <a:srgbClr val="222222"/>
                </a:solidFill>
                <a:latin typeface="Times New Roman"/>
                <a:ea typeface="Times New Roman"/>
                <a:cs typeface="Times New Roman"/>
              </a:defRPr>
            </a:lvl8pPr>
            <a:lvl9pPr algn="l">
              <a:defRPr sz="2200" b="1">
                <a:solidFill>
                  <a:srgbClr val="222222"/>
                </a:solidFill>
                <a:latin typeface="Times New Roman"/>
                <a:ea typeface="Times New Roman"/>
                <a:cs typeface="Times New Roman"/>
              </a:defRPr>
            </a:lvl9pPr>
          </a:lstStyle>
          <a:p xmlns:a="http://schemas.openxmlformats.org/drawingml/2006/main">
            <a:pPr algn="l">
              <a:defRPr sz="2200" b="1">
                <a:solidFill>
                  <a:srgbClr val="222222"/>
                </a:solidFill>
                <a:latin typeface="Times New Roman"/>
                <a:ea typeface="Times New Roman"/>
                <a:cs typeface="Times New Roman"/>
              </a:defRPr>
            </a:pPr>
            <a:r>
              <a:rPr sz="2200" b="1">
                <a:solidFill>
                  <a:srgbClr val="222222"/>
                </a:solidFill>
                <a:latin typeface="Times New Roman"/>
                <a:ea typeface="Times New Roman"/>
                <a:cs typeface="Times New Roman"/>
              </a:rPr>
              <a:t>A  Existing system</a:t>
            </a:r>
          </a:p>
        </p:txBody>
      </p:sp>
      <p:sp>
        <p:nvSpPr>
          <p:cNvPr id="8" name="a-copy">
            <a:extLst xmlns:a="http://schemas.openxmlformats.org/drawingml/2006/main">
              <a:ext uri="{FF2B5EF4-FFF2-40B4-BE49-F238E27FC236}">
                <a16:creationId xmlns:a16="http://schemas.microsoft.com/office/drawing/2014/main" id="{588D67BE-2292-4AEF-8CC6-F04F08C00E03}"/>
              </a:ext>
            </a:extLst>
          </p:cNvPr>
          <p:cNvSpPr>
            <a:spLocks xmlns:a="http://schemas.openxmlformats.org/drawingml/2006/main" noGrp="1"/>
          </p:cNvSpPr>
          <p:nvPr/>
        </p:nvSpPr>
        <p:spPr>
          <a:xfrm xmlns:a="http://schemas.openxmlformats.org/drawingml/2006/main">
            <a:off x="7696200" y="1666875"/>
            <a:ext cx="3886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222222"/>
                </a:solidFill>
                <a:latin typeface="Times New Roman"/>
                <a:ea typeface="Times New Roman"/>
                <a:cs typeface="Times New Roman"/>
              </a:defRPr>
            </a:defPPr>
            <a:lvl1pPr algn="l">
              <a:defRPr sz="2100" b="0">
                <a:solidFill>
                  <a:srgbClr val="222222"/>
                </a:solidFill>
                <a:latin typeface="Times New Roman"/>
                <a:ea typeface="Times New Roman"/>
                <a:cs typeface="Times New Roman"/>
              </a:defRPr>
            </a:lvl1pPr>
            <a:lvl2pPr algn="l">
              <a:defRPr sz="2100" b="0">
                <a:solidFill>
                  <a:srgbClr val="222222"/>
                </a:solidFill>
                <a:latin typeface="Times New Roman"/>
                <a:ea typeface="Times New Roman"/>
                <a:cs typeface="Times New Roman"/>
              </a:defRPr>
            </a:lvl2pPr>
            <a:lvl3pPr algn="l">
              <a:defRPr sz="2100" b="0">
                <a:solidFill>
                  <a:srgbClr val="222222"/>
                </a:solidFill>
                <a:latin typeface="Times New Roman"/>
                <a:ea typeface="Times New Roman"/>
                <a:cs typeface="Times New Roman"/>
              </a:defRPr>
            </a:lvl3pPr>
            <a:lvl4pPr algn="l">
              <a:defRPr sz="2100" b="0">
                <a:solidFill>
                  <a:srgbClr val="222222"/>
                </a:solidFill>
                <a:latin typeface="Times New Roman"/>
                <a:ea typeface="Times New Roman"/>
                <a:cs typeface="Times New Roman"/>
              </a:defRPr>
            </a:lvl4pPr>
            <a:lvl5pPr algn="l">
              <a:defRPr sz="2100" b="0">
                <a:solidFill>
                  <a:srgbClr val="222222"/>
                </a:solidFill>
                <a:latin typeface="Times New Roman"/>
                <a:ea typeface="Times New Roman"/>
                <a:cs typeface="Times New Roman"/>
              </a:defRPr>
            </a:lvl5pPr>
            <a:lvl6pPr algn="l">
              <a:defRPr sz="2100" b="0">
                <a:solidFill>
                  <a:srgbClr val="222222"/>
                </a:solidFill>
                <a:latin typeface="Times New Roman"/>
                <a:ea typeface="Times New Roman"/>
                <a:cs typeface="Times New Roman"/>
              </a:defRPr>
            </a:lvl6pPr>
            <a:lvl7pPr algn="l">
              <a:defRPr sz="2100" b="0">
                <a:solidFill>
                  <a:srgbClr val="222222"/>
                </a:solidFill>
                <a:latin typeface="Times New Roman"/>
                <a:ea typeface="Times New Roman"/>
                <a:cs typeface="Times New Roman"/>
              </a:defRPr>
            </a:lvl7pPr>
            <a:lvl8pPr algn="l">
              <a:defRPr sz="2100" b="0">
                <a:solidFill>
                  <a:srgbClr val="222222"/>
                </a:solidFill>
                <a:latin typeface="Times New Roman"/>
                <a:ea typeface="Times New Roman"/>
                <a:cs typeface="Times New Roman"/>
              </a:defRPr>
            </a:lvl8pPr>
            <a:lvl9pPr algn="l">
              <a:defRPr sz="2100" b="0">
                <a:solidFill>
                  <a:srgbClr val="222222"/>
                </a:solidFill>
                <a:latin typeface="Times New Roman"/>
                <a:ea typeface="Times New Roman"/>
                <a:cs typeface="Times New Roman"/>
              </a:defRPr>
            </a:lvl9pPr>
          </a:lstStyle>
          <a:p xmlns:a="http://schemas.openxmlformats.org/drawingml/2006/main">
            <a:pPr algn="l">
              <a:defRPr sz="2100" b="0">
                <a:solidFill>
                  <a:srgbClr val="222222"/>
                </a:solidFill>
                <a:latin typeface="Times New Roman"/>
                <a:ea typeface="Times New Roman"/>
                <a:cs typeface="Times New Roman"/>
              </a:defRPr>
            </a:pPr>
            <a:r>
              <a:rPr sz="2100" b="0">
                <a:solidFill>
                  <a:srgbClr val="222222"/>
                </a:solidFill>
                <a:latin typeface="Times New Roman"/>
                <a:ea typeface="Times New Roman"/>
                <a:cs typeface="Times New Roman"/>
              </a:rPr>
              <a:t>Continue operating current equipment and controls.</a:t>
            </a:r>
          </a:p>
        </p:txBody>
      </p:sp>
      <p:sp>
        <p:nvSpPr>
          <p:cNvPr id="9" name="b-label">
            <a:extLst xmlns:a="http://schemas.openxmlformats.org/drawingml/2006/main">
              <a:ext uri="{FF2B5EF4-FFF2-40B4-BE49-F238E27FC236}">
                <a16:creationId xmlns:a16="http://schemas.microsoft.com/office/drawing/2014/main" id="{7ACF5662-BCD7-41C1-9A5C-103DD2C5F490}"/>
              </a:ext>
            </a:extLst>
          </p:cNvPr>
          <p:cNvSpPr>
            <a:spLocks xmlns:a="http://schemas.openxmlformats.org/drawingml/2006/main" noGrp="1"/>
          </p:cNvSpPr>
          <p:nvPr/>
        </p:nvSpPr>
        <p:spPr>
          <a:xfrm xmlns:a="http://schemas.openxmlformats.org/drawingml/2006/main">
            <a:off x="7696200" y="2647950"/>
            <a:ext cx="3886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1">
                <a:solidFill>
                  <a:srgbClr val="222222"/>
                </a:solidFill>
                <a:latin typeface="Times New Roman"/>
                <a:ea typeface="Times New Roman"/>
                <a:cs typeface="Times New Roman"/>
              </a:defRPr>
            </a:defPPr>
            <a:lvl1pPr algn="l">
              <a:defRPr sz="2200" b="1">
                <a:solidFill>
                  <a:srgbClr val="222222"/>
                </a:solidFill>
                <a:latin typeface="Times New Roman"/>
                <a:ea typeface="Times New Roman"/>
                <a:cs typeface="Times New Roman"/>
              </a:defRPr>
            </a:lvl1pPr>
            <a:lvl2pPr algn="l">
              <a:defRPr sz="2200" b="1">
                <a:solidFill>
                  <a:srgbClr val="222222"/>
                </a:solidFill>
                <a:latin typeface="Times New Roman"/>
                <a:ea typeface="Times New Roman"/>
                <a:cs typeface="Times New Roman"/>
              </a:defRPr>
            </a:lvl2pPr>
            <a:lvl3pPr algn="l">
              <a:defRPr sz="2200" b="1">
                <a:solidFill>
                  <a:srgbClr val="222222"/>
                </a:solidFill>
                <a:latin typeface="Times New Roman"/>
                <a:ea typeface="Times New Roman"/>
                <a:cs typeface="Times New Roman"/>
              </a:defRPr>
            </a:lvl3pPr>
            <a:lvl4pPr algn="l">
              <a:defRPr sz="2200" b="1">
                <a:solidFill>
                  <a:srgbClr val="222222"/>
                </a:solidFill>
                <a:latin typeface="Times New Roman"/>
                <a:ea typeface="Times New Roman"/>
                <a:cs typeface="Times New Roman"/>
              </a:defRPr>
            </a:lvl4pPr>
            <a:lvl5pPr algn="l">
              <a:defRPr sz="2200" b="1">
                <a:solidFill>
                  <a:srgbClr val="222222"/>
                </a:solidFill>
                <a:latin typeface="Times New Roman"/>
                <a:ea typeface="Times New Roman"/>
                <a:cs typeface="Times New Roman"/>
              </a:defRPr>
            </a:lvl5pPr>
            <a:lvl6pPr algn="l">
              <a:defRPr sz="2200" b="1">
                <a:solidFill>
                  <a:srgbClr val="222222"/>
                </a:solidFill>
                <a:latin typeface="Times New Roman"/>
                <a:ea typeface="Times New Roman"/>
                <a:cs typeface="Times New Roman"/>
              </a:defRPr>
            </a:lvl6pPr>
            <a:lvl7pPr algn="l">
              <a:defRPr sz="2200" b="1">
                <a:solidFill>
                  <a:srgbClr val="222222"/>
                </a:solidFill>
                <a:latin typeface="Times New Roman"/>
                <a:ea typeface="Times New Roman"/>
                <a:cs typeface="Times New Roman"/>
              </a:defRPr>
            </a:lvl7pPr>
            <a:lvl8pPr algn="l">
              <a:defRPr sz="2200" b="1">
                <a:solidFill>
                  <a:srgbClr val="222222"/>
                </a:solidFill>
                <a:latin typeface="Times New Roman"/>
                <a:ea typeface="Times New Roman"/>
                <a:cs typeface="Times New Roman"/>
              </a:defRPr>
            </a:lvl8pPr>
            <a:lvl9pPr algn="l">
              <a:defRPr sz="2200" b="1">
                <a:solidFill>
                  <a:srgbClr val="222222"/>
                </a:solidFill>
                <a:latin typeface="Times New Roman"/>
                <a:ea typeface="Times New Roman"/>
                <a:cs typeface="Times New Roman"/>
              </a:defRPr>
            </a:lvl9pPr>
          </a:lstStyle>
          <a:p xmlns:a="http://schemas.openxmlformats.org/drawingml/2006/main">
            <a:pPr algn="l">
              <a:defRPr sz="2200" b="1">
                <a:solidFill>
                  <a:srgbClr val="222222"/>
                </a:solidFill>
                <a:latin typeface="Times New Roman"/>
                <a:ea typeface="Times New Roman"/>
                <a:cs typeface="Times New Roman"/>
              </a:defRPr>
            </a:pPr>
            <a:r>
              <a:rPr sz="2200" b="1">
                <a:solidFill>
                  <a:srgbClr val="222222"/>
                </a:solidFill>
                <a:latin typeface="Times New Roman"/>
                <a:ea typeface="Times New Roman"/>
                <a:cs typeface="Times New Roman"/>
              </a:rPr>
              <a:t>B  Full modernization</a:t>
            </a:r>
          </a:p>
        </p:txBody>
      </p:sp>
      <p:sp>
        <p:nvSpPr>
          <p:cNvPr id="10" name="b-copy">
            <a:extLst xmlns:a="http://schemas.openxmlformats.org/drawingml/2006/main">
              <a:ext uri="{FF2B5EF4-FFF2-40B4-BE49-F238E27FC236}">
                <a16:creationId xmlns:a16="http://schemas.microsoft.com/office/drawing/2014/main" id="{E308E775-F168-4B4A-8654-914F2307E889}"/>
              </a:ext>
            </a:extLst>
          </p:cNvPr>
          <p:cNvSpPr>
            <a:spLocks xmlns:a="http://schemas.openxmlformats.org/drawingml/2006/main" noGrp="1"/>
          </p:cNvSpPr>
          <p:nvPr/>
        </p:nvSpPr>
        <p:spPr>
          <a:xfrm xmlns:a="http://schemas.openxmlformats.org/drawingml/2006/main">
            <a:off x="7696200" y="3057525"/>
            <a:ext cx="38862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222222"/>
                </a:solidFill>
                <a:latin typeface="Times New Roman"/>
                <a:ea typeface="Times New Roman"/>
                <a:cs typeface="Times New Roman"/>
              </a:defRPr>
            </a:defPPr>
            <a:lvl1pPr algn="l">
              <a:defRPr sz="2100" b="0">
                <a:solidFill>
                  <a:srgbClr val="222222"/>
                </a:solidFill>
                <a:latin typeface="Times New Roman"/>
                <a:ea typeface="Times New Roman"/>
                <a:cs typeface="Times New Roman"/>
              </a:defRPr>
            </a:lvl1pPr>
            <a:lvl2pPr algn="l">
              <a:defRPr sz="2100" b="0">
                <a:solidFill>
                  <a:srgbClr val="222222"/>
                </a:solidFill>
                <a:latin typeface="Times New Roman"/>
                <a:ea typeface="Times New Roman"/>
                <a:cs typeface="Times New Roman"/>
              </a:defRPr>
            </a:lvl2pPr>
            <a:lvl3pPr algn="l">
              <a:defRPr sz="2100" b="0">
                <a:solidFill>
                  <a:srgbClr val="222222"/>
                </a:solidFill>
                <a:latin typeface="Times New Roman"/>
                <a:ea typeface="Times New Roman"/>
                <a:cs typeface="Times New Roman"/>
              </a:defRPr>
            </a:lvl3pPr>
            <a:lvl4pPr algn="l">
              <a:defRPr sz="2100" b="0">
                <a:solidFill>
                  <a:srgbClr val="222222"/>
                </a:solidFill>
                <a:latin typeface="Times New Roman"/>
                <a:ea typeface="Times New Roman"/>
                <a:cs typeface="Times New Roman"/>
              </a:defRPr>
            </a:lvl4pPr>
            <a:lvl5pPr algn="l">
              <a:defRPr sz="2100" b="0">
                <a:solidFill>
                  <a:srgbClr val="222222"/>
                </a:solidFill>
                <a:latin typeface="Times New Roman"/>
                <a:ea typeface="Times New Roman"/>
                <a:cs typeface="Times New Roman"/>
              </a:defRPr>
            </a:lvl5pPr>
            <a:lvl6pPr algn="l">
              <a:defRPr sz="2100" b="0">
                <a:solidFill>
                  <a:srgbClr val="222222"/>
                </a:solidFill>
                <a:latin typeface="Times New Roman"/>
                <a:ea typeface="Times New Roman"/>
                <a:cs typeface="Times New Roman"/>
              </a:defRPr>
            </a:lvl6pPr>
            <a:lvl7pPr algn="l">
              <a:defRPr sz="2100" b="0">
                <a:solidFill>
                  <a:srgbClr val="222222"/>
                </a:solidFill>
                <a:latin typeface="Times New Roman"/>
                <a:ea typeface="Times New Roman"/>
                <a:cs typeface="Times New Roman"/>
              </a:defRPr>
            </a:lvl7pPr>
            <a:lvl8pPr algn="l">
              <a:defRPr sz="2100" b="0">
                <a:solidFill>
                  <a:srgbClr val="222222"/>
                </a:solidFill>
                <a:latin typeface="Times New Roman"/>
                <a:ea typeface="Times New Roman"/>
                <a:cs typeface="Times New Roman"/>
              </a:defRPr>
            </a:lvl8pPr>
            <a:lvl9pPr algn="l">
              <a:defRPr sz="2100" b="0">
                <a:solidFill>
                  <a:srgbClr val="222222"/>
                </a:solidFill>
                <a:latin typeface="Times New Roman"/>
                <a:ea typeface="Times New Roman"/>
                <a:cs typeface="Times New Roman"/>
              </a:defRPr>
            </a:lvl9pPr>
          </a:lstStyle>
          <a:p xmlns:a="http://schemas.openxmlformats.org/drawingml/2006/main">
            <a:pPr algn="l">
              <a:defRPr sz="2100" b="0">
                <a:solidFill>
                  <a:srgbClr val="222222"/>
                </a:solidFill>
                <a:latin typeface="Times New Roman"/>
                <a:ea typeface="Times New Roman"/>
                <a:cs typeface="Times New Roman"/>
              </a:defRPr>
            </a:pPr>
            <a:r>
              <a:rPr sz="2100" b="0">
                <a:solidFill>
                  <a:srgbClr val="222222"/>
                </a:solidFill>
                <a:latin typeface="Times New Roman"/>
                <a:ea typeface="Times New Roman"/>
                <a:cs typeface="Times New Roman"/>
              </a:rPr>
              <a:t>Replace chillers. Upgrade pumps, fans and controls.</a:t>
            </a:r>
          </a:p>
          <a:p xmlns:a="http://schemas.openxmlformats.org/drawingml/2006/main">
            <a:pPr algn="l">
              <a:defRPr sz="2100" b="0">
                <a:solidFill>
                  <a:srgbClr val="222222"/>
                </a:solidFill>
                <a:latin typeface="Times New Roman"/>
                <a:ea typeface="Times New Roman"/>
                <a:cs typeface="Times New Roman"/>
              </a:defRPr>
            </a:pPr>
            <a:r>
              <a:rPr sz="2100" b="0">
                <a:solidFill>
                  <a:srgbClr val="222222"/>
                </a:solidFill>
                <a:latin typeface="Times New Roman"/>
                <a:ea typeface="Times New Roman"/>
                <a:cs typeface="Times New Roman"/>
              </a:rPr>
              <a:t>Save 1,147,200 kWh/year (37.7%).</a:t>
            </a:r>
          </a:p>
        </p:txBody>
      </p:sp>
      <p:sp>
        <p:nvSpPr>
          <p:cNvPr id="11" name="c-label">
            <a:extLst xmlns:a="http://schemas.openxmlformats.org/drawingml/2006/main">
              <a:ext uri="{FF2B5EF4-FFF2-40B4-BE49-F238E27FC236}">
                <a16:creationId xmlns:a16="http://schemas.microsoft.com/office/drawing/2014/main" id="{3009C717-5D47-4763-8667-9471442A9F13}"/>
              </a:ext>
            </a:extLst>
          </p:cNvPr>
          <p:cNvSpPr>
            <a:spLocks xmlns:a="http://schemas.openxmlformats.org/drawingml/2006/main" noGrp="1"/>
          </p:cNvSpPr>
          <p:nvPr/>
        </p:nvSpPr>
        <p:spPr>
          <a:xfrm xmlns:a="http://schemas.openxmlformats.org/drawingml/2006/main">
            <a:off x="7696200" y="4410075"/>
            <a:ext cx="3886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1">
                <a:solidFill>
                  <a:srgbClr val="222222"/>
                </a:solidFill>
                <a:latin typeface="Times New Roman"/>
                <a:ea typeface="Times New Roman"/>
                <a:cs typeface="Times New Roman"/>
              </a:defRPr>
            </a:defPPr>
            <a:lvl1pPr algn="l">
              <a:defRPr sz="2200" b="1">
                <a:solidFill>
                  <a:srgbClr val="222222"/>
                </a:solidFill>
                <a:latin typeface="Times New Roman"/>
                <a:ea typeface="Times New Roman"/>
                <a:cs typeface="Times New Roman"/>
              </a:defRPr>
            </a:lvl1pPr>
            <a:lvl2pPr algn="l">
              <a:defRPr sz="2200" b="1">
                <a:solidFill>
                  <a:srgbClr val="222222"/>
                </a:solidFill>
                <a:latin typeface="Times New Roman"/>
                <a:ea typeface="Times New Roman"/>
                <a:cs typeface="Times New Roman"/>
              </a:defRPr>
            </a:lvl2pPr>
            <a:lvl3pPr algn="l">
              <a:defRPr sz="2200" b="1">
                <a:solidFill>
                  <a:srgbClr val="222222"/>
                </a:solidFill>
                <a:latin typeface="Times New Roman"/>
                <a:ea typeface="Times New Roman"/>
                <a:cs typeface="Times New Roman"/>
              </a:defRPr>
            </a:lvl3pPr>
            <a:lvl4pPr algn="l">
              <a:defRPr sz="2200" b="1">
                <a:solidFill>
                  <a:srgbClr val="222222"/>
                </a:solidFill>
                <a:latin typeface="Times New Roman"/>
                <a:ea typeface="Times New Roman"/>
                <a:cs typeface="Times New Roman"/>
              </a:defRPr>
            </a:lvl4pPr>
            <a:lvl5pPr algn="l">
              <a:defRPr sz="2200" b="1">
                <a:solidFill>
                  <a:srgbClr val="222222"/>
                </a:solidFill>
                <a:latin typeface="Times New Roman"/>
                <a:ea typeface="Times New Roman"/>
                <a:cs typeface="Times New Roman"/>
              </a:defRPr>
            </a:lvl5pPr>
            <a:lvl6pPr algn="l">
              <a:defRPr sz="2200" b="1">
                <a:solidFill>
                  <a:srgbClr val="222222"/>
                </a:solidFill>
                <a:latin typeface="Times New Roman"/>
                <a:ea typeface="Times New Roman"/>
                <a:cs typeface="Times New Roman"/>
              </a:defRPr>
            </a:lvl6pPr>
            <a:lvl7pPr algn="l">
              <a:defRPr sz="2200" b="1">
                <a:solidFill>
                  <a:srgbClr val="222222"/>
                </a:solidFill>
                <a:latin typeface="Times New Roman"/>
                <a:ea typeface="Times New Roman"/>
                <a:cs typeface="Times New Roman"/>
              </a:defRPr>
            </a:lvl7pPr>
            <a:lvl8pPr algn="l">
              <a:defRPr sz="2200" b="1">
                <a:solidFill>
                  <a:srgbClr val="222222"/>
                </a:solidFill>
                <a:latin typeface="Times New Roman"/>
                <a:ea typeface="Times New Roman"/>
                <a:cs typeface="Times New Roman"/>
              </a:defRPr>
            </a:lvl8pPr>
            <a:lvl9pPr algn="l">
              <a:defRPr sz="2200" b="1">
                <a:solidFill>
                  <a:srgbClr val="222222"/>
                </a:solidFill>
                <a:latin typeface="Times New Roman"/>
                <a:ea typeface="Times New Roman"/>
                <a:cs typeface="Times New Roman"/>
              </a:defRPr>
            </a:lvl9pPr>
          </a:lstStyle>
          <a:p xmlns:a="http://schemas.openxmlformats.org/drawingml/2006/main">
            <a:pPr algn="l">
              <a:defRPr sz="2200" b="1">
                <a:solidFill>
                  <a:srgbClr val="222222"/>
                </a:solidFill>
                <a:latin typeface="Times New Roman"/>
                <a:ea typeface="Times New Roman"/>
                <a:cs typeface="Times New Roman"/>
              </a:defRPr>
            </a:pPr>
            <a:r>
              <a:rPr sz="2200" b="1">
                <a:solidFill>
                  <a:srgbClr val="222222"/>
                </a:solidFill>
                <a:latin typeface="Times New Roman"/>
                <a:ea typeface="Times New Roman"/>
                <a:cs typeface="Times New Roman"/>
              </a:rPr>
              <a:t>C  Partial upgrade</a:t>
            </a:r>
          </a:p>
        </p:txBody>
      </p:sp>
      <p:sp>
        <p:nvSpPr>
          <p:cNvPr id="12" name="c-copy">
            <a:extLst xmlns:a="http://schemas.openxmlformats.org/drawingml/2006/main">
              <a:ext uri="{FF2B5EF4-FFF2-40B4-BE49-F238E27FC236}">
                <a16:creationId xmlns:a16="http://schemas.microsoft.com/office/drawing/2014/main" id="{6EB97421-AEED-4753-979E-7DF0AFF21F2A}"/>
              </a:ext>
            </a:extLst>
          </p:cNvPr>
          <p:cNvSpPr>
            <a:spLocks xmlns:a="http://schemas.openxmlformats.org/drawingml/2006/main" noGrp="1"/>
          </p:cNvSpPr>
          <p:nvPr/>
        </p:nvSpPr>
        <p:spPr>
          <a:xfrm xmlns:a="http://schemas.openxmlformats.org/drawingml/2006/main">
            <a:off x="7696200" y="4819650"/>
            <a:ext cx="38862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222222"/>
                </a:solidFill>
                <a:latin typeface="Times New Roman"/>
                <a:ea typeface="Times New Roman"/>
                <a:cs typeface="Times New Roman"/>
              </a:defRPr>
            </a:defPPr>
            <a:lvl1pPr algn="l">
              <a:defRPr sz="2100" b="0">
                <a:solidFill>
                  <a:srgbClr val="222222"/>
                </a:solidFill>
                <a:latin typeface="Times New Roman"/>
                <a:ea typeface="Times New Roman"/>
                <a:cs typeface="Times New Roman"/>
              </a:defRPr>
            </a:lvl1pPr>
            <a:lvl2pPr algn="l">
              <a:defRPr sz="2100" b="0">
                <a:solidFill>
                  <a:srgbClr val="222222"/>
                </a:solidFill>
                <a:latin typeface="Times New Roman"/>
                <a:ea typeface="Times New Roman"/>
                <a:cs typeface="Times New Roman"/>
              </a:defRPr>
            </a:lvl2pPr>
            <a:lvl3pPr algn="l">
              <a:defRPr sz="2100" b="0">
                <a:solidFill>
                  <a:srgbClr val="222222"/>
                </a:solidFill>
                <a:latin typeface="Times New Roman"/>
                <a:ea typeface="Times New Roman"/>
                <a:cs typeface="Times New Roman"/>
              </a:defRPr>
            </a:lvl3pPr>
            <a:lvl4pPr algn="l">
              <a:defRPr sz="2100" b="0">
                <a:solidFill>
                  <a:srgbClr val="222222"/>
                </a:solidFill>
                <a:latin typeface="Times New Roman"/>
                <a:ea typeface="Times New Roman"/>
                <a:cs typeface="Times New Roman"/>
              </a:defRPr>
            </a:lvl4pPr>
            <a:lvl5pPr algn="l">
              <a:defRPr sz="2100" b="0">
                <a:solidFill>
                  <a:srgbClr val="222222"/>
                </a:solidFill>
                <a:latin typeface="Times New Roman"/>
                <a:ea typeface="Times New Roman"/>
                <a:cs typeface="Times New Roman"/>
              </a:defRPr>
            </a:lvl5pPr>
            <a:lvl6pPr algn="l">
              <a:defRPr sz="2100" b="0">
                <a:solidFill>
                  <a:srgbClr val="222222"/>
                </a:solidFill>
                <a:latin typeface="Times New Roman"/>
                <a:ea typeface="Times New Roman"/>
                <a:cs typeface="Times New Roman"/>
              </a:defRPr>
            </a:lvl6pPr>
            <a:lvl7pPr algn="l">
              <a:defRPr sz="2100" b="0">
                <a:solidFill>
                  <a:srgbClr val="222222"/>
                </a:solidFill>
                <a:latin typeface="Times New Roman"/>
                <a:ea typeface="Times New Roman"/>
                <a:cs typeface="Times New Roman"/>
              </a:defRPr>
            </a:lvl7pPr>
            <a:lvl8pPr algn="l">
              <a:defRPr sz="2100" b="0">
                <a:solidFill>
                  <a:srgbClr val="222222"/>
                </a:solidFill>
                <a:latin typeface="Times New Roman"/>
                <a:ea typeface="Times New Roman"/>
                <a:cs typeface="Times New Roman"/>
              </a:defRPr>
            </a:lvl8pPr>
            <a:lvl9pPr algn="l">
              <a:defRPr sz="2100" b="0">
                <a:solidFill>
                  <a:srgbClr val="222222"/>
                </a:solidFill>
                <a:latin typeface="Times New Roman"/>
                <a:ea typeface="Times New Roman"/>
                <a:cs typeface="Times New Roman"/>
              </a:defRPr>
            </a:lvl9pPr>
          </a:lstStyle>
          <a:p xmlns:a="http://schemas.openxmlformats.org/drawingml/2006/main">
            <a:pPr algn="l">
              <a:defRPr sz="2100" b="0">
                <a:solidFill>
                  <a:srgbClr val="222222"/>
                </a:solidFill>
                <a:latin typeface="Times New Roman"/>
                <a:ea typeface="Times New Roman"/>
                <a:cs typeface="Times New Roman"/>
              </a:defRPr>
            </a:pPr>
            <a:r>
              <a:rPr sz="2100" b="0">
                <a:solidFill>
                  <a:srgbClr val="222222"/>
                </a:solidFill>
                <a:latin typeface="Times New Roman"/>
                <a:ea typeface="Times New Roman"/>
                <a:cs typeface="Times New Roman"/>
              </a:rPr>
              <a:t>Rebuild chillers and make selective equipment/control upgrades.</a:t>
            </a:r>
          </a:p>
          <a:p xmlns:a="http://schemas.openxmlformats.org/drawingml/2006/main">
            <a:pPr algn="l">
              <a:defRPr sz="2100" b="0">
                <a:solidFill>
                  <a:srgbClr val="222222"/>
                </a:solidFill>
                <a:latin typeface="Times New Roman"/>
                <a:ea typeface="Times New Roman"/>
                <a:cs typeface="Times New Roman"/>
              </a:defRPr>
            </a:pPr>
            <a:r>
              <a:rPr sz="2100" b="0">
                <a:solidFill>
                  <a:srgbClr val="222222"/>
                </a:solidFill>
                <a:latin typeface="Times New Roman"/>
                <a:ea typeface="Times New Roman"/>
                <a:cs typeface="Times New Roman"/>
              </a:rPr>
              <a:t>Save 477,000 kWh/year (15.7%).</a:t>
            </a:r>
          </a:p>
        </p:txBody>
      </p:sp>
    </p:spTree>
    <p:extLst>
      <p:ext uri="{BB962C8B-B14F-4D97-AF65-F5344CB8AC3E}">
        <p14:creationId xmlns:p14="http://schemas.microsoft.com/office/powerpoint/2010/main" val="12398779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825A9235-439C-431D-9373-40740EBD4C64}"/>
              </a:ext>
            </a:extLst>
          </p:cNvPr>
          <p:cNvSpPr>
            <a:spLocks xmlns:a="http://schemas.openxmlformats.org/drawingml/2006/main" noGrp="1"/>
          </p:cNvSpPr>
          <p:nvPr/>
        </p:nvSpPr>
        <p:spPr>
          <a:xfrm xmlns:a="http://schemas.openxmlformats.org/drawingml/2006/main">
            <a:off x="533400" y="30480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00" b="1">
                <a:solidFill>
                  <a:srgbClr val="222222"/>
                </a:solidFill>
                <a:latin typeface="Times New Roman"/>
                <a:ea typeface="Times New Roman"/>
                <a:cs typeface="Times New Roman"/>
              </a:defRPr>
            </a:defPPr>
            <a:lvl1pPr algn="l">
              <a:defRPr sz="3200" b="1">
                <a:solidFill>
                  <a:srgbClr val="222222"/>
                </a:solidFill>
                <a:latin typeface="Times New Roman"/>
                <a:ea typeface="Times New Roman"/>
                <a:cs typeface="Times New Roman"/>
              </a:defRPr>
            </a:lvl1pPr>
            <a:lvl2pPr algn="l">
              <a:defRPr sz="3200" b="1">
                <a:solidFill>
                  <a:srgbClr val="222222"/>
                </a:solidFill>
                <a:latin typeface="Times New Roman"/>
                <a:ea typeface="Times New Roman"/>
                <a:cs typeface="Times New Roman"/>
              </a:defRPr>
            </a:lvl2pPr>
            <a:lvl3pPr algn="l">
              <a:defRPr sz="3200" b="1">
                <a:solidFill>
                  <a:srgbClr val="222222"/>
                </a:solidFill>
                <a:latin typeface="Times New Roman"/>
                <a:ea typeface="Times New Roman"/>
                <a:cs typeface="Times New Roman"/>
              </a:defRPr>
            </a:lvl3pPr>
            <a:lvl4pPr algn="l">
              <a:defRPr sz="3200" b="1">
                <a:solidFill>
                  <a:srgbClr val="222222"/>
                </a:solidFill>
                <a:latin typeface="Times New Roman"/>
                <a:ea typeface="Times New Roman"/>
                <a:cs typeface="Times New Roman"/>
              </a:defRPr>
            </a:lvl4pPr>
            <a:lvl5pPr algn="l">
              <a:defRPr sz="3200" b="1">
                <a:solidFill>
                  <a:srgbClr val="222222"/>
                </a:solidFill>
                <a:latin typeface="Times New Roman"/>
                <a:ea typeface="Times New Roman"/>
                <a:cs typeface="Times New Roman"/>
              </a:defRPr>
            </a:lvl5pPr>
            <a:lvl6pPr algn="l">
              <a:defRPr sz="3200" b="1">
                <a:solidFill>
                  <a:srgbClr val="222222"/>
                </a:solidFill>
                <a:latin typeface="Times New Roman"/>
                <a:ea typeface="Times New Roman"/>
                <a:cs typeface="Times New Roman"/>
              </a:defRPr>
            </a:lvl6pPr>
            <a:lvl7pPr algn="l">
              <a:defRPr sz="3200" b="1">
                <a:solidFill>
                  <a:srgbClr val="222222"/>
                </a:solidFill>
                <a:latin typeface="Times New Roman"/>
                <a:ea typeface="Times New Roman"/>
                <a:cs typeface="Times New Roman"/>
              </a:defRPr>
            </a:lvl7pPr>
            <a:lvl8pPr algn="l">
              <a:defRPr sz="3200" b="1">
                <a:solidFill>
                  <a:srgbClr val="222222"/>
                </a:solidFill>
                <a:latin typeface="Times New Roman"/>
                <a:ea typeface="Times New Roman"/>
                <a:cs typeface="Times New Roman"/>
              </a:defRPr>
            </a:lvl8pPr>
            <a:lvl9pPr algn="l">
              <a:defRPr sz="3200" b="1">
                <a:solidFill>
                  <a:srgbClr val="222222"/>
                </a:solidFill>
                <a:latin typeface="Times New Roman"/>
                <a:ea typeface="Times New Roman"/>
                <a:cs typeface="Times New Roman"/>
              </a:defRPr>
            </a:lvl9pPr>
          </a:lstStyle>
          <a:p xmlns:a="http://schemas.openxmlformats.org/drawingml/2006/main">
            <a:pPr algn="l">
              <a:defRPr sz="3200" b="1">
                <a:solidFill>
                  <a:srgbClr val="222222"/>
                </a:solidFill>
                <a:latin typeface="Times New Roman"/>
                <a:ea typeface="Times New Roman"/>
                <a:cs typeface="Times New Roman"/>
              </a:defRPr>
            </a:pPr>
            <a:r>
              <a:rPr sz="3200" b="1">
                <a:solidFill>
                  <a:srgbClr val="222222"/>
                </a:solidFill>
                <a:latin typeface="Times New Roman"/>
                <a:ea typeface="Times New Roman"/>
                <a:cs typeface="Times New Roman"/>
              </a:rPr>
              <a:t>Capital investment and operating savings</a:t>
            </a:r>
          </a:p>
        </p:txBody>
      </p:sp>
      <p:sp>
        <p:nvSpPr>
          <p:cNvPr id="2" name="footnote">
            <a:extLst xmlns:a="http://schemas.openxmlformats.org/drawingml/2006/main">
              <a:ext uri="{FF2B5EF4-FFF2-40B4-BE49-F238E27FC236}">
                <a16:creationId xmlns:a16="http://schemas.microsoft.com/office/drawing/2014/main" id="{D933A2E5-C97C-48F7-BD79-936AC2A9CBE8}"/>
              </a:ext>
            </a:extLst>
          </p:cNvPr>
          <p:cNvSpPr>
            <a:spLocks xmlns:a="http://schemas.openxmlformats.org/drawingml/2006/main" noGrp="1"/>
          </p:cNvSpPr>
          <p:nvPr/>
        </p:nvSpPr>
        <p:spPr>
          <a:xfrm xmlns:a="http://schemas.openxmlformats.org/drawingml/2006/main">
            <a:off x="533400" y="6305550"/>
            <a:ext cx="10572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0">
                <a:solidFill>
                  <a:srgbClr val="535353"/>
                </a:solidFill>
                <a:latin typeface="Times New Roman"/>
                <a:ea typeface="Times New Roman"/>
                <a:cs typeface="Times New Roman"/>
              </a:defRPr>
            </a:defPPr>
            <a:lvl1pPr algn="l">
              <a:defRPr sz="1400" b="0">
                <a:solidFill>
                  <a:srgbClr val="535353"/>
                </a:solidFill>
                <a:latin typeface="Times New Roman"/>
                <a:ea typeface="Times New Roman"/>
                <a:cs typeface="Times New Roman"/>
              </a:defRPr>
            </a:lvl1pPr>
            <a:lvl2pPr algn="l">
              <a:defRPr sz="1400" b="0">
                <a:solidFill>
                  <a:srgbClr val="535353"/>
                </a:solidFill>
                <a:latin typeface="Times New Roman"/>
                <a:ea typeface="Times New Roman"/>
                <a:cs typeface="Times New Roman"/>
              </a:defRPr>
            </a:lvl2pPr>
            <a:lvl3pPr algn="l">
              <a:defRPr sz="1400" b="0">
                <a:solidFill>
                  <a:srgbClr val="535353"/>
                </a:solidFill>
                <a:latin typeface="Times New Roman"/>
                <a:ea typeface="Times New Roman"/>
                <a:cs typeface="Times New Roman"/>
              </a:defRPr>
            </a:lvl3pPr>
            <a:lvl4pPr algn="l">
              <a:defRPr sz="1400" b="0">
                <a:solidFill>
                  <a:srgbClr val="535353"/>
                </a:solidFill>
                <a:latin typeface="Times New Roman"/>
                <a:ea typeface="Times New Roman"/>
                <a:cs typeface="Times New Roman"/>
              </a:defRPr>
            </a:lvl4pPr>
            <a:lvl5pPr algn="l">
              <a:defRPr sz="1400" b="0">
                <a:solidFill>
                  <a:srgbClr val="535353"/>
                </a:solidFill>
                <a:latin typeface="Times New Roman"/>
                <a:ea typeface="Times New Roman"/>
                <a:cs typeface="Times New Roman"/>
              </a:defRPr>
            </a:lvl5pPr>
            <a:lvl6pPr algn="l">
              <a:defRPr sz="1400" b="0">
                <a:solidFill>
                  <a:srgbClr val="535353"/>
                </a:solidFill>
                <a:latin typeface="Times New Roman"/>
                <a:ea typeface="Times New Roman"/>
                <a:cs typeface="Times New Roman"/>
              </a:defRPr>
            </a:lvl6pPr>
            <a:lvl7pPr algn="l">
              <a:defRPr sz="1400" b="0">
                <a:solidFill>
                  <a:srgbClr val="535353"/>
                </a:solidFill>
                <a:latin typeface="Times New Roman"/>
                <a:ea typeface="Times New Roman"/>
                <a:cs typeface="Times New Roman"/>
              </a:defRPr>
            </a:lvl7pPr>
            <a:lvl8pPr algn="l">
              <a:defRPr sz="1400" b="0">
                <a:solidFill>
                  <a:srgbClr val="535353"/>
                </a:solidFill>
                <a:latin typeface="Times New Roman"/>
                <a:ea typeface="Times New Roman"/>
                <a:cs typeface="Times New Roman"/>
              </a:defRPr>
            </a:lvl8pPr>
            <a:lvl9pPr algn="l">
              <a:defRPr sz="1400" b="0">
                <a:solidFill>
                  <a:srgbClr val="535353"/>
                </a:solidFill>
                <a:latin typeface="Times New Roman"/>
                <a:ea typeface="Times New Roman"/>
                <a:cs typeface="Times New Roman"/>
              </a:defRPr>
            </a:lvl9pPr>
          </a:lstStyle>
          <a:p xmlns:a="http://schemas.openxmlformats.org/drawingml/2006/main">
            <a:pPr algn="l">
              <a:defRPr sz="1400" b="0">
                <a:solidFill>
                  <a:srgbClr val="535353"/>
                </a:solidFill>
                <a:latin typeface="Times New Roman"/>
                <a:ea typeface="Times New Roman"/>
                <a:cs typeface="Times New Roman"/>
              </a:defRPr>
            </a:pPr>
            <a:r>
              <a:rPr sz="1400" b="0">
                <a:solidFill>
                  <a:srgbClr val="535353"/>
                </a:solidFill>
                <a:latin typeface="Times New Roman"/>
                <a:ea typeface="Times New Roman"/>
                <a:cs typeface="Times New Roman"/>
              </a:rPr>
              <a:t>Planning estimates, without contractor bids. All values are USD. Cost groups reconcile to the CapEx worksheet.</a:t>
            </a:r>
          </a:p>
        </p:txBody>
      </p:sp>
      <p:sp>
        <p:nvSpPr>
          <p:cNvPr id="3" name="slide-number">
            <a:extLst xmlns:a="http://schemas.openxmlformats.org/drawingml/2006/main">
              <a:ext uri="{FF2B5EF4-FFF2-40B4-BE49-F238E27FC236}">
                <a16:creationId xmlns:a16="http://schemas.microsoft.com/office/drawing/2014/main" id="{1CC125A7-CFAC-43CE-94A7-24D50F500BBA}"/>
              </a:ext>
            </a:extLst>
          </p:cNvPr>
          <p:cNvSpPr>
            <a:spLocks xmlns:a="http://schemas.openxmlformats.org/drawingml/2006/main" noGrp="1"/>
          </p:cNvSpPr>
          <p:nvPr/>
        </p:nvSpPr>
        <p:spPr>
          <a:xfrm xmlns:a="http://schemas.openxmlformats.org/drawingml/2006/main">
            <a:off x="11144250" y="63627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00" b="0">
                <a:solidFill>
                  <a:srgbClr val="535353"/>
                </a:solidFill>
                <a:latin typeface="Times New Roman"/>
                <a:ea typeface="Times New Roman"/>
                <a:cs typeface="Times New Roman"/>
              </a:defRPr>
            </a:defPPr>
            <a:lvl1pPr algn="r">
              <a:defRPr sz="1400" b="0">
                <a:solidFill>
                  <a:srgbClr val="535353"/>
                </a:solidFill>
                <a:latin typeface="Times New Roman"/>
                <a:ea typeface="Times New Roman"/>
                <a:cs typeface="Times New Roman"/>
              </a:defRPr>
            </a:lvl1pPr>
            <a:lvl2pPr algn="r">
              <a:defRPr sz="1400" b="0">
                <a:solidFill>
                  <a:srgbClr val="535353"/>
                </a:solidFill>
                <a:latin typeface="Times New Roman"/>
                <a:ea typeface="Times New Roman"/>
                <a:cs typeface="Times New Roman"/>
              </a:defRPr>
            </a:lvl2pPr>
            <a:lvl3pPr algn="r">
              <a:defRPr sz="1400" b="0">
                <a:solidFill>
                  <a:srgbClr val="535353"/>
                </a:solidFill>
                <a:latin typeface="Times New Roman"/>
                <a:ea typeface="Times New Roman"/>
                <a:cs typeface="Times New Roman"/>
              </a:defRPr>
            </a:lvl3pPr>
            <a:lvl4pPr algn="r">
              <a:defRPr sz="1400" b="0">
                <a:solidFill>
                  <a:srgbClr val="535353"/>
                </a:solidFill>
                <a:latin typeface="Times New Roman"/>
                <a:ea typeface="Times New Roman"/>
                <a:cs typeface="Times New Roman"/>
              </a:defRPr>
            </a:lvl4pPr>
            <a:lvl5pPr algn="r">
              <a:defRPr sz="1400" b="0">
                <a:solidFill>
                  <a:srgbClr val="535353"/>
                </a:solidFill>
                <a:latin typeface="Times New Roman"/>
                <a:ea typeface="Times New Roman"/>
                <a:cs typeface="Times New Roman"/>
              </a:defRPr>
            </a:lvl5pPr>
            <a:lvl6pPr algn="r">
              <a:defRPr sz="1400" b="0">
                <a:solidFill>
                  <a:srgbClr val="535353"/>
                </a:solidFill>
                <a:latin typeface="Times New Roman"/>
                <a:ea typeface="Times New Roman"/>
                <a:cs typeface="Times New Roman"/>
              </a:defRPr>
            </a:lvl6pPr>
            <a:lvl7pPr algn="r">
              <a:defRPr sz="1400" b="0">
                <a:solidFill>
                  <a:srgbClr val="535353"/>
                </a:solidFill>
                <a:latin typeface="Times New Roman"/>
                <a:ea typeface="Times New Roman"/>
                <a:cs typeface="Times New Roman"/>
              </a:defRPr>
            </a:lvl7pPr>
            <a:lvl8pPr algn="r">
              <a:defRPr sz="1400" b="0">
                <a:solidFill>
                  <a:srgbClr val="535353"/>
                </a:solidFill>
                <a:latin typeface="Times New Roman"/>
                <a:ea typeface="Times New Roman"/>
                <a:cs typeface="Times New Roman"/>
              </a:defRPr>
            </a:lvl8pPr>
            <a:lvl9pPr algn="r">
              <a:defRPr sz="1400" b="0">
                <a:solidFill>
                  <a:srgbClr val="535353"/>
                </a:solidFill>
                <a:latin typeface="Times New Roman"/>
                <a:ea typeface="Times New Roman"/>
                <a:cs typeface="Times New Roman"/>
              </a:defRPr>
            </a:lvl9pPr>
          </a:lstStyle>
          <a:p xmlns:a="http://schemas.openxmlformats.org/drawingml/2006/main">
            <a:pPr algn="r">
              <a:defRPr sz="1400" b="0">
                <a:solidFill>
                  <a:srgbClr val="535353"/>
                </a:solidFill>
                <a:latin typeface="Times New Roman"/>
                <a:ea typeface="Times New Roman"/>
                <a:cs typeface="Times New Roman"/>
              </a:defRPr>
            </a:pPr>
            <a:r>
              <a:rPr sz="1400" b="0">
                <a:solidFill>
                  <a:srgbClr val="535353"/>
                </a:solidFill>
                <a:latin typeface="Times New Roman"/>
                <a:ea typeface="Times New Roman"/>
                <a:cs typeface="Times New Roman"/>
              </a:rPr>
              <a:t>4 / 7</a:t>
            </a:r>
          </a:p>
        </p:txBody>
      </p:sp>
      <p:sp>
        <p:nvSpPr>
          <p:cNvPr id="4" name="capital-heading">
            <a:extLst xmlns:a="http://schemas.openxmlformats.org/drawingml/2006/main">
              <a:ext uri="{FF2B5EF4-FFF2-40B4-BE49-F238E27FC236}">
                <a16:creationId xmlns:a16="http://schemas.microsoft.com/office/drawing/2014/main" id="{AC45B367-4913-4BC8-8A98-AF5840AB6553}"/>
              </a:ext>
            </a:extLst>
          </p:cNvPr>
          <p:cNvSpPr>
            <a:spLocks xmlns:a="http://schemas.openxmlformats.org/drawingml/2006/main" noGrp="1"/>
          </p:cNvSpPr>
          <p:nvPr/>
        </p:nvSpPr>
        <p:spPr>
          <a:xfrm xmlns:a="http://schemas.openxmlformats.org/drawingml/2006/main">
            <a:off x="533400" y="1190625"/>
            <a:ext cx="619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1">
                <a:solidFill>
                  <a:srgbClr val="222222"/>
                </a:solidFill>
                <a:latin typeface="Times New Roman"/>
                <a:ea typeface="Times New Roman"/>
                <a:cs typeface="Times New Roman"/>
              </a:defRPr>
            </a:defPPr>
            <a:lvl1pPr algn="l">
              <a:defRPr sz="2200" b="1">
                <a:solidFill>
                  <a:srgbClr val="222222"/>
                </a:solidFill>
                <a:latin typeface="Times New Roman"/>
                <a:ea typeface="Times New Roman"/>
                <a:cs typeface="Times New Roman"/>
              </a:defRPr>
            </a:lvl1pPr>
            <a:lvl2pPr algn="l">
              <a:defRPr sz="2200" b="1">
                <a:solidFill>
                  <a:srgbClr val="222222"/>
                </a:solidFill>
                <a:latin typeface="Times New Roman"/>
                <a:ea typeface="Times New Roman"/>
                <a:cs typeface="Times New Roman"/>
              </a:defRPr>
            </a:lvl2pPr>
            <a:lvl3pPr algn="l">
              <a:defRPr sz="2200" b="1">
                <a:solidFill>
                  <a:srgbClr val="222222"/>
                </a:solidFill>
                <a:latin typeface="Times New Roman"/>
                <a:ea typeface="Times New Roman"/>
                <a:cs typeface="Times New Roman"/>
              </a:defRPr>
            </a:lvl3pPr>
            <a:lvl4pPr algn="l">
              <a:defRPr sz="2200" b="1">
                <a:solidFill>
                  <a:srgbClr val="222222"/>
                </a:solidFill>
                <a:latin typeface="Times New Roman"/>
                <a:ea typeface="Times New Roman"/>
                <a:cs typeface="Times New Roman"/>
              </a:defRPr>
            </a:lvl4pPr>
            <a:lvl5pPr algn="l">
              <a:defRPr sz="2200" b="1">
                <a:solidFill>
                  <a:srgbClr val="222222"/>
                </a:solidFill>
                <a:latin typeface="Times New Roman"/>
                <a:ea typeface="Times New Roman"/>
                <a:cs typeface="Times New Roman"/>
              </a:defRPr>
            </a:lvl5pPr>
            <a:lvl6pPr algn="l">
              <a:defRPr sz="2200" b="1">
                <a:solidFill>
                  <a:srgbClr val="222222"/>
                </a:solidFill>
                <a:latin typeface="Times New Roman"/>
                <a:ea typeface="Times New Roman"/>
                <a:cs typeface="Times New Roman"/>
              </a:defRPr>
            </a:lvl6pPr>
            <a:lvl7pPr algn="l">
              <a:defRPr sz="2200" b="1">
                <a:solidFill>
                  <a:srgbClr val="222222"/>
                </a:solidFill>
                <a:latin typeface="Times New Roman"/>
                <a:ea typeface="Times New Roman"/>
                <a:cs typeface="Times New Roman"/>
              </a:defRPr>
            </a:lvl7pPr>
            <a:lvl8pPr algn="l">
              <a:defRPr sz="2200" b="1">
                <a:solidFill>
                  <a:srgbClr val="222222"/>
                </a:solidFill>
                <a:latin typeface="Times New Roman"/>
                <a:ea typeface="Times New Roman"/>
                <a:cs typeface="Times New Roman"/>
              </a:defRPr>
            </a:lvl8pPr>
            <a:lvl9pPr algn="l">
              <a:defRPr sz="2200" b="1">
                <a:solidFill>
                  <a:srgbClr val="222222"/>
                </a:solidFill>
                <a:latin typeface="Times New Roman"/>
                <a:ea typeface="Times New Roman"/>
                <a:cs typeface="Times New Roman"/>
              </a:defRPr>
            </a:lvl9pPr>
          </a:lstStyle>
          <a:p xmlns:a="http://schemas.openxmlformats.org/drawingml/2006/main">
            <a:pPr algn="l">
              <a:defRPr sz="2200" b="1">
                <a:solidFill>
                  <a:srgbClr val="222222"/>
                </a:solidFill>
                <a:latin typeface="Times New Roman"/>
                <a:ea typeface="Times New Roman"/>
                <a:cs typeface="Times New Roman"/>
              </a:defRPr>
            </a:pPr>
            <a:r>
              <a:rPr sz="2200" b="1">
                <a:solidFill>
                  <a:srgbClr val="222222"/>
                </a:solidFill>
                <a:latin typeface="Times New Roman"/>
                <a:ea typeface="Times New Roman"/>
                <a:cs typeface="Times New Roman"/>
              </a:rPr>
              <a:t>Initial capital investment</a:t>
            </a:r>
          </a:p>
        </p:txBody>
      </p:sp>
      <p:graphicFrame>
        <p:nvGraphicFramePr>
          <p:cNvPr id="5" name="">
            <a:extLst xmlns:a="http://schemas.openxmlformats.org/drawingml/2006/main">
              <a:ext uri="{FF2B5EF4-FFF2-40B4-BE49-F238E27FC236}">
                <a16:creationId xmlns:a16="http://schemas.microsoft.com/office/drawing/2014/main" id="{47BBE433-9AEA-48A6-AA0C-2FA6B21F490B}"/>
              </a:ext>
            </a:extLst>
          </p:cNvPr>
          <p:cNvGraphicFramePr/>
          <p:nvPr/>
        </p:nvGraphicFramePr>
        <p:xfrm>
          <a:off xmlns:a="http://schemas.openxmlformats.org/drawingml/2006/main" x="533400" y="1695450"/>
          <a:ext xmlns:a="http://schemas.openxmlformats.org/drawingml/2006/main" cx="6248400" cy="3886200"/>
        </p:xfrm>
        <a:graphic xmlns:a="http://schemas.openxmlformats.org/drawingml/2006/main">
          <a:graphicData uri="http://schemas.openxmlformats.org/drawingml/2006/table">
            <a:tbl>
              <a:tblPr firstRow="0" lastRow="0" bandRow="0"/>
              <a:tblGrid>
                <a:gridCol w="3486150"/>
                <a:gridCol w="1381125"/>
                <a:gridCol w="1381125"/>
              </a:tblGrid>
              <a:tr h="457200">
                <a:tc>
                  <a:txBody>
                    <a:bodyPr lIns="95250" tIns="47625" rIns="95250" bIns="47625">
                      <a:noAutofit/>
                    </a:bodyPr>
                    <a:lstStyle/>
                    <a:p>
                      <a:pPr algn="l"/>
                      <a:r>
                        <a:rPr sz="1800" b="1">
                          <a:solidFill>
                            <a:srgbClr val="222222"/>
                          </a:solidFill>
                          <a:latin typeface="Times New Roman"/>
                          <a:ea typeface="Times New Roman"/>
                          <a:cs typeface="Times New Roman"/>
                        </a:rPr>
                        <a:t>Cost group</a:t>
                      </a:r>
                    </a:p>
                  </a:txBody>
                  <a:tcPr marL="91440" marR="91440" marT="45720" marB="45720" anchor="ctr">
                    <a:lnL w="5715">
                      <a:solidFill>
                        <a:srgbClr val="D2D2D2"/>
                      </a:solidFill>
                      <a:prstDash val="solid"/>
                    </a:lnL>
                    <a:lnR w="5715">
                      <a:solidFill>
                        <a:srgbClr val="D2D2D2"/>
                      </a:solidFill>
                      <a:prstDash val="solid"/>
                    </a:lnR>
                    <a:lnT w="5715">
                      <a:solidFill>
                        <a:srgbClr val="D2D2D2"/>
                      </a:solidFill>
                      <a:prstDash val="solid"/>
                    </a:lnT>
                    <a:lnB w="5715">
                      <a:solidFill>
                        <a:srgbClr val="D2D2D2"/>
                      </a:solidFill>
                      <a:prstDash val="solid"/>
                    </a:lnB>
                    <a:solidFill>
                      <a:srgbClr val="F0F0F0"/>
                    </a:solidFill>
                  </a:tcPr>
                </a:tc>
                <a:tc>
                  <a:txBody>
                    <a:bodyPr lIns="95250" tIns="47625" rIns="95250" bIns="47625">
                      <a:noAutofit/>
                    </a:bodyPr>
                    <a:lstStyle/>
                    <a:p>
                      <a:pPr algn="r"/>
                      <a:r>
                        <a:rPr sz="1800" b="1">
                          <a:solidFill>
                            <a:srgbClr val="222222"/>
                          </a:solidFill>
                          <a:latin typeface="Times New Roman"/>
                          <a:ea typeface="Times New Roman"/>
                          <a:cs typeface="Times New Roman"/>
                        </a:rPr>
                        <a:t>B: Full</a:t>
                      </a:r>
                    </a:p>
                  </a:txBody>
                  <a:tcPr marL="91440" marR="91440" marT="45720" marB="45720" anchor="ctr">
                    <a:lnR w="5715">
                      <a:solidFill>
                        <a:srgbClr val="D2D2D2"/>
                      </a:solidFill>
                      <a:prstDash val="solid"/>
                    </a:lnR>
                    <a:lnT w="5715">
                      <a:solidFill>
                        <a:srgbClr val="D2D2D2"/>
                      </a:solidFill>
                      <a:prstDash val="solid"/>
                    </a:lnT>
                    <a:lnB w="5715">
                      <a:solidFill>
                        <a:srgbClr val="D2D2D2"/>
                      </a:solidFill>
                      <a:prstDash val="solid"/>
                    </a:lnB>
                    <a:solidFill>
                      <a:srgbClr val="F0F0F0"/>
                    </a:solidFill>
                  </a:tcPr>
                </a:tc>
                <a:tc>
                  <a:txBody>
                    <a:bodyPr lIns="95250" tIns="47625" rIns="95250" bIns="47625">
                      <a:noAutofit/>
                    </a:bodyPr>
                    <a:lstStyle/>
                    <a:p>
                      <a:pPr algn="r"/>
                      <a:r>
                        <a:rPr sz="1800" b="1">
                          <a:solidFill>
                            <a:srgbClr val="222222"/>
                          </a:solidFill>
                          <a:latin typeface="Times New Roman"/>
                          <a:ea typeface="Times New Roman"/>
                          <a:cs typeface="Times New Roman"/>
                        </a:rPr>
                        <a:t>C: Partial</a:t>
                      </a:r>
                    </a:p>
                  </a:txBody>
                  <a:tcPr marL="91440" marR="91440" marT="45720" marB="45720" anchor="ctr">
                    <a:lnR w="5715">
                      <a:solidFill>
                        <a:srgbClr val="D2D2D2"/>
                      </a:solidFill>
                      <a:prstDash val="solid"/>
                    </a:lnR>
                    <a:lnT w="5715">
                      <a:solidFill>
                        <a:srgbClr val="D2D2D2"/>
                      </a:solidFill>
                      <a:prstDash val="solid"/>
                    </a:lnT>
                    <a:lnB w="5715">
                      <a:solidFill>
                        <a:srgbClr val="D2D2D2"/>
                      </a:solidFill>
                      <a:prstDash val="solid"/>
                    </a:lnB>
                    <a:solidFill>
                      <a:srgbClr val="F0F0F0"/>
                    </a:solidFill>
                  </a:tcPr>
                </a:tc>
              </a:tr>
              <a:tr h="552450">
                <a:tc>
                  <a:txBody>
                    <a:bodyPr lIns="95250" tIns="47625" rIns="95250" bIns="47625">
                      <a:noAutofit/>
                    </a:bodyPr>
                    <a:lstStyle/>
                    <a:p>
                      <a:pPr algn="l"/>
                      <a:r>
                        <a:rPr sz="1800" b="0">
                          <a:solidFill>
                            <a:srgbClr val="222222"/>
                          </a:solidFill>
                          <a:latin typeface="Times New Roman"/>
                          <a:ea typeface="Times New Roman"/>
                          <a:cs typeface="Times New Roman"/>
                        </a:rPr>
                        <a:t>Equipment</a:t>
                      </a:r>
                    </a:p>
                  </a:txBody>
                  <a:tcPr marL="91440" marR="91440" marT="45720" marB="45720" anchor="ctr">
                    <a:lnL w="5715">
                      <a:solidFill>
                        <a:srgbClr val="D2D2D2"/>
                      </a:solidFill>
                      <a:prstDash val="solid"/>
                    </a:lnL>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2,200,000</a:t>
                      </a:r>
                    </a:p>
                  </a:txBody>
                  <a:tcPr marL="91440" marR="91440" marT="45720" marB="45720" anchor="ctr">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565,000</a:t>
                      </a:r>
                    </a:p>
                  </a:txBody>
                  <a:tcPr marL="91440" marR="91440" marT="45720" marB="45720" anchor="ctr">
                    <a:lnR w="5715">
                      <a:solidFill>
                        <a:srgbClr val="D2D2D2"/>
                      </a:solidFill>
                      <a:prstDash val="solid"/>
                    </a:lnR>
                    <a:lnB w="5715">
                      <a:solidFill>
                        <a:srgbClr val="D2D2D2"/>
                      </a:solidFill>
                      <a:prstDash val="solid"/>
                    </a:lnB>
                    <a:solidFill>
                      <a:srgbClr val="FFFFFF"/>
                    </a:solidFill>
                  </a:tcPr>
                </a:tc>
              </a:tr>
              <a:tr h="552450">
                <a:tc>
                  <a:txBody>
                    <a:bodyPr lIns="95250" tIns="47625" rIns="95250" bIns="47625">
                      <a:noAutofit/>
                    </a:bodyPr>
                    <a:lstStyle/>
                    <a:p>
                      <a:pPr algn="l"/>
                      <a:r>
                        <a:rPr sz="1800" b="0">
                          <a:solidFill>
                            <a:srgbClr val="222222"/>
                          </a:solidFill>
                          <a:latin typeface="Times New Roman"/>
                          <a:ea typeface="Times New Roman"/>
                          <a:cs typeface="Times New Roman"/>
                        </a:rPr>
                        <a:t>Controls + monitoring</a:t>
                      </a:r>
                    </a:p>
                  </a:txBody>
                  <a:tcPr marL="91440" marR="91440" marT="45720" marB="45720" anchor="ctr">
                    <a:lnL w="5715">
                      <a:solidFill>
                        <a:srgbClr val="D2D2D2"/>
                      </a:solidFill>
                      <a:prstDash val="solid"/>
                    </a:lnL>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475,000</a:t>
                      </a:r>
                    </a:p>
                  </a:txBody>
                  <a:tcPr marL="91440" marR="91440" marT="45720" marB="45720" anchor="ctr">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265,000</a:t>
                      </a:r>
                    </a:p>
                  </a:txBody>
                  <a:tcPr marL="91440" marR="91440" marT="45720" marB="45720" anchor="ctr">
                    <a:lnR w="5715">
                      <a:solidFill>
                        <a:srgbClr val="D2D2D2"/>
                      </a:solidFill>
                      <a:prstDash val="solid"/>
                    </a:lnR>
                    <a:lnB w="5715">
                      <a:solidFill>
                        <a:srgbClr val="D2D2D2"/>
                      </a:solidFill>
                      <a:prstDash val="solid"/>
                    </a:lnB>
                    <a:solidFill>
                      <a:srgbClr val="FFFFFF"/>
                    </a:solidFill>
                  </a:tcPr>
                </a:tc>
              </a:tr>
              <a:tr h="628650">
                <a:tc>
                  <a:txBody>
                    <a:bodyPr lIns="95250" tIns="47625" rIns="95250" bIns="47625">
                      <a:noAutofit/>
                    </a:bodyPr>
                    <a:lstStyle/>
                    <a:p>
                      <a:pPr algn="l"/>
                      <a:r>
                        <a:rPr sz="1800" b="0">
                          <a:solidFill>
                            <a:srgbClr val="222222"/>
                          </a:solidFill>
                          <a:latin typeface="Times New Roman"/>
                          <a:ea typeface="Times New Roman"/>
                          <a:cs typeface="Times New Roman"/>
                        </a:rPr>
                        <a:t>Installation + enabling work</a:t>
                      </a:r>
                    </a:p>
                  </a:txBody>
                  <a:tcPr marL="91440" marR="91440" marT="45720" marB="45720" anchor="ctr">
                    <a:lnL w="5715">
                      <a:solidFill>
                        <a:srgbClr val="D2D2D2"/>
                      </a:solidFill>
                      <a:prstDash val="solid"/>
                    </a:lnL>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1,500,000</a:t>
                      </a:r>
                    </a:p>
                  </a:txBody>
                  <a:tcPr marL="91440" marR="91440" marT="45720" marB="45720" anchor="ctr">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525,000</a:t>
                      </a:r>
                    </a:p>
                  </a:txBody>
                  <a:tcPr marL="91440" marR="91440" marT="45720" marB="45720" anchor="ctr">
                    <a:lnR w="5715">
                      <a:solidFill>
                        <a:srgbClr val="D2D2D2"/>
                      </a:solidFill>
                      <a:prstDash val="solid"/>
                    </a:lnR>
                    <a:lnB w="5715">
                      <a:solidFill>
                        <a:srgbClr val="D2D2D2"/>
                      </a:solidFill>
                      <a:prstDash val="solid"/>
                    </a:lnB>
                    <a:solidFill>
                      <a:srgbClr val="FFFFFF"/>
                    </a:solidFill>
                  </a:tcPr>
                </a:tc>
              </a:tr>
              <a:tr h="628650">
                <a:tc>
                  <a:txBody>
                    <a:bodyPr lIns="95250" tIns="47625" rIns="95250" bIns="47625">
                      <a:noAutofit/>
                    </a:bodyPr>
                    <a:lstStyle/>
                    <a:p>
                      <a:pPr algn="l"/>
                      <a:r>
                        <a:rPr sz="1800" b="0">
                          <a:solidFill>
                            <a:srgbClr val="222222"/>
                          </a:solidFill>
                          <a:latin typeface="Times New Roman"/>
                          <a:ea typeface="Times New Roman"/>
                          <a:cs typeface="Times New Roman"/>
                        </a:rPr>
                        <a:t>Design, permits + training</a:t>
                      </a:r>
                    </a:p>
                  </a:txBody>
                  <a:tcPr marL="91440" marR="91440" marT="45720" marB="45720" anchor="ctr">
                    <a:lnL w="5715">
                      <a:solidFill>
                        <a:srgbClr val="D2D2D2"/>
                      </a:solidFill>
                      <a:prstDash val="solid"/>
                    </a:lnL>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375,000</a:t>
                      </a:r>
                    </a:p>
                  </a:txBody>
                  <a:tcPr marL="91440" marR="91440" marT="45720" marB="45720" anchor="ctr">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165,000</a:t>
                      </a:r>
                    </a:p>
                  </a:txBody>
                  <a:tcPr marL="91440" marR="91440" marT="45720" marB="45720" anchor="ctr">
                    <a:lnR w="5715">
                      <a:solidFill>
                        <a:srgbClr val="D2D2D2"/>
                      </a:solidFill>
                      <a:prstDash val="solid"/>
                    </a:lnR>
                    <a:lnB w="5715">
                      <a:solidFill>
                        <a:srgbClr val="D2D2D2"/>
                      </a:solidFill>
                      <a:prstDash val="solid"/>
                    </a:lnB>
                    <a:solidFill>
                      <a:srgbClr val="FFFFFF"/>
                    </a:solidFill>
                  </a:tcPr>
                </a:tc>
              </a:tr>
              <a:tr h="514350">
                <a:tc>
                  <a:txBody>
                    <a:bodyPr lIns="95250" tIns="47625" rIns="95250" bIns="47625">
                      <a:noAutofit/>
                    </a:bodyPr>
                    <a:lstStyle/>
                    <a:p>
                      <a:pPr algn="l"/>
                      <a:r>
                        <a:rPr sz="1800" b="0">
                          <a:solidFill>
                            <a:srgbClr val="222222"/>
                          </a:solidFill>
                          <a:latin typeface="Times New Roman"/>
                          <a:ea typeface="Times New Roman"/>
                          <a:cs typeface="Times New Roman"/>
                        </a:rPr>
                        <a:t>Contingency</a:t>
                      </a:r>
                    </a:p>
                  </a:txBody>
                  <a:tcPr marL="91440" marR="91440" marT="45720" marB="45720" anchor="ctr">
                    <a:lnL w="5715">
                      <a:solidFill>
                        <a:srgbClr val="D2D2D2"/>
                      </a:solidFill>
                      <a:prstDash val="solid"/>
                    </a:lnL>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450,000</a:t>
                      </a:r>
                    </a:p>
                  </a:txBody>
                  <a:tcPr marL="91440" marR="91440" marT="45720" marB="45720" anchor="ctr">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149,000</a:t>
                      </a:r>
                    </a:p>
                  </a:txBody>
                  <a:tcPr marL="91440" marR="91440" marT="45720" marB="45720" anchor="ctr">
                    <a:lnR w="5715">
                      <a:solidFill>
                        <a:srgbClr val="D2D2D2"/>
                      </a:solidFill>
                      <a:prstDash val="solid"/>
                    </a:lnR>
                    <a:lnB w="5715">
                      <a:solidFill>
                        <a:srgbClr val="D2D2D2"/>
                      </a:solidFill>
                      <a:prstDash val="solid"/>
                    </a:lnB>
                    <a:solidFill>
                      <a:srgbClr val="FFFFFF"/>
                    </a:solidFill>
                  </a:tcPr>
                </a:tc>
              </a:tr>
              <a:tr h="552450">
                <a:tc>
                  <a:txBody>
                    <a:bodyPr lIns="95250" tIns="47625" rIns="95250" bIns="47625">
                      <a:noAutofit/>
                    </a:bodyPr>
                    <a:lstStyle/>
                    <a:p>
                      <a:pPr algn="l"/>
                      <a:r>
                        <a:rPr sz="1800" b="1">
                          <a:solidFill>
                            <a:srgbClr val="222222"/>
                          </a:solidFill>
                          <a:latin typeface="Times New Roman"/>
                          <a:ea typeface="Times New Roman"/>
                          <a:cs typeface="Times New Roman"/>
                        </a:rPr>
                        <a:t>Total</a:t>
                      </a:r>
                    </a:p>
                  </a:txBody>
                  <a:tcPr marL="91440" marR="91440" marT="45720" marB="45720" anchor="ctr">
                    <a:lnL w="5715">
                      <a:solidFill>
                        <a:srgbClr val="D2D2D2"/>
                      </a:solidFill>
                      <a:prstDash val="solid"/>
                    </a:lnL>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1">
                          <a:solidFill>
                            <a:srgbClr val="222222"/>
                          </a:solidFill>
                          <a:latin typeface="Times New Roman"/>
                          <a:ea typeface="Times New Roman"/>
                          <a:cs typeface="Times New Roman"/>
                        </a:rPr>
                        <a:t>5,000,000</a:t>
                      </a:r>
                    </a:p>
                  </a:txBody>
                  <a:tcPr marL="91440" marR="91440" marT="45720" marB="45720" anchor="ctr">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1">
                          <a:solidFill>
                            <a:srgbClr val="222222"/>
                          </a:solidFill>
                          <a:latin typeface="Times New Roman"/>
                          <a:ea typeface="Times New Roman"/>
                          <a:cs typeface="Times New Roman"/>
                        </a:rPr>
                        <a:t>1,669,000</a:t>
                      </a:r>
                    </a:p>
                  </a:txBody>
                  <a:tcPr marL="91440" marR="91440" marT="45720" marB="45720" anchor="ctr">
                    <a:lnR w="5715">
                      <a:solidFill>
                        <a:srgbClr val="D2D2D2"/>
                      </a:solidFill>
                      <a:prstDash val="solid"/>
                    </a:lnR>
                    <a:lnB w="5715">
                      <a:solidFill>
                        <a:srgbClr val="D2D2D2"/>
                      </a:solidFill>
                      <a:prstDash val="solid"/>
                    </a:lnB>
                    <a:solidFill>
                      <a:srgbClr val="FFFFFF"/>
                    </a:solidFill>
                  </a:tcPr>
                </a:tc>
              </a:tr>
            </a:tbl>
          </a:graphicData>
        </a:graphic>
      </p:graphicFrame>
      <p:sp>
        <p:nvSpPr>
          <p:cNvPr id="6" name="savings-heading">
            <a:extLst xmlns:a="http://schemas.openxmlformats.org/drawingml/2006/main">
              <a:ext uri="{FF2B5EF4-FFF2-40B4-BE49-F238E27FC236}">
                <a16:creationId xmlns:a16="http://schemas.microsoft.com/office/drawing/2014/main" id="{5C3877C1-3D8B-409F-AE53-C46C7CCAFA0A}"/>
              </a:ext>
            </a:extLst>
          </p:cNvPr>
          <p:cNvSpPr>
            <a:spLocks xmlns:a="http://schemas.openxmlformats.org/drawingml/2006/main" noGrp="1"/>
          </p:cNvSpPr>
          <p:nvPr/>
        </p:nvSpPr>
        <p:spPr>
          <a:xfrm xmlns:a="http://schemas.openxmlformats.org/drawingml/2006/main">
            <a:off x="7162800" y="1190625"/>
            <a:ext cx="4495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1">
                <a:solidFill>
                  <a:srgbClr val="222222"/>
                </a:solidFill>
                <a:latin typeface="Times New Roman"/>
                <a:ea typeface="Times New Roman"/>
                <a:cs typeface="Times New Roman"/>
              </a:defRPr>
            </a:defPPr>
            <a:lvl1pPr algn="l">
              <a:defRPr sz="2200" b="1">
                <a:solidFill>
                  <a:srgbClr val="222222"/>
                </a:solidFill>
                <a:latin typeface="Times New Roman"/>
                <a:ea typeface="Times New Roman"/>
                <a:cs typeface="Times New Roman"/>
              </a:defRPr>
            </a:lvl1pPr>
            <a:lvl2pPr algn="l">
              <a:defRPr sz="2200" b="1">
                <a:solidFill>
                  <a:srgbClr val="222222"/>
                </a:solidFill>
                <a:latin typeface="Times New Roman"/>
                <a:ea typeface="Times New Roman"/>
                <a:cs typeface="Times New Roman"/>
              </a:defRPr>
            </a:lvl2pPr>
            <a:lvl3pPr algn="l">
              <a:defRPr sz="2200" b="1">
                <a:solidFill>
                  <a:srgbClr val="222222"/>
                </a:solidFill>
                <a:latin typeface="Times New Roman"/>
                <a:ea typeface="Times New Roman"/>
                <a:cs typeface="Times New Roman"/>
              </a:defRPr>
            </a:lvl3pPr>
            <a:lvl4pPr algn="l">
              <a:defRPr sz="2200" b="1">
                <a:solidFill>
                  <a:srgbClr val="222222"/>
                </a:solidFill>
                <a:latin typeface="Times New Roman"/>
                <a:ea typeface="Times New Roman"/>
                <a:cs typeface="Times New Roman"/>
              </a:defRPr>
            </a:lvl4pPr>
            <a:lvl5pPr algn="l">
              <a:defRPr sz="2200" b="1">
                <a:solidFill>
                  <a:srgbClr val="222222"/>
                </a:solidFill>
                <a:latin typeface="Times New Roman"/>
                <a:ea typeface="Times New Roman"/>
                <a:cs typeface="Times New Roman"/>
              </a:defRPr>
            </a:lvl5pPr>
            <a:lvl6pPr algn="l">
              <a:defRPr sz="2200" b="1">
                <a:solidFill>
                  <a:srgbClr val="222222"/>
                </a:solidFill>
                <a:latin typeface="Times New Roman"/>
                <a:ea typeface="Times New Roman"/>
                <a:cs typeface="Times New Roman"/>
              </a:defRPr>
            </a:lvl6pPr>
            <a:lvl7pPr algn="l">
              <a:defRPr sz="2200" b="1">
                <a:solidFill>
                  <a:srgbClr val="222222"/>
                </a:solidFill>
                <a:latin typeface="Times New Roman"/>
                <a:ea typeface="Times New Roman"/>
                <a:cs typeface="Times New Roman"/>
              </a:defRPr>
            </a:lvl7pPr>
            <a:lvl8pPr algn="l">
              <a:defRPr sz="2200" b="1">
                <a:solidFill>
                  <a:srgbClr val="222222"/>
                </a:solidFill>
                <a:latin typeface="Times New Roman"/>
                <a:ea typeface="Times New Roman"/>
                <a:cs typeface="Times New Roman"/>
              </a:defRPr>
            </a:lvl8pPr>
            <a:lvl9pPr algn="l">
              <a:defRPr sz="2200" b="1">
                <a:solidFill>
                  <a:srgbClr val="222222"/>
                </a:solidFill>
                <a:latin typeface="Times New Roman"/>
                <a:ea typeface="Times New Roman"/>
                <a:cs typeface="Times New Roman"/>
              </a:defRPr>
            </a:lvl9pPr>
          </a:lstStyle>
          <a:p xmlns:a="http://schemas.openxmlformats.org/drawingml/2006/main">
            <a:pPr algn="l">
              <a:defRPr sz="2200" b="1">
                <a:solidFill>
                  <a:srgbClr val="222222"/>
                </a:solidFill>
                <a:latin typeface="Times New Roman"/>
                <a:ea typeface="Times New Roman"/>
                <a:cs typeface="Times New Roman"/>
              </a:defRPr>
            </a:pPr>
            <a:r>
              <a:rPr sz="2200" b="1">
                <a:solidFill>
                  <a:srgbClr val="222222"/>
                </a:solidFill>
                <a:latin typeface="Times New Roman"/>
                <a:ea typeface="Times New Roman"/>
                <a:cs typeface="Times New Roman"/>
              </a:rPr>
              <a:t>Year 1 pretax operating savings</a:t>
            </a:r>
          </a:p>
        </p:txBody>
      </p:sp>
      <p:graphicFrame>
        <p:nvGraphicFramePr>
          <p:cNvPr id="7" name="">
            <a:extLst xmlns:a="http://schemas.openxmlformats.org/drawingml/2006/main">
              <a:ext uri="{FF2B5EF4-FFF2-40B4-BE49-F238E27FC236}">
                <a16:creationId xmlns:a16="http://schemas.microsoft.com/office/drawing/2014/main" id="{830C96D1-973D-4C25-B70E-0DF860F0E5AE}"/>
              </a:ext>
            </a:extLst>
          </p:cNvPr>
          <p:cNvGraphicFramePr/>
          <p:nvPr/>
        </p:nvGraphicFramePr>
        <p:xfrm>
          <a:off xmlns:a="http://schemas.openxmlformats.org/drawingml/2006/main" x="7162800" y="1695450"/>
          <a:ext xmlns:a="http://schemas.openxmlformats.org/drawingml/2006/main" cx="4495800" cy="3124200"/>
        </p:xfrm>
        <a:graphic xmlns:a="http://schemas.openxmlformats.org/drawingml/2006/main">
          <a:graphicData uri="http://schemas.openxmlformats.org/drawingml/2006/table">
            <a:tbl>
              <a:tblPr firstRow="0" lastRow="0" bandRow="0"/>
              <a:tblGrid>
                <a:gridCol w="2190750"/>
                <a:gridCol w="1152525"/>
                <a:gridCol w="1152525"/>
              </a:tblGrid>
              <a:tr h="457200">
                <a:tc>
                  <a:txBody>
                    <a:bodyPr lIns="95250" tIns="47625" rIns="95250" bIns="47625">
                      <a:noAutofit/>
                    </a:bodyPr>
                    <a:lstStyle/>
                    <a:p>
                      <a:pPr algn="l"/>
                      <a:r>
                        <a:rPr sz="1800" b="1">
                          <a:solidFill>
                            <a:srgbClr val="222222"/>
                          </a:solidFill>
                          <a:latin typeface="Times New Roman"/>
                          <a:ea typeface="Times New Roman"/>
                          <a:cs typeface="Times New Roman"/>
                        </a:rPr>
                        <a:t>Annual change</a:t>
                      </a:r>
                    </a:p>
                  </a:txBody>
                  <a:tcPr marL="91440" marR="91440" marT="45720" marB="45720" anchor="ctr">
                    <a:lnL w="5715">
                      <a:solidFill>
                        <a:srgbClr val="D2D2D2"/>
                      </a:solidFill>
                      <a:prstDash val="solid"/>
                    </a:lnL>
                    <a:lnR w="5715">
                      <a:solidFill>
                        <a:srgbClr val="D2D2D2"/>
                      </a:solidFill>
                      <a:prstDash val="solid"/>
                    </a:lnR>
                    <a:lnT w="5715">
                      <a:solidFill>
                        <a:srgbClr val="D2D2D2"/>
                      </a:solidFill>
                      <a:prstDash val="solid"/>
                    </a:lnT>
                    <a:lnB w="5715">
                      <a:solidFill>
                        <a:srgbClr val="D2D2D2"/>
                      </a:solidFill>
                      <a:prstDash val="solid"/>
                    </a:lnB>
                    <a:solidFill>
                      <a:srgbClr val="F0F0F0"/>
                    </a:solidFill>
                  </a:tcPr>
                </a:tc>
                <a:tc>
                  <a:txBody>
                    <a:bodyPr lIns="95250" tIns="47625" rIns="95250" bIns="47625">
                      <a:noAutofit/>
                    </a:bodyPr>
                    <a:lstStyle/>
                    <a:p>
                      <a:pPr algn="r"/>
                      <a:r>
                        <a:rPr sz="1800" b="1">
                          <a:solidFill>
                            <a:srgbClr val="222222"/>
                          </a:solidFill>
                          <a:latin typeface="Times New Roman"/>
                          <a:ea typeface="Times New Roman"/>
                          <a:cs typeface="Times New Roman"/>
                        </a:rPr>
                        <a:t>B</a:t>
                      </a:r>
                    </a:p>
                  </a:txBody>
                  <a:tcPr marL="91440" marR="91440" marT="45720" marB="45720" anchor="ctr">
                    <a:lnR w="5715">
                      <a:solidFill>
                        <a:srgbClr val="D2D2D2"/>
                      </a:solidFill>
                      <a:prstDash val="solid"/>
                    </a:lnR>
                    <a:lnT w="5715">
                      <a:solidFill>
                        <a:srgbClr val="D2D2D2"/>
                      </a:solidFill>
                      <a:prstDash val="solid"/>
                    </a:lnT>
                    <a:lnB w="5715">
                      <a:solidFill>
                        <a:srgbClr val="D2D2D2"/>
                      </a:solidFill>
                      <a:prstDash val="solid"/>
                    </a:lnB>
                    <a:solidFill>
                      <a:srgbClr val="F0F0F0"/>
                    </a:solidFill>
                  </a:tcPr>
                </a:tc>
                <a:tc>
                  <a:txBody>
                    <a:bodyPr lIns="95250" tIns="47625" rIns="95250" bIns="47625">
                      <a:noAutofit/>
                    </a:bodyPr>
                    <a:lstStyle/>
                    <a:p>
                      <a:pPr algn="r"/>
                      <a:r>
                        <a:rPr sz="1800" b="1">
                          <a:solidFill>
                            <a:srgbClr val="222222"/>
                          </a:solidFill>
                          <a:latin typeface="Times New Roman"/>
                          <a:ea typeface="Times New Roman"/>
                          <a:cs typeface="Times New Roman"/>
                        </a:rPr>
                        <a:t>C</a:t>
                      </a:r>
                    </a:p>
                  </a:txBody>
                  <a:tcPr marL="91440" marR="91440" marT="45720" marB="45720" anchor="ctr">
                    <a:lnR w="5715">
                      <a:solidFill>
                        <a:srgbClr val="D2D2D2"/>
                      </a:solidFill>
                      <a:prstDash val="solid"/>
                    </a:lnR>
                    <a:lnT w="5715">
                      <a:solidFill>
                        <a:srgbClr val="D2D2D2"/>
                      </a:solidFill>
                      <a:prstDash val="solid"/>
                    </a:lnT>
                    <a:lnB w="5715">
                      <a:solidFill>
                        <a:srgbClr val="D2D2D2"/>
                      </a:solidFill>
                      <a:prstDash val="solid"/>
                    </a:lnB>
                    <a:solidFill>
                      <a:srgbClr val="F0F0F0"/>
                    </a:solidFill>
                  </a:tcPr>
                </a:tc>
              </a:tr>
              <a:tr h="666750">
                <a:tc>
                  <a:txBody>
                    <a:bodyPr lIns="95250" tIns="47625" rIns="95250" bIns="47625">
                      <a:noAutofit/>
                    </a:bodyPr>
                    <a:lstStyle/>
                    <a:p>
                      <a:pPr algn="l"/>
                      <a:r>
                        <a:rPr sz="1800" b="0">
                          <a:solidFill>
                            <a:srgbClr val="222222"/>
                          </a:solidFill>
                          <a:latin typeface="Times New Roman"/>
                          <a:ea typeface="Times New Roman"/>
                          <a:cs typeface="Times New Roman"/>
                        </a:rPr>
                        <a:t>Electricity savings</a:t>
                      </a:r>
                    </a:p>
                  </a:txBody>
                  <a:tcPr marL="91440" marR="91440" marT="45720" marB="45720" anchor="ctr">
                    <a:lnL w="5715">
                      <a:solidFill>
                        <a:srgbClr val="D2D2D2"/>
                      </a:solidFill>
                      <a:prstDash val="solid"/>
                    </a:lnL>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229,440</a:t>
                      </a:r>
                    </a:p>
                  </a:txBody>
                  <a:tcPr marL="91440" marR="91440" marT="45720" marB="45720" anchor="ctr">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95,400</a:t>
                      </a:r>
                    </a:p>
                  </a:txBody>
                  <a:tcPr marL="91440" marR="91440" marT="45720" marB="45720" anchor="ctr">
                    <a:lnR w="5715">
                      <a:solidFill>
                        <a:srgbClr val="D2D2D2"/>
                      </a:solidFill>
                      <a:prstDash val="solid"/>
                    </a:lnR>
                    <a:lnB w="5715">
                      <a:solidFill>
                        <a:srgbClr val="D2D2D2"/>
                      </a:solidFill>
                      <a:prstDash val="solid"/>
                    </a:lnB>
                    <a:solidFill>
                      <a:srgbClr val="FFFFFF"/>
                    </a:solidFill>
                  </a:tcPr>
                </a:tc>
              </a:tr>
              <a:tr h="666750">
                <a:tc>
                  <a:txBody>
                    <a:bodyPr lIns="95250" tIns="47625" rIns="95250" bIns="47625">
                      <a:noAutofit/>
                    </a:bodyPr>
                    <a:lstStyle/>
                    <a:p>
                      <a:pPr algn="l"/>
                      <a:r>
                        <a:rPr sz="1800" b="0">
                          <a:solidFill>
                            <a:srgbClr val="222222"/>
                          </a:solidFill>
                          <a:latin typeface="Times New Roman"/>
                          <a:ea typeface="Times New Roman"/>
                          <a:cs typeface="Times New Roman"/>
                        </a:rPr>
                        <a:t>Maintenance / repairs</a:t>
                      </a:r>
                    </a:p>
                  </a:txBody>
                  <a:tcPr marL="91440" marR="91440" marT="45720" marB="45720" anchor="ctr">
                    <a:lnL w="5715">
                      <a:solidFill>
                        <a:srgbClr val="D2D2D2"/>
                      </a:solidFill>
                      <a:prstDash val="solid"/>
                    </a:lnL>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195,000</a:t>
                      </a:r>
                    </a:p>
                  </a:txBody>
                  <a:tcPr marL="91440" marR="91440" marT="45720" marB="45720" anchor="ctr">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110,000</a:t>
                      </a:r>
                    </a:p>
                  </a:txBody>
                  <a:tcPr marL="91440" marR="91440" marT="45720" marB="45720" anchor="ctr">
                    <a:lnR w="5715">
                      <a:solidFill>
                        <a:srgbClr val="D2D2D2"/>
                      </a:solidFill>
                      <a:prstDash val="solid"/>
                    </a:lnR>
                    <a:lnB w="5715">
                      <a:solidFill>
                        <a:srgbClr val="D2D2D2"/>
                      </a:solidFill>
                      <a:prstDash val="solid"/>
                    </a:lnB>
                    <a:solidFill>
                      <a:srgbClr val="FFFFFF"/>
                    </a:solidFill>
                  </a:tcPr>
                </a:tc>
              </a:tr>
              <a:tr h="666750">
                <a:tc>
                  <a:txBody>
                    <a:bodyPr lIns="95250" tIns="47625" rIns="95250" bIns="47625">
                      <a:noAutofit/>
                    </a:bodyPr>
                    <a:lstStyle/>
                    <a:p>
                      <a:pPr algn="l"/>
                      <a:r>
                        <a:rPr sz="1800" b="0">
                          <a:solidFill>
                            <a:srgbClr val="222222"/>
                          </a:solidFill>
                          <a:latin typeface="Times New Roman"/>
                          <a:ea typeface="Times New Roman"/>
                          <a:cs typeface="Times New Roman"/>
                        </a:rPr>
                        <a:t>Less: analytics</a:t>
                      </a:r>
                    </a:p>
                  </a:txBody>
                  <a:tcPr marL="91440" marR="91440" marT="45720" marB="45720" anchor="ctr">
                    <a:lnL w="5715">
                      <a:solidFill>
                        <a:srgbClr val="D2D2D2"/>
                      </a:solidFill>
                      <a:prstDash val="solid"/>
                    </a:lnL>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(25,000)</a:t>
                      </a:r>
                    </a:p>
                  </a:txBody>
                  <a:tcPr marL="91440" marR="91440" marT="45720" marB="45720" anchor="ctr">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(15,000)</a:t>
                      </a:r>
                    </a:p>
                  </a:txBody>
                  <a:tcPr marL="91440" marR="91440" marT="45720" marB="45720" anchor="ctr">
                    <a:lnR w="5715">
                      <a:solidFill>
                        <a:srgbClr val="D2D2D2"/>
                      </a:solidFill>
                      <a:prstDash val="solid"/>
                    </a:lnR>
                    <a:lnB w="5715">
                      <a:solidFill>
                        <a:srgbClr val="D2D2D2"/>
                      </a:solidFill>
                      <a:prstDash val="solid"/>
                    </a:lnB>
                    <a:solidFill>
                      <a:srgbClr val="FFFFFF"/>
                    </a:solidFill>
                  </a:tcPr>
                </a:tc>
              </a:tr>
              <a:tr h="666750">
                <a:tc>
                  <a:txBody>
                    <a:bodyPr lIns="95250" tIns="47625" rIns="95250" bIns="47625">
                      <a:noAutofit/>
                    </a:bodyPr>
                    <a:lstStyle/>
                    <a:p>
                      <a:pPr algn="l"/>
                      <a:r>
                        <a:rPr sz="1800" b="1">
                          <a:solidFill>
                            <a:srgbClr val="222222"/>
                          </a:solidFill>
                          <a:latin typeface="Times New Roman"/>
                          <a:ea typeface="Times New Roman"/>
                          <a:cs typeface="Times New Roman"/>
                        </a:rPr>
                        <a:t>Net savings</a:t>
                      </a:r>
                    </a:p>
                  </a:txBody>
                  <a:tcPr marL="91440" marR="91440" marT="45720" marB="45720" anchor="ctr">
                    <a:lnL w="5715">
                      <a:solidFill>
                        <a:srgbClr val="D2D2D2"/>
                      </a:solidFill>
                      <a:prstDash val="solid"/>
                    </a:lnL>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1">
                          <a:solidFill>
                            <a:srgbClr val="222222"/>
                          </a:solidFill>
                          <a:latin typeface="Times New Roman"/>
                          <a:ea typeface="Times New Roman"/>
                          <a:cs typeface="Times New Roman"/>
                        </a:rPr>
                        <a:t>399,440</a:t>
                      </a:r>
                    </a:p>
                  </a:txBody>
                  <a:tcPr marL="91440" marR="91440" marT="45720" marB="45720" anchor="ctr">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1">
                          <a:solidFill>
                            <a:srgbClr val="222222"/>
                          </a:solidFill>
                          <a:latin typeface="Times New Roman"/>
                          <a:ea typeface="Times New Roman"/>
                          <a:cs typeface="Times New Roman"/>
                        </a:rPr>
                        <a:t>190,400</a:t>
                      </a:r>
                    </a:p>
                  </a:txBody>
                  <a:tcPr marL="91440" marR="91440" marT="45720" marB="45720" anchor="ctr">
                    <a:lnR w="5715">
                      <a:solidFill>
                        <a:srgbClr val="D2D2D2"/>
                      </a:solidFill>
                      <a:prstDash val="solid"/>
                    </a:lnR>
                    <a:lnB w="5715">
                      <a:solidFill>
                        <a:srgbClr val="D2D2D2"/>
                      </a:solidFill>
                      <a:prstDash val="solid"/>
                    </a:lnB>
                    <a:solidFill>
                      <a:srgbClr val="FFFFFF"/>
                    </a:solidFill>
                  </a:tcPr>
                </a:tc>
              </a:tr>
            </a:tbl>
          </a:graphicData>
        </a:graphic>
      </p:graphicFrame>
      <p:sp>
        <p:nvSpPr>
          <p:cNvPr id="8" name="cost-assumptions">
            <a:extLst xmlns:a="http://schemas.openxmlformats.org/drawingml/2006/main">
              <a:ext uri="{FF2B5EF4-FFF2-40B4-BE49-F238E27FC236}">
                <a16:creationId xmlns:a16="http://schemas.microsoft.com/office/drawing/2014/main" id="{6D470F6D-6BE8-4C6C-9A38-C9E681E1E092}"/>
              </a:ext>
            </a:extLst>
          </p:cNvPr>
          <p:cNvSpPr>
            <a:spLocks xmlns:a="http://schemas.openxmlformats.org/drawingml/2006/main" noGrp="1"/>
          </p:cNvSpPr>
          <p:nvPr/>
        </p:nvSpPr>
        <p:spPr>
          <a:xfrm xmlns:a="http://schemas.openxmlformats.org/drawingml/2006/main">
            <a:off x="7162800" y="5219700"/>
            <a:ext cx="4495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00" b="0">
                <a:solidFill>
                  <a:srgbClr val="222222"/>
                </a:solidFill>
                <a:latin typeface="Times New Roman"/>
                <a:ea typeface="Times New Roman"/>
                <a:cs typeface="Times New Roman"/>
              </a:defRPr>
            </a:defPPr>
            <a:lvl1pPr algn="l">
              <a:defRPr sz="1900" b="0">
                <a:solidFill>
                  <a:srgbClr val="222222"/>
                </a:solidFill>
                <a:latin typeface="Times New Roman"/>
                <a:ea typeface="Times New Roman"/>
                <a:cs typeface="Times New Roman"/>
              </a:defRPr>
            </a:lvl1pPr>
            <a:lvl2pPr algn="l">
              <a:defRPr sz="1900" b="0">
                <a:solidFill>
                  <a:srgbClr val="222222"/>
                </a:solidFill>
                <a:latin typeface="Times New Roman"/>
                <a:ea typeface="Times New Roman"/>
                <a:cs typeface="Times New Roman"/>
              </a:defRPr>
            </a:lvl2pPr>
            <a:lvl3pPr algn="l">
              <a:defRPr sz="1900" b="0">
                <a:solidFill>
                  <a:srgbClr val="222222"/>
                </a:solidFill>
                <a:latin typeface="Times New Roman"/>
                <a:ea typeface="Times New Roman"/>
                <a:cs typeface="Times New Roman"/>
              </a:defRPr>
            </a:lvl3pPr>
            <a:lvl4pPr algn="l">
              <a:defRPr sz="1900" b="0">
                <a:solidFill>
                  <a:srgbClr val="222222"/>
                </a:solidFill>
                <a:latin typeface="Times New Roman"/>
                <a:ea typeface="Times New Roman"/>
                <a:cs typeface="Times New Roman"/>
              </a:defRPr>
            </a:lvl4pPr>
            <a:lvl5pPr algn="l">
              <a:defRPr sz="1900" b="0">
                <a:solidFill>
                  <a:srgbClr val="222222"/>
                </a:solidFill>
                <a:latin typeface="Times New Roman"/>
                <a:ea typeface="Times New Roman"/>
                <a:cs typeface="Times New Roman"/>
              </a:defRPr>
            </a:lvl5pPr>
            <a:lvl6pPr algn="l">
              <a:defRPr sz="1900" b="0">
                <a:solidFill>
                  <a:srgbClr val="222222"/>
                </a:solidFill>
                <a:latin typeface="Times New Roman"/>
                <a:ea typeface="Times New Roman"/>
                <a:cs typeface="Times New Roman"/>
              </a:defRPr>
            </a:lvl6pPr>
            <a:lvl7pPr algn="l">
              <a:defRPr sz="1900" b="0">
                <a:solidFill>
                  <a:srgbClr val="222222"/>
                </a:solidFill>
                <a:latin typeface="Times New Roman"/>
                <a:ea typeface="Times New Roman"/>
                <a:cs typeface="Times New Roman"/>
              </a:defRPr>
            </a:lvl7pPr>
            <a:lvl8pPr algn="l">
              <a:defRPr sz="1900" b="0">
                <a:solidFill>
                  <a:srgbClr val="222222"/>
                </a:solidFill>
                <a:latin typeface="Times New Roman"/>
                <a:ea typeface="Times New Roman"/>
                <a:cs typeface="Times New Roman"/>
              </a:defRPr>
            </a:lvl8pPr>
            <a:lvl9pPr algn="l">
              <a:defRPr sz="1900" b="0">
                <a:solidFill>
                  <a:srgbClr val="222222"/>
                </a:solidFill>
                <a:latin typeface="Times New Roman"/>
                <a:ea typeface="Times New Roman"/>
                <a:cs typeface="Times New Roman"/>
              </a:defRPr>
            </a:lvl9pPr>
          </a:lstStyle>
          <a:p xmlns:a="http://schemas.openxmlformats.org/drawingml/2006/main">
            <a:pPr algn="l">
              <a:defRPr sz="1900" b="0">
                <a:solidFill>
                  <a:srgbClr val="222222"/>
                </a:solidFill>
                <a:latin typeface="Times New Roman"/>
                <a:ea typeface="Times New Roman"/>
                <a:cs typeface="Times New Roman"/>
              </a:defRPr>
            </a:pPr>
            <a:r>
              <a:rPr sz="1900" b="0">
                <a:solidFill>
                  <a:srgbClr val="222222"/>
                </a:solidFill>
                <a:latin typeface="Times New Roman"/>
                <a:ea typeface="Times New Roman"/>
                <a:cs typeface="Times New Roman"/>
              </a:rPr>
              <a:t>Illustrative electricity rate: $0.20/kWh.</a:t>
            </a:r>
          </a:p>
          <a:p xmlns:a="http://schemas.openxmlformats.org/drawingml/2006/main">
            <a:pPr algn="l">
              <a:defRPr sz="1900" b="0">
                <a:solidFill>
                  <a:srgbClr val="222222"/>
                </a:solidFill>
                <a:latin typeface="Times New Roman"/>
                <a:ea typeface="Times New Roman"/>
                <a:cs typeface="Times New Roman"/>
              </a:defRPr>
            </a:pPr>
            <a:r>
              <a:rPr sz="1900" b="0">
                <a:solidFill>
                  <a:srgbClr val="222222"/>
                </a:solidFill>
                <a:latin typeface="Times New Roman"/>
                <a:ea typeface="Times New Roman"/>
                <a:cs typeface="Times New Roman"/>
              </a:rPr>
              <a:t>Owner retains 100% of operating savings.</a:t>
            </a:r>
          </a:p>
        </p:txBody>
      </p:sp>
    </p:spTree>
    <p:extLst>
      <p:ext uri="{BB962C8B-B14F-4D97-AF65-F5344CB8AC3E}">
        <p14:creationId xmlns:p14="http://schemas.microsoft.com/office/powerpoint/2010/main" val="183650244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587E367F-E1B7-490C-A548-3D003D079CB4}"/>
              </a:ext>
            </a:extLst>
          </p:cNvPr>
          <p:cNvSpPr>
            <a:spLocks xmlns:a="http://schemas.openxmlformats.org/drawingml/2006/main" noGrp="1"/>
          </p:cNvSpPr>
          <p:nvPr/>
        </p:nvSpPr>
        <p:spPr>
          <a:xfrm xmlns:a="http://schemas.openxmlformats.org/drawingml/2006/main">
            <a:off x="533400" y="30480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00" b="1">
                <a:solidFill>
                  <a:srgbClr val="222222"/>
                </a:solidFill>
                <a:latin typeface="Times New Roman"/>
                <a:ea typeface="Times New Roman"/>
                <a:cs typeface="Times New Roman"/>
              </a:defRPr>
            </a:defPPr>
            <a:lvl1pPr algn="l">
              <a:defRPr sz="3200" b="1">
                <a:solidFill>
                  <a:srgbClr val="222222"/>
                </a:solidFill>
                <a:latin typeface="Times New Roman"/>
                <a:ea typeface="Times New Roman"/>
                <a:cs typeface="Times New Roman"/>
              </a:defRPr>
            </a:lvl1pPr>
            <a:lvl2pPr algn="l">
              <a:defRPr sz="3200" b="1">
                <a:solidFill>
                  <a:srgbClr val="222222"/>
                </a:solidFill>
                <a:latin typeface="Times New Roman"/>
                <a:ea typeface="Times New Roman"/>
                <a:cs typeface="Times New Roman"/>
              </a:defRPr>
            </a:lvl2pPr>
            <a:lvl3pPr algn="l">
              <a:defRPr sz="3200" b="1">
                <a:solidFill>
                  <a:srgbClr val="222222"/>
                </a:solidFill>
                <a:latin typeface="Times New Roman"/>
                <a:ea typeface="Times New Roman"/>
                <a:cs typeface="Times New Roman"/>
              </a:defRPr>
            </a:lvl3pPr>
            <a:lvl4pPr algn="l">
              <a:defRPr sz="3200" b="1">
                <a:solidFill>
                  <a:srgbClr val="222222"/>
                </a:solidFill>
                <a:latin typeface="Times New Roman"/>
                <a:ea typeface="Times New Roman"/>
                <a:cs typeface="Times New Roman"/>
              </a:defRPr>
            </a:lvl4pPr>
            <a:lvl5pPr algn="l">
              <a:defRPr sz="3200" b="1">
                <a:solidFill>
                  <a:srgbClr val="222222"/>
                </a:solidFill>
                <a:latin typeface="Times New Roman"/>
                <a:ea typeface="Times New Roman"/>
                <a:cs typeface="Times New Roman"/>
              </a:defRPr>
            </a:lvl5pPr>
            <a:lvl6pPr algn="l">
              <a:defRPr sz="3200" b="1">
                <a:solidFill>
                  <a:srgbClr val="222222"/>
                </a:solidFill>
                <a:latin typeface="Times New Roman"/>
                <a:ea typeface="Times New Roman"/>
                <a:cs typeface="Times New Roman"/>
              </a:defRPr>
            </a:lvl6pPr>
            <a:lvl7pPr algn="l">
              <a:defRPr sz="3200" b="1">
                <a:solidFill>
                  <a:srgbClr val="222222"/>
                </a:solidFill>
                <a:latin typeface="Times New Roman"/>
                <a:ea typeface="Times New Roman"/>
                <a:cs typeface="Times New Roman"/>
              </a:defRPr>
            </a:lvl7pPr>
            <a:lvl8pPr algn="l">
              <a:defRPr sz="3200" b="1">
                <a:solidFill>
                  <a:srgbClr val="222222"/>
                </a:solidFill>
                <a:latin typeface="Times New Roman"/>
                <a:ea typeface="Times New Roman"/>
                <a:cs typeface="Times New Roman"/>
              </a:defRPr>
            </a:lvl8pPr>
            <a:lvl9pPr algn="l">
              <a:defRPr sz="3200" b="1">
                <a:solidFill>
                  <a:srgbClr val="222222"/>
                </a:solidFill>
                <a:latin typeface="Times New Roman"/>
                <a:ea typeface="Times New Roman"/>
                <a:cs typeface="Times New Roman"/>
              </a:defRPr>
            </a:lvl9pPr>
          </a:lstStyle>
          <a:p xmlns:a="http://schemas.openxmlformats.org/drawingml/2006/main">
            <a:pPr algn="l">
              <a:defRPr sz="3200" b="1">
                <a:solidFill>
                  <a:srgbClr val="222222"/>
                </a:solidFill>
                <a:latin typeface="Times New Roman"/>
                <a:ea typeface="Times New Roman"/>
                <a:cs typeface="Times New Roman"/>
              </a:defRPr>
            </a:pPr>
            <a:r>
              <a:rPr sz="3200" b="1">
                <a:solidFill>
                  <a:srgbClr val="222222"/>
                </a:solidFill>
                <a:latin typeface="Times New Roman"/>
                <a:ea typeface="Times New Roman"/>
                <a:cs typeface="Times New Roman"/>
              </a:rPr>
              <a:t>Financial investment evaluation</a:t>
            </a:r>
          </a:p>
        </p:txBody>
      </p:sp>
      <p:sp>
        <p:nvSpPr>
          <p:cNvPr id="2" name="footnote">
            <a:extLst xmlns:a="http://schemas.openxmlformats.org/drawingml/2006/main">
              <a:ext uri="{FF2B5EF4-FFF2-40B4-BE49-F238E27FC236}">
                <a16:creationId xmlns:a16="http://schemas.microsoft.com/office/drawing/2014/main" id="{623F2D40-ED01-4FDE-8A50-58C14DCED2FA}"/>
              </a:ext>
            </a:extLst>
          </p:cNvPr>
          <p:cNvSpPr>
            <a:spLocks xmlns:a="http://schemas.openxmlformats.org/drawingml/2006/main" noGrp="1"/>
          </p:cNvSpPr>
          <p:nvPr/>
        </p:nvSpPr>
        <p:spPr>
          <a:xfrm xmlns:a="http://schemas.openxmlformats.org/drawingml/2006/main">
            <a:off x="533400" y="6305550"/>
            <a:ext cx="10572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0">
                <a:solidFill>
                  <a:srgbClr val="535353"/>
                </a:solidFill>
                <a:latin typeface="Times New Roman"/>
                <a:ea typeface="Times New Roman"/>
                <a:cs typeface="Times New Roman"/>
              </a:defRPr>
            </a:defPPr>
            <a:lvl1pPr algn="l">
              <a:defRPr sz="1400" b="0">
                <a:solidFill>
                  <a:srgbClr val="535353"/>
                </a:solidFill>
                <a:latin typeface="Times New Roman"/>
                <a:ea typeface="Times New Roman"/>
                <a:cs typeface="Times New Roman"/>
              </a:defRPr>
            </a:lvl1pPr>
            <a:lvl2pPr algn="l">
              <a:defRPr sz="1400" b="0">
                <a:solidFill>
                  <a:srgbClr val="535353"/>
                </a:solidFill>
                <a:latin typeface="Times New Roman"/>
                <a:ea typeface="Times New Roman"/>
                <a:cs typeface="Times New Roman"/>
              </a:defRPr>
            </a:lvl2pPr>
            <a:lvl3pPr algn="l">
              <a:defRPr sz="1400" b="0">
                <a:solidFill>
                  <a:srgbClr val="535353"/>
                </a:solidFill>
                <a:latin typeface="Times New Roman"/>
                <a:ea typeface="Times New Roman"/>
                <a:cs typeface="Times New Roman"/>
              </a:defRPr>
            </a:lvl3pPr>
            <a:lvl4pPr algn="l">
              <a:defRPr sz="1400" b="0">
                <a:solidFill>
                  <a:srgbClr val="535353"/>
                </a:solidFill>
                <a:latin typeface="Times New Roman"/>
                <a:ea typeface="Times New Roman"/>
                <a:cs typeface="Times New Roman"/>
              </a:defRPr>
            </a:lvl4pPr>
            <a:lvl5pPr algn="l">
              <a:defRPr sz="1400" b="0">
                <a:solidFill>
                  <a:srgbClr val="535353"/>
                </a:solidFill>
                <a:latin typeface="Times New Roman"/>
                <a:ea typeface="Times New Roman"/>
                <a:cs typeface="Times New Roman"/>
              </a:defRPr>
            </a:lvl5pPr>
            <a:lvl6pPr algn="l">
              <a:defRPr sz="1400" b="0">
                <a:solidFill>
                  <a:srgbClr val="535353"/>
                </a:solidFill>
                <a:latin typeface="Times New Roman"/>
                <a:ea typeface="Times New Roman"/>
                <a:cs typeface="Times New Roman"/>
              </a:defRPr>
            </a:lvl6pPr>
            <a:lvl7pPr algn="l">
              <a:defRPr sz="1400" b="0">
                <a:solidFill>
                  <a:srgbClr val="535353"/>
                </a:solidFill>
                <a:latin typeface="Times New Roman"/>
                <a:ea typeface="Times New Roman"/>
                <a:cs typeface="Times New Roman"/>
              </a:defRPr>
            </a:lvl7pPr>
            <a:lvl8pPr algn="l">
              <a:defRPr sz="1400" b="0">
                <a:solidFill>
                  <a:srgbClr val="535353"/>
                </a:solidFill>
                <a:latin typeface="Times New Roman"/>
                <a:ea typeface="Times New Roman"/>
                <a:cs typeface="Times New Roman"/>
              </a:defRPr>
            </a:lvl8pPr>
            <a:lvl9pPr algn="l">
              <a:defRPr sz="1400" b="0">
                <a:solidFill>
                  <a:srgbClr val="535353"/>
                </a:solidFill>
                <a:latin typeface="Times New Roman"/>
                <a:ea typeface="Times New Roman"/>
                <a:cs typeface="Times New Roman"/>
              </a:defRPr>
            </a:lvl9pPr>
          </a:lstStyle>
          <a:p xmlns:a="http://schemas.openxmlformats.org/drawingml/2006/main">
            <a:pPr algn="l">
              <a:defRPr sz="1400" b="0">
                <a:solidFill>
                  <a:srgbClr val="535353"/>
                </a:solidFill>
                <a:latin typeface="Times New Roman"/>
                <a:ea typeface="Times New Roman"/>
                <a:cs typeface="Times New Roman"/>
              </a:defRPr>
            </a:pPr>
            <a:r>
              <a:rPr sz="1400" b="0">
                <a:solidFill>
                  <a:srgbClr val="535353"/>
                </a:solidFill>
                <a:latin typeface="Times New Roman"/>
                <a:ea typeface="Times New Roman"/>
                <a:cs typeface="Times New Roman"/>
              </a:rPr>
              <a:t>Paybacks interpolate after-tax cash-flow recovery. A is the incremental baseline and still has future operating/capital costs.</a:t>
            </a:r>
          </a:p>
        </p:txBody>
      </p:sp>
      <p:sp>
        <p:nvSpPr>
          <p:cNvPr id="3" name="slide-number">
            <a:extLst xmlns:a="http://schemas.openxmlformats.org/drawingml/2006/main">
              <a:ext uri="{FF2B5EF4-FFF2-40B4-BE49-F238E27FC236}">
                <a16:creationId xmlns:a16="http://schemas.microsoft.com/office/drawing/2014/main" id="{F1450232-1D59-4306-923B-673B2BDA6A06}"/>
              </a:ext>
            </a:extLst>
          </p:cNvPr>
          <p:cNvSpPr>
            <a:spLocks xmlns:a="http://schemas.openxmlformats.org/drawingml/2006/main" noGrp="1"/>
          </p:cNvSpPr>
          <p:nvPr/>
        </p:nvSpPr>
        <p:spPr>
          <a:xfrm xmlns:a="http://schemas.openxmlformats.org/drawingml/2006/main">
            <a:off x="11144250" y="63627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00" b="0">
                <a:solidFill>
                  <a:srgbClr val="535353"/>
                </a:solidFill>
                <a:latin typeface="Times New Roman"/>
                <a:ea typeface="Times New Roman"/>
                <a:cs typeface="Times New Roman"/>
              </a:defRPr>
            </a:defPPr>
            <a:lvl1pPr algn="r">
              <a:defRPr sz="1400" b="0">
                <a:solidFill>
                  <a:srgbClr val="535353"/>
                </a:solidFill>
                <a:latin typeface="Times New Roman"/>
                <a:ea typeface="Times New Roman"/>
                <a:cs typeface="Times New Roman"/>
              </a:defRPr>
            </a:lvl1pPr>
            <a:lvl2pPr algn="r">
              <a:defRPr sz="1400" b="0">
                <a:solidFill>
                  <a:srgbClr val="535353"/>
                </a:solidFill>
                <a:latin typeface="Times New Roman"/>
                <a:ea typeface="Times New Roman"/>
                <a:cs typeface="Times New Roman"/>
              </a:defRPr>
            </a:lvl2pPr>
            <a:lvl3pPr algn="r">
              <a:defRPr sz="1400" b="0">
                <a:solidFill>
                  <a:srgbClr val="535353"/>
                </a:solidFill>
                <a:latin typeface="Times New Roman"/>
                <a:ea typeface="Times New Roman"/>
                <a:cs typeface="Times New Roman"/>
              </a:defRPr>
            </a:lvl3pPr>
            <a:lvl4pPr algn="r">
              <a:defRPr sz="1400" b="0">
                <a:solidFill>
                  <a:srgbClr val="535353"/>
                </a:solidFill>
                <a:latin typeface="Times New Roman"/>
                <a:ea typeface="Times New Roman"/>
                <a:cs typeface="Times New Roman"/>
              </a:defRPr>
            </a:lvl4pPr>
            <a:lvl5pPr algn="r">
              <a:defRPr sz="1400" b="0">
                <a:solidFill>
                  <a:srgbClr val="535353"/>
                </a:solidFill>
                <a:latin typeface="Times New Roman"/>
                <a:ea typeface="Times New Roman"/>
                <a:cs typeface="Times New Roman"/>
              </a:defRPr>
            </a:lvl5pPr>
            <a:lvl6pPr algn="r">
              <a:defRPr sz="1400" b="0">
                <a:solidFill>
                  <a:srgbClr val="535353"/>
                </a:solidFill>
                <a:latin typeface="Times New Roman"/>
                <a:ea typeface="Times New Roman"/>
                <a:cs typeface="Times New Roman"/>
              </a:defRPr>
            </a:lvl6pPr>
            <a:lvl7pPr algn="r">
              <a:defRPr sz="1400" b="0">
                <a:solidFill>
                  <a:srgbClr val="535353"/>
                </a:solidFill>
                <a:latin typeface="Times New Roman"/>
                <a:ea typeface="Times New Roman"/>
                <a:cs typeface="Times New Roman"/>
              </a:defRPr>
            </a:lvl7pPr>
            <a:lvl8pPr algn="r">
              <a:defRPr sz="1400" b="0">
                <a:solidFill>
                  <a:srgbClr val="535353"/>
                </a:solidFill>
                <a:latin typeface="Times New Roman"/>
                <a:ea typeface="Times New Roman"/>
                <a:cs typeface="Times New Roman"/>
              </a:defRPr>
            </a:lvl8pPr>
            <a:lvl9pPr algn="r">
              <a:defRPr sz="1400" b="0">
                <a:solidFill>
                  <a:srgbClr val="535353"/>
                </a:solidFill>
                <a:latin typeface="Times New Roman"/>
                <a:ea typeface="Times New Roman"/>
                <a:cs typeface="Times New Roman"/>
              </a:defRPr>
            </a:lvl9pPr>
          </a:lstStyle>
          <a:p xmlns:a="http://schemas.openxmlformats.org/drawingml/2006/main">
            <a:pPr algn="r">
              <a:defRPr sz="1400" b="0">
                <a:solidFill>
                  <a:srgbClr val="535353"/>
                </a:solidFill>
                <a:latin typeface="Times New Roman"/>
                <a:ea typeface="Times New Roman"/>
                <a:cs typeface="Times New Roman"/>
              </a:defRPr>
            </a:pPr>
            <a:r>
              <a:rPr sz="1400" b="0">
                <a:solidFill>
                  <a:srgbClr val="535353"/>
                </a:solidFill>
                <a:latin typeface="Times New Roman"/>
                <a:ea typeface="Times New Roman"/>
                <a:cs typeface="Times New Roman"/>
              </a:rPr>
              <a:t>5 / 7</a:t>
            </a:r>
          </a:p>
        </p:txBody>
      </p:sp>
      <p:sp>
        <p:nvSpPr>
          <p:cNvPr id="4" name="npv-heading">
            <a:extLst xmlns:a="http://schemas.openxmlformats.org/drawingml/2006/main">
              <a:ext uri="{FF2B5EF4-FFF2-40B4-BE49-F238E27FC236}">
                <a16:creationId xmlns:a16="http://schemas.microsoft.com/office/drawing/2014/main" id="{510BEF47-475F-4100-8AC8-7A601EC0453A}"/>
              </a:ext>
            </a:extLst>
          </p:cNvPr>
          <p:cNvSpPr>
            <a:spLocks xmlns:a="http://schemas.openxmlformats.org/drawingml/2006/main" noGrp="1"/>
          </p:cNvSpPr>
          <p:nvPr/>
        </p:nvSpPr>
        <p:spPr>
          <a:xfrm xmlns:a="http://schemas.openxmlformats.org/drawingml/2006/main">
            <a:off x="533400" y="1190625"/>
            <a:ext cx="561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1">
                <a:solidFill>
                  <a:srgbClr val="222222"/>
                </a:solidFill>
                <a:latin typeface="Times New Roman"/>
                <a:ea typeface="Times New Roman"/>
                <a:cs typeface="Times New Roman"/>
              </a:defRPr>
            </a:defPPr>
            <a:lvl1pPr algn="l">
              <a:defRPr sz="2200" b="1">
                <a:solidFill>
                  <a:srgbClr val="222222"/>
                </a:solidFill>
                <a:latin typeface="Times New Roman"/>
                <a:ea typeface="Times New Roman"/>
                <a:cs typeface="Times New Roman"/>
              </a:defRPr>
            </a:lvl1pPr>
            <a:lvl2pPr algn="l">
              <a:defRPr sz="2200" b="1">
                <a:solidFill>
                  <a:srgbClr val="222222"/>
                </a:solidFill>
                <a:latin typeface="Times New Roman"/>
                <a:ea typeface="Times New Roman"/>
                <a:cs typeface="Times New Roman"/>
              </a:defRPr>
            </a:lvl2pPr>
            <a:lvl3pPr algn="l">
              <a:defRPr sz="2200" b="1">
                <a:solidFill>
                  <a:srgbClr val="222222"/>
                </a:solidFill>
                <a:latin typeface="Times New Roman"/>
                <a:ea typeface="Times New Roman"/>
                <a:cs typeface="Times New Roman"/>
              </a:defRPr>
            </a:lvl3pPr>
            <a:lvl4pPr algn="l">
              <a:defRPr sz="2200" b="1">
                <a:solidFill>
                  <a:srgbClr val="222222"/>
                </a:solidFill>
                <a:latin typeface="Times New Roman"/>
                <a:ea typeface="Times New Roman"/>
                <a:cs typeface="Times New Roman"/>
              </a:defRPr>
            </a:lvl4pPr>
            <a:lvl5pPr algn="l">
              <a:defRPr sz="2200" b="1">
                <a:solidFill>
                  <a:srgbClr val="222222"/>
                </a:solidFill>
                <a:latin typeface="Times New Roman"/>
                <a:ea typeface="Times New Roman"/>
                <a:cs typeface="Times New Roman"/>
              </a:defRPr>
            </a:lvl5pPr>
            <a:lvl6pPr algn="l">
              <a:defRPr sz="2200" b="1">
                <a:solidFill>
                  <a:srgbClr val="222222"/>
                </a:solidFill>
                <a:latin typeface="Times New Roman"/>
                <a:ea typeface="Times New Roman"/>
                <a:cs typeface="Times New Roman"/>
              </a:defRPr>
            </a:lvl6pPr>
            <a:lvl7pPr algn="l">
              <a:defRPr sz="2200" b="1">
                <a:solidFill>
                  <a:srgbClr val="222222"/>
                </a:solidFill>
                <a:latin typeface="Times New Roman"/>
                <a:ea typeface="Times New Roman"/>
                <a:cs typeface="Times New Roman"/>
              </a:defRPr>
            </a:lvl7pPr>
            <a:lvl8pPr algn="l">
              <a:defRPr sz="2200" b="1">
                <a:solidFill>
                  <a:srgbClr val="222222"/>
                </a:solidFill>
                <a:latin typeface="Times New Roman"/>
                <a:ea typeface="Times New Roman"/>
                <a:cs typeface="Times New Roman"/>
              </a:defRPr>
            </a:lvl8pPr>
            <a:lvl9pPr algn="l">
              <a:defRPr sz="2200" b="1">
                <a:solidFill>
                  <a:srgbClr val="222222"/>
                </a:solidFill>
                <a:latin typeface="Times New Roman"/>
                <a:ea typeface="Times New Roman"/>
                <a:cs typeface="Times New Roman"/>
              </a:defRPr>
            </a:lvl9pPr>
          </a:lstStyle>
          <a:p xmlns:a="http://schemas.openxmlformats.org/drawingml/2006/main">
            <a:pPr algn="l">
              <a:defRPr sz="2200" b="1">
                <a:solidFill>
                  <a:srgbClr val="222222"/>
                </a:solidFill>
                <a:latin typeface="Times New Roman"/>
                <a:ea typeface="Times New Roman"/>
                <a:cs typeface="Times New Roman"/>
              </a:defRPr>
            </a:pPr>
            <a:r>
              <a:rPr sz="2200" b="1">
                <a:solidFill>
                  <a:srgbClr val="222222"/>
                </a:solidFill>
                <a:latin typeface="Times New Roman"/>
                <a:ea typeface="Times New Roman"/>
                <a:cs typeface="Times New Roman"/>
              </a:rPr>
              <a:t>Base-case NPV (USD millions)</a:t>
            </a:r>
          </a:p>
        </p:txBody>
      </p:sp>
      <p:graphicFrame>
        <p:nvGraphicFramePr>
          <p:cNvPr id="5" name="Chart">
            <a:extLst xmlns:a="http://schemas.openxmlformats.org/drawingml/2006/main">
              <a:ext uri="{FF2B5EF4-FFF2-40B4-BE49-F238E27FC236}">
                <a16:creationId xmlns:a16="http://schemas.microsoft.com/office/drawing/2014/main" id="{7E096CD3-A5A1-4B7C-A073-B938561F6700}"/>
              </a:ext>
            </a:extLst>
          </p:cNvPr>
          <p:cNvGraphicFramePr/>
          <p:nvPr/>
        </p:nvGraphicFramePr>
        <p:xfrm>
          <a:off xmlns:a="http://schemas.openxmlformats.org/drawingml/2006/main" x="533400" y="1704975"/>
          <a:ext xmlns:a="http://schemas.openxmlformats.org/drawingml/2006/main" cx="5638800" cy="3743325"/>
        </p:xfrm>
        <a:graphic xmlns:a="http://schemas.openxmlformats.org/drawingml/2006/main">
          <a:graphicData uri="http://schemas.openxmlformats.org/drawingml/2006/chart">
            <c:chart xmlns:r="http://schemas.openxmlformats.org/officeDocument/2006/relationships" xmlns:c="http://schemas.openxmlformats.org/drawingml/2006/chart" r:id="R7cdb9c4577de436f"/>
          </a:graphicData>
        </a:graphic>
      </p:graphicFrame>
      <p:graphicFrame>
        <p:nvGraphicFramePr>
          <p:cNvPr id="6" name="">
            <a:extLst xmlns:a="http://schemas.openxmlformats.org/drawingml/2006/main">
              <a:ext uri="{FF2B5EF4-FFF2-40B4-BE49-F238E27FC236}">
                <a16:creationId xmlns:a16="http://schemas.microsoft.com/office/drawing/2014/main" id="{4E65EBA8-60E7-44D2-B616-14D1DE782E0E}"/>
              </a:ext>
            </a:extLst>
          </p:cNvPr>
          <p:cNvGraphicFramePr/>
          <p:nvPr/>
        </p:nvGraphicFramePr>
        <p:xfrm>
          <a:off xmlns:a="http://schemas.openxmlformats.org/drawingml/2006/main" x="6629400" y="1695450"/>
          <a:ext xmlns:a="http://schemas.openxmlformats.org/drawingml/2006/main" cx="5029200" cy="2733675"/>
        </p:xfrm>
        <a:graphic xmlns:a="http://schemas.openxmlformats.org/drawingml/2006/main">
          <a:graphicData uri="http://schemas.openxmlformats.org/drawingml/2006/table">
            <a:tbl>
              <a:tblPr firstRow="0" lastRow="0" bandRow="0"/>
              <a:tblGrid>
                <a:gridCol w="2266950"/>
                <a:gridCol w="1381125"/>
                <a:gridCol w="1381125"/>
              </a:tblGrid>
              <a:tr h="457200">
                <a:tc>
                  <a:txBody>
                    <a:bodyPr lIns="95250" tIns="47625" rIns="95250" bIns="47625">
                      <a:noAutofit/>
                    </a:bodyPr>
                    <a:lstStyle/>
                    <a:p>
                      <a:pPr algn="l"/>
                      <a:r>
                        <a:rPr sz="1800" b="1">
                          <a:solidFill>
                            <a:srgbClr val="222222"/>
                          </a:solidFill>
                          <a:latin typeface="Times New Roman"/>
                          <a:ea typeface="Times New Roman"/>
                          <a:cs typeface="Times New Roman"/>
                        </a:rPr>
                        <a:t>Metric</a:t>
                      </a:r>
                    </a:p>
                  </a:txBody>
                  <a:tcPr marL="91440" marR="91440" marT="45720" marB="45720" anchor="ctr">
                    <a:lnL w="5715">
                      <a:solidFill>
                        <a:srgbClr val="D2D2D2"/>
                      </a:solidFill>
                      <a:prstDash val="solid"/>
                    </a:lnL>
                    <a:lnR w="5715">
                      <a:solidFill>
                        <a:srgbClr val="D2D2D2"/>
                      </a:solidFill>
                      <a:prstDash val="solid"/>
                    </a:lnR>
                    <a:lnT w="5715">
                      <a:solidFill>
                        <a:srgbClr val="D2D2D2"/>
                      </a:solidFill>
                      <a:prstDash val="solid"/>
                    </a:lnT>
                    <a:lnB w="5715">
                      <a:solidFill>
                        <a:srgbClr val="D2D2D2"/>
                      </a:solidFill>
                      <a:prstDash val="solid"/>
                    </a:lnB>
                    <a:solidFill>
                      <a:srgbClr val="F0F0F0"/>
                    </a:solidFill>
                  </a:tcPr>
                </a:tc>
                <a:tc>
                  <a:txBody>
                    <a:bodyPr lIns="95250" tIns="47625" rIns="95250" bIns="47625">
                      <a:noAutofit/>
                    </a:bodyPr>
                    <a:lstStyle/>
                    <a:p>
                      <a:pPr algn="r"/>
                      <a:r>
                        <a:rPr sz="1800" b="1">
                          <a:solidFill>
                            <a:srgbClr val="222222"/>
                          </a:solidFill>
                          <a:latin typeface="Times New Roman"/>
                          <a:ea typeface="Times New Roman"/>
                          <a:cs typeface="Times New Roman"/>
                        </a:rPr>
                        <a:t>B: Full</a:t>
                      </a:r>
                    </a:p>
                  </a:txBody>
                  <a:tcPr marL="91440" marR="91440" marT="45720" marB="45720" anchor="ctr">
                    <a:lnR w="5715">
                      <a:solidFill>
                        <a:srgbClr val="D2D2D2"/>
                      </a:solidFill>
                      <a:prstDash val="solid"/>
                    </a:lnR>
                    <a:lnT w="5715">
                      <a:solidFill>
                        <a:srgbClr val="D2D2D2"/>
                      </a:solidFill>
                      <a:prstDash val="solid"/>
                    </a:lnT>
                    <a:lnB w="5715">
                      <a:solidFill>
                        <a:srgbClr val="D2D2D2"/>
                      </a:solidFill>
                      <a:prstDash val="solid"/>
                    </a:lnB>
                    <a:solidFill>
                      <a:srgbClr val="F0F0F0"/>
                    </a:solidFill>
                  </a:tcPr>
                </a:tc>
                <a:tc>
                  <a:txBody>
                    <a:bodyPr lIns="95250" tIns="47625" rIns="95250" bIns="47625">
                      <a:noAutofit/>
                    </a:bodyPr>
                    <a:lstStyle/>
                    <a:p>
                      <a:pPr algn="r"/>
                      <a:r>
                        <a:rPr sz="1800" b="1">
                          <a:solidFill>
                            <a:srgbClr val="222222"/>
                          </a:solidFill>
                          <a:latin typeface="Times New Roman"/>
                          <a:ea typeface="Times New Roman"/>
                          <a:cs typeface="Times New Roman"/>
                        </a:rPr>
                        <a:t>C: Partial</a:t>
                      </a:r>
                    </a:p>
                  </a:txBody>
                  <a:tcPr marL="91440" marR="91440" marT="45720" marB="45720" anchor="ctr">
                    <a:lnR w="5715">
                      <a:solidFill>
                        <a:srgbClr val="D2D2D2"/>
                      </a:solidFill>
                      <a:prstDash val="solid"/>
                    </a:lnR>
                    <a:lnT w="5715">
                      <a:solidFill>
                        <a:srgbClr val="D2D2D2"/>
                      </a:solidFill>
                      <a:prstDash val="solid"/>
                    </a:lnT>
                    <a:lnB w="5715">
                      <a:solidFill>
                        <a:srgbClr val="D2D2D2"/>
                      </a:solidFill>
                      <a:prstDash val="solid"/>
                    </a:lnB>
                    <a:solidFill>
                      <a:srgbClr val="F0F0F0"/>
                    </a:solidFill>
                  </a:tcPr>
                </a:tc>
              </a:tr>
              <a:tr h="619125">
                <a:tc>
                  <a:txBody>
                    <a:bodyPr lIns="95250" tIns="47625" rIns="95250" bIns="47625">
                      <a:noAutofit/>
                    </a:bodyPr>
                    <a:lstStyle/>
                    <a:p>
                      <a:pPr algn="l"/>
                      <a:r>
                        <a:rPr sz="1800" b="0">
                          <a:solidFill>
                            <a:srgbClr val="222222"/>
                          </a:solidFill>
                          <a:latin typeface="Times New Roman"/>
                          <a:ea typeface="Times New Roman"/>
                          <a:cs typeface="Times New Roman"/>
                        </a:rPr>
                        <a:t>Dated IRR (XIRR)</a:t>
                      </a:r>
                    </a:p>
                  </a:txBody>
                  <a:tcPr marL="91440" marR="91440" marT="45720" marB="45720" anchor="ctr">
                    <a:lnL w="5715">
                      <a:solidFill>
                        <a:srgbClr val="D2D2D2"/>
                      </a:solidFill>
                      <a:prstDash val="solid"/>
                    </a:lnL>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−0.38%</a:t>
                      </a:r>
                    </a:p>
                  </a:txBody>
                  <a:tcPr marL="91440" marR="91440" marT="45720" marB="45720" anchor="ctr">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9.44%</a:t>
                      </a:r>
                    </a:p>
                  </a:txBody>
                  <a:tcPr marL="91440" marR="91440" marT="45720" marB="45720" anchor="ctr">
                    <a:lnR w="5715">
                      <a:solidFill>
                        <a:srgbClr val="D2D2D2"/>
                      </a:solidFill>
                      <a:prstDash val="solid"/>
                    </a:lnR>
                    <a:lnB w="5715">
                      <a:solidFill>
                        <a:srgbClr val="D2D2D2"/>
                      </a:solidFill>
                      <a:prstDash val="solid"/>
                    </a:lnB>
                    <a:solidFill>
                      <a:srgbClr val="FFFFFF"/>
                    </a:solidFill>
                  </a:tcPr>
                </a:tc>
              </a:tr>
              <a:tr h="828675">
                <a:tc>
                  <a:txBody>
                    <a:bodyPr lIns="95250" tIns="47625" rIns="95250" bIns="47625">
                      <a:noAutofit/>
                    </a:bodyPr>
                    <a:lstStyle/>
                    <a:p>
                      <a:pPr algn="l"/>
                      <a:r>
                        <a:rPr sz="1800" b="0">
                          <a:solidFill>
                            <a:srgbClr val="222222"/>
                          </a:solidFill>
                          <a:latin typeface="Times New Roman"/>
                          <a:ea typeface="Times New Roman"/>
                          <a:cs typeface="Times New Roman"/>
                        </a:rPr>
                        <a:t>Simple payback</a:t>
                      </a:r>
                    </a:p>
                  </a:txBody>
                  <a:tcPr marL="91440" marR="91440" marT="45720" marB="45720" anchor="ctr">
                    <a:lnL w="5715">
                      <a:solidFill>
                        <a:srgbClr val="D2D2D2"/>
                      </a:solidFill>
                      <a:prstDash val="solid"/>
                    </a:lnL>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Not within</a:t>
                      </a:r>
                    </a:p>
                    <a:p>
                      <a:pPr algn="r"/>
                      <a:r>
                        <a:rPr sz="1800" b="0">
                          <a:solidFill>
                            <a:srgbClr val="222222"/>
                          </a:solidFill>
                          <a:latin typeface="Times New Roman"/>
                          <a:ea typeface="Times New Roman"/>
                          <a:cs typeface="Times New Roman"/>
                        </a:rPr>
                        <a:t>10 years</a:t>
                      </a:r>
                    </a:p>
                  </a:txBody>
                  <a:tcPr marL="91440" marR="91440" marT="45720" marB="45720" anchor="ctr">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6.51 years</a:t>
                      </a:r>
                    </a:p>
                  </a:txBody>
                  <a:tcPr marL="91440" marR="91440" marT="45720" marB="45720" anchor="ctr">
                    <a:lnR w="5715">
                      <a:solidFill>
                        <a:srgbClr val="D2D2D2"/>
                      </a:solidFill>
                      <a:prstDash val="solid"/>
                    </a:lnR>
                    <a:lnB w="5715">
                      <a:solidFill>
                        <a:srgbClr val="D2D2D2"/>
                      </a:solidFill>
                      <a:prstDash val="solid"/>
                    </a:lnB>
                    <a:solidFill>
                      <a:srgbClr val="FFFFFF"/>
                    </a:solidFill>
                  </a:tcPr>
                </a:tc>
              </a:tr>
              <a:tr h="828675">
                <a:tc>
                  <a:txBody>
                    <a:bodyPr lIns="95250" tIns="47625" rIns="95250" bIns="47625">
                      <a:noAutofit/>
                    </a:bodyPr>
                    <a:lstStyle/>
                    <a:p>
                      <a:pPr algn="l"/>
                      <a:r>
                        <a:rPr sz="1800" b="0">
                          <a:solidFill>
                            <a:srgbClr val="222222"/>
                          </a:solidFill>
                          <a:latin typeface="Times New Roman"/>
                          <a:ea typeface="Times New Roman"/>
                          <a:cs typeface="Times New Roman"/>
                        </a:rPr>
                        <a:t>Discounted payback</a:t>
                      </a:r>
                    </a:p>
                  </a:txBody>
                  <a:tcPr marL="91440" marR="91440" marT="45720" marB="45720" anchor="ctr">
                    <a:lnL w="5715">
                      <a:solidFill>
                        <a:srgbClr val="D2D2D2"/>
                      </a:solidFill>
                      <a:prstDash val="solid"/>
                    </a:lnL>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Not within</a:t>
                      </a:r>
                    </a:p>
                    <a:p>
                      <a:pPr algn="r"/>
                      <a:r>
                        <a:rPr sz="1800" b="0">
                          <a:solidFill>
                            <a:srgbClr val="222222"/>
                          </a:solidFill>
                          <a:latin typeface="Times New Roman"/>
                          <a:ea typeface="Times New Roman"/>
                          <a:cs typeface="Times New Roman"/>
                        </a:rPr>
                        <a:t>10 years</a:t>
                      </a:r>
                    </a:p>
                  </a:txBody>
                  <a:tcPr marL="91440" marR="91440" marT="45720" marB="45720" anchor="ctr">
                    <a:lnR w="5715">
                      <a:solidFill>
                        <a:srgbClr val="D2D2D2"/>
                      </a:solidFill>
                      <a:prstDash val="solid"/>
                    </a:lnR>
                    <a:lnB w="5715">
                      <a:solidFill>
                        <a:srgbClr val="D2D2D2"/>
                      </a:solidFill>
                      <a:prstDash val="solid"/>
                    </a:lnB>
                    <a:solidFill>
                      <a:srgbClr val="FFFFFF"/>
                    </a:solidFill>
                  </a:tcPr>
                </a:tc>
                <a:tc>
                  <a:txBody>
                    <a:bodyPr lIns="95250" tIns="47625" rIns="95250" bIns="47625">
                      <a:noAutofit/>
                    </a:bodyPr>
                    <a:lstStyle/>
                    <a:p>
                      <a:pPr algn="r"/>
                      <a:r>
                        <a:rPr sz="1800" b="0">
                          <a:solidFill>
                            <a:srgbClr val="222222"/>
                          </a:solidFill>
                          <a:latin typeface="Times New Roman"/>
                          <a:ea typeface="Times New Roman"/>
                          <a:cs typeface="Times New Roman"/>
                        </a:rPr>
                        <a:t>9.12 years</a:t>
                      </a:r>
                    </a:p>
                  </a:txBody>
                  <a:tcPr marL="91440" marR="91440" marT="45720" marB="45720" anchor="ctr">
                    <a:lnR w="5715">
                      <a:solidFill>
                        <a:srgbClr val="D2D2D2"/>
                      </a:solidFill>
                      <a:prstDash val="solid"/>
                    </a:lnR>
                    <a:lnB w="5715">
                      <a:solidFill>
                        <a:srgbClr val="D2D2D2"/>
                      </a:solidFill>
                      <a:prstDash val="solid"/>
                    </a:lnB>
                    <a:solidFill>
                      <a:srgbClr val="FFFFFF"/>
                    </a:solidFill>
                  </a:tcPr>
                </a:tc>
              </a:tr>
            </a:tbl>
          </a:graphicData>
        </a:graphic>
      </p:graphicFrame>
      <p:sp>
        <p:nvSpPr>
          <p:cNvPr id="7" name="basis">
            <a:extLst xmlns:a="http://schemas.openxmlformats.org/drawingml/2006/main">
              <a:ext uri="{FF2B5EF4-FFF2-40B4-BE49-F238E27FC236}">
                <a16:creationId xmlns:a16="http://schemas.microsoft.com/office/drawing/2014/main" id="{B9E80059-D878-43EF-A06D-A575D1473548}"/>
              </a:ext>
            </a:extLst>
          </p:cNvPr>
          <p:cNvSpPr>
            <a:spLocks xmlns:a="http://schemas.openxmlformats.org/drawingml/2006/main" noGrp="1"/>
          </p:cNvSpPr>
          <p:nvPr/>
        </p:nvSpPr>
        <p:spPr>
          <a:xfrm xmlns:a="http://schemas.openxmlformats.org/drawingml/2006/main">
            <a:off x="6629400" y="4676775"/>
            <a:ext cx="50292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222222"/>
                </a:solidFill>
                <a:latin typeface="Times New Roman"/>
                <a:ea typeface="Times New Roman"/>
                <a:cs typeface="Times New Roman"/>
              </a:defRPr>
            </a:defPPr>
            <a:lvl1pPr algn="l">
              <a:defRPr sz="2100" b="0">
                <a:solidFill>
                  <a:srgbClr val="222222"/>
                </a:solidFill>
                <a:latin typeface="Times New Roman"/>
                <a:ea typeface="Times New Roman"/>
                <a:cs typeface="Times New Roman"/>
              </a:defRPr>
            </a:lvl1pPr>
            <a:lvl2pPr algn="l">
              <a:defRPr sz="2100" b="0">
                <a:solidFill>
                  <a:srgbClr val="222222"/>
                </a:solidFill>
                <a:latin typeface="Times New Roman"/>
                <a:ea typeface="Times New Roman"/>
                <a:cs typeface="Times New Roman"/>
              </a:defRPr>
            </a:lvl2pPr>
            <a:lvl3pPr algn="l">
              <a:defRPr sz="2100" b="0">
                <a:solidFill>
                  <a:srgbClr val="222222"/>
                </a:solidFill>
                <a:latin typeface="Times New Roman"/>
                <a:ea typeface="Times New Roman"/>
                <a:cs typeface="Times New Roman"/>
              </a:defRPr>
            </a:lvl3pPr>
            <a:lvl4pPr algn="l">
              <a:defRPr sz="2100" b="0">
                <a:solidFill>
                  <a:srgbClr val="222222"/>
                </a:solidFill>
                <a:latin typeface="Times New Roman"/>
                <a:ea typeface="Times New Roman"/>
                <a:cs typeface="Times New Roman"/>
              </a:defRPr>
            </a:lvl4pPr>
            <a:lvl5pPr algn="l">
              <a:defRPr sz="2100" b="0">
                <a:solidFill>
                  <a:srgbClr val="222222"/>
                </a:solidFill>
                <a:latin typeface="Times New Roman"/>
                <a:ea typeface="Times New Roman"/>
                <a:cs typeface="Times New Roman"/>
              </a:defRPr>
            </a:lvl5pPr>
            <a:lvl6pPr algn="l">
              <a:defRPr sz="2100" b="0">
                <a:solidFill>
                  <a:srgbClr val="222222"/>
                </a:solidFill>
                <a:latin typeface="Times New Roman"/>
                <a:ea typeface="Times New Roman"/>
                <a:cs typeface="Times New Roman"/>
              </a:defRPr>
            </a:lvl6pPr>
            <a:lvl7pPr algn="l">
              <a:defRPr sz="2100" b="0">
                <a:solidFill>
                  <a:srgbClr val="222222"/>
                </a:solidFill>
                <a:latin typeface="Times New Roman"/>
                <a:ea typeface="Times New Roman"/>
                <a:cs typeface="Times New Roman"/>
              </a:defRPr>
            </a:lvl7pPr>
            <a:lvl8pPr algn="l">
              <a:defRPr sz="2100" b="0">
                <a:solidFill>
                  <a:srgbClr val="222222"/>
                </a:solidFill>
                <a:latin typeface="Times New Roman"/>
                <a:ea typeface="Times New Roman"/>
                <a:cs typeface="Times New Roman"/>
              </a:defRPr>
            </a:lvl8pPr>
            <a:lvl9pPr algn="l">
              <a:defRPr sz="2100" b="0">
                <a:solidFill>
                  <a:srgbClr val="222222"/>
                </a:solidFill>
                <a:latin typeface="Times New Roman"/>
                <a:ea typeface="Times New Roman"/>
                <a:cs typeface="Times New Roman"/>
              </a:defRPr>
            </a:lvl9pPr>
          </a:lstStyle>
          <a:p xmlns:a="http://schemas.openxmlformats.org/drawingml/2006/main">
            <a:pPr algn="l">
              <a:defRPr sz="2100" b="0">
                <a:solidFill>
                  <a:srgbClr val="222222"/>
                </a:solidFill>
                <a:latin typeface="Times New Roman"/>
                <a:ea typeface="Times New Roman"/>
                <a:cs typeface="Times New Roman"/>
              </a:defRPr>
            </a:pPr>
            <a:r>
              <a:rPr sz="2100" b="0">
                <a:solidFill>
                  <a:srgbClr val="222222"/>
                </a:solidFill>
                <a:latin typeface="Times New Roman"/>
                <a:ea typeface="Times New Roman"/>
                <a:cs typeface="Times New Roman"/>
              </a:rPr>
              <a:t>10-year horizon: 2027–2036</a:t>
            </a:r>
          </a:p>
          <a:p xmlns:a="http://schemas.openxmlformats.org/drawingml/2006/main">
            <a:pPr algn="l">
              <a:defRPr sz="2100" b="0">
                <a:solidFill>
                  <a:srgbClr val="222222"/>
                </a:solidFill>
                <a:latin typeface="Times New Roman"/>
                <a:ea typeface="Times New Roman"/>
                <a:cs typeface="Times New Roman"/>
              </a:defRPr>
            </a:pPr>
            <a:r>
              <a:rPr sz="2100" b="0">
                <a:solidFill>
                  <a:srgbClr val="222222"/>
                </a:solidFill>
                <a:latin typeface="Times New Roman"/>
                <a:ea typeface="Times New Roman"/>
                <a:cs typeface="Times New Roman"/>
              </a:rPr>
              <a:t>Base discount rate: 8.5%</a:t>
            </a:r>
          </a:p>
        </p:txBody>
      </p:sp>
      <p:sp>
        <p:nvSpPr>
          <p:cNvPr id="8" name="npv-primary">
            <a:extLst xmlns:a="http://schemas.openxmlformats.org/drawingml/2006/main">
              <a:ext uri="{FF2B5EF4-FFF2-40B4-BE49-F238E27FC236}">
                <a16:creationId xmlns:a16="http://schemas.microsoft.com/office/drawing/2014/main" id="{88A85CC1-C1C5-41F9-B202-5CC3C2B78513}"/>
              </a:ext>
            </a:extLst>
          </p:cNvPr>
          <p:cNvSpPr>
            <a:spLocks xmlns:a="http://schemas.openxmlformats.org/drawingml/2006/main" noGrp="1"/>
          </p:cNvSpPr>
          <p:nvPr/>
        </p:nvSpPr>
        <p:spPr>
          <a:xfrm xmlns:a="http://schemas.openxmlformats.org/drawingml/2006/main">
            <a:off x="533400" y="5676900"/>
            <a:ext cx="11125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a:solidFill>
                  <a:srgbClr val="222222"/>
                </a:solidFill>
                <a:latin typeface="Times New Roman"/>
                <a:ea typeface="Times New Roman"/>
                <a:cs typeface="Times New Roman"/>
              </a:defRPr>
            </a:defPPr>
            <a:lvl1pPr algn="l">
              <a:defRPr sz="2300" b="1">
                <a:solidFill>
                  <a:srgbClr val="222222"/>
                </a:solidFill>
                <a:latin typeface="Times New Roman"/>
                <a:ea typeface="Times New Roman"/>
                <a:cs typeface="Times New Roman"/>
              </a:defRPr>
            </a:lvl1pPr>
            <a:lvl2pPr algn="l">
              <a:defRPr sz="2300" b="1">
                <a:solidFill>
                  <a:srgbClr val="222222"/>
                </a:solidFill>
                <a:latin typeface="Times New Roman"/>
                <a:ea typeface="Times New Roman"/>
                <a:cs typeface="Times New Roman"/>
              </a:defRPr>
            </a:lvl2pPr>
            <a:lvl3pPr algn="l">
              <a:defRPr sz="2300" b="1">
                <a:solidFill>
                  <a:srgbClr val="222222"/>
                </a:solidFill>
                <a:latin typeface="Times New Roman"/>
                <a:ea typeface="Times New Roman"/>
                <a:cs typeface="Times New Roman"/>
              </a:defRPr>
            </a:lvl3pPr>
            <a:lvl4pPr algn="l">
              <a:defRPr sz="2300" b="1">
                <a:solidFill>
                  <a:srgbClr val="222222"/>
                </a:solidFill>
                <a:latin typeface="Times New Roman"/>
                <a:ea typeface="Times New Roman"/>
                <a:cs typeface="Times New Roman"/>
              </a:defRPr>
            </a:lvl4pPr>
            <a:lvl5pPr algn="l">
              <a:defRPr sz="2300" b="1">
                <a:solidFill>
                  <a:srgbClr val="222222"/>
                </a:solidFill>
                <a:latin typeface="Times New Roman"/>
                <a:ea typeface="Times New Roman"/>
                <a:cs typeface="Times New Roman"/>
              </a:defRPr>
            </a:lvl5pPr>
            <a:lvl6pPr algn="l">
              <a:defRPr sz="2300" b="1">
                <a:solidFill>
                  <a:srgbClr val="222222"/>
                </a:solidFill>
                <a:latin typeface="Times New Roman"/>
                <a:ea typeface="Times New Roman"/>
                <a:cs typeface="Times New Roman"/>
              </a:defRPr>
            </a:lvl6pPr>
            <a:lvl7pPr algn="l">
              <a:defRPr sz="2300" b="1">
                <a:solidFill>
                  <a:srgbClr val="222222"/>
                </a:solidFill>
                <a:latin typeface="Times New Roman"/>
                <a:ea typeface="Times New Roman"/>
                <a:cs typeface="Times New Roman"/>
              </a:defRPr>
            </a:lvl7pPr>
            <a:lvl8pPr algn="l">
              <a:defRPr sz="2300" b="1">
                <a:solidFill>
                  <a:srgbClr val="222222"/>
                </a:solidFill>
                <a:latin typeface="Times New Roman"/>
                <a:ea typeface="Times New Roman"/>
                <a:cs typeface="Times New Roman"/>
              </a:defRPr>
            </a:lvl8pPr>
            <a:lvl9pPr algn="l">
              <a:defRPr sz="2300" b="1">
                <a:solidFill>
                  <a:srgbClr val="222222"/>
                </a:solidFill>
                <a:latin typeface="Times New Roman"/>
                <a:ea typeface="Times New Roman"/>
                <a:cs typeface="Times New Roman"/>
              </a:defRPr>
            </a:lvl9pPr>
          </a:lstStyle>
          <a:p xmlns:a="http://schemas.openxmlformats.org/drawingml/2006/main">
            <a:pPr algn="l">
              <a:defRPr sz="2300" b="1">
                <a:solidFill>
                  <a:srgbClr val="222222"/>
                </a:solidFill>
                <a:latin typeface="Times New Roman"/>
                <a:ea typeface="Times New Roman"/>
                <a:cs typeface="Times New Roman"/>
              </a:defRPr>
            </a:pPr>
            <a:r>
              <a:rPr sz="2300" b="1">
                <a:solidFill>
                  <a:srgbClr val="222222"/>
                </a:solidFill>
                <a:latin typeface="Times New Roman"/>
                <a:ea typeface="Times New Roman"/>
                <a:cs typeface="Times New Roman"/>
              </a:rPr>
              <a:t>NPV is primary: it measures discounted after-tax value in dollars.</a:t>
            </a:r>
          </a:p>
        </p:txBody>
      </p:sp>
    </p:spTree>
    <p:extLst>
      <p:ext uri="{BB962C8B-B14F-4D97-AF65-F5344CB8AC3E}">
        <p14:creationId xmlns:p14="http://schemas.microsoft.com/office/powerpoint/2010/main" val="14137136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D713EFF3-3AC8-4561-A603-C7F990E3FB23}"/>
              </a:ext>
            </a:extLst>
          </p:cNvPr>
          <p:cNvSpPr>
            <a:spLocks xmlns:a="http://schemas.openxmlformats.org/drawingml/2006/main" noGrp="1"/>
          </p:cNvSpPr>
          <p:nvPr/>
        </p:nvSpPr>
        <p:spPr>
          <a:xfrm xmlns:a="http://schemas.openxmlformats.org/drawingml/2006/main">
            <a:off x="533400" y="30480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00" b="1">
                <a:solidFill>
                  <a:srgbClr val="222222"/>
                </a:solidFill>
                <a:latin typeface="Times New Roman"/>
                <a:ea typeface="Times New Roman"/>
                <a:cs typeface="Times New Roman"/>
              </a:defRPr>
            </a:defPPr>
            <a:lvl1pPr algn="l">
              <a:defRPr sz="3200" b="1">
                <a:solidFill>
                  <a:srgbClr val="222222"/>
                </a:solidFill>
                <a:latin typeface="Times New Roman"/>
                <a:ea typeface="Times New Roman"/>
                <a:cs typeface="Times New Roman"/>
              </a:defRPr>
            </a:lvl1pPr>
            <a:lvl2pPr algn="l">
              <a:defRPr sz="3200" b="1">
                <a:solidFill>
                  <a:srgbClr val="222222"/>
                </a:solidFill>
                <a:latin typeface="Times New Roman"/>
                <a:ea typeface="Times New Roman"/>
                <a:cs typeface="Times New Roman"/>
              </a:defRPr>
            </a:lvl2pPr>
            <a:lvl3pPr algn="l">
              <a:defRPr sz="3200" b="1">
                <a:solidFill>
                  <a:srgbClr val="222222"/>
                </a:solidFill>
                <a:latin typeface="Times New Roman"/>
                <a:ea typeface="Times New Roman"/>
                <a:cs typeface="Times New Roman"/>
              </a:defRPr>
            </a:lvl3pPr>
            <a:lvl4pPr algn="l">
              <a:defRPr sz="3200" b="1">
                <a:solidFill>
                  <a:srgbClr val="222222"/>
                </a:solidFill>
                <a:latin typeface="Times New Roman"/>
                <a:ea typeface="Times New Roman"/>
                <a:cs typeface="Times New Roman"/>
              </a:defRPr>
            </a:lvl4pPr>
            <a:lvl5pPr algn="l">
              <a:defRPr sz="3200" b="1">
                <a:solidFill>
                  <a:srgbClr val="222222"/>
                </a:solidFill>
                <a:latin typeface="Times New Roman"/>
                <a:ea typeface="Times New Roman"/>
                <a:cs typeface="Times New Roman"/>
              </a:defRPr>
            </a:lvl5pPr>
            <a:lvl6pPr algn="l">
              <a:defRPr sz="3200" b="1">
                <a:solidFill>
                  <a:srgbClr val="222222"/>
                </a:solidFill>
                <a:latin typeface="Times New Roman"/>
                <a:ea typeface="Times New Roman"/>
                <a:cs typeface="Times New Roman"/>
              </a:defRPr>
            </a:lvl6pPr>
            <a:lvl7pPr algn="l">
              <a:defRPr sz="3200" b="1">
                <a:solidFill>
                  <a:srgbClr val="222222"/>
                </a:solidFill>
                <a:latin typeface="Times New Roman"/>
                <a:ea typeface="Times New Roman"/>
                <a:cs typeface="Times New Roman"/>
              </a:defRPr>
            </a:lvl7pPr>
            <a:lvl8pPr algn="l">
              <a:defRPr sz="3200" b="1">
                <a:solidFill>
                  <a:srgbClr val="222222"/>
                </a:solidFill>
                <a:latin typeface="Times New Roman"/>
                <a:ea typeface="Times New Roman"/>
                <a:cs typeface="Times New Roman"/>
              </a:defRPr>
            </a:lvl8pPr>
            <a:lvl9pPr algn="l">
              <a:defRPr sz="3200" b="1">
                <a:solidFill>
                  <a:srgbClr val="222222"/>
                </a:solidFill>
                <a:latin typeface="Times New Roman"/>
                <a:ea typeface="Times New Roman"/>
                <a:cs typeface="Times New Roman"/>
              </a:defRPr>
            </a:lvl9pPr>
          </a:lstStyle>
          <a:p xmlns:a="http://schemas.openxmlformats.org/drawingml/2006/main">
            <a:pPr algn="l">
              <a:defRPr sz="3200" b="1">
                <a:solidFill>
                  <a:srgbClr val="222222"/>
                </a:solidFill>
                <a:latin typeface="Times New Roman"/>
                <a:ea typeface="Times New Roman"/>
                <a:cs typeface="Times New Roman"/>
              </a:defRPr>
            </a:pPr>
            <a:r>
              <a:rPr sz="3200" b="1">
                <a:solidFill>
                  <a:srgbClr val="222222"/>
                </a:solidFill>
                <a:latin typeface="Times New Roman"/>
                <a:ea typeface="Times New Roman"/>
                <a:cs typeface="Times New Roman"/>
              </a:rPr>
              <a:t>Scenario analysis and investment risks</a:t>
            </a:r>
          </a:p>
        </p:txBody>
      </p:sp>
      <p:sp>
        <p:nvSpPr>
          <p:cNvPr id="2" name="footnote">
            <a:extLst xmlns:a="http://schemas.openxmlformats.org/drawingml/2006/main">
              <a:ext uri="{FF2B5EF4-FFF2-40B4-BE49-F238E27FC236}">
                <a16:creationId xmlns:a16="http://schemas.microsoft.com/office/drawing/2014/main" id="{567E21E4-B286-4920-84B9-1054C6A19634}"/>
              </a:ext>
            </a:extLst>
          </p:cNvPr>
          <p:cNvSpPr>
            <a:spLocks xmlns:a="http://schemas.openxmlformats.org/drawingml/2006/main" noGrp="1"/>
          </p:cNvSpPr>
          <p:nvPr/>
        </p:nvSpPr>
        <p:spPr>
          <a:xfrm xmlns:a="http://schemas.openxmlformats.org/drawingml/2006/main">
            <a:off x="533400" y="6305550"/>
            <a:ext cx="10572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0">
                <a:solidFill>
                  <a:srgbClr val="535353"/>
                </a:solidFill>
                <a:latin typeface="Times New Roman"/>
                <a:ea typeface="Times New Roman"/>
                <a:cs typeface="Times New Roman"/>
              </a:defRPr>
            </a:defPPr>
            <a:lvl1pPr algn="l">
              <a:defRPr sz="1400" b="0">
                <a:solidFill>
                  <a:srgbClr val="535353"/>
                </a:solidFill>
                <a:latin typeface="Times New Roman"/>
                <a:ea typeface="Times New Roman"/>
                <a:cs typeface="Times New Roman"/>
              </a:defRPr>
            </a:lvl1pPr>
            <a:lvl2pPr algn="l">
              <a:defRPr sz="1400" b="0">
                <a:solidFill>
                  <a:srgbClr val="535353"/>
                </a:solidFill>
                <a:latin typeface="Times New Roman"/>
                <a:ea typeface="Times New Roman"/>
                <a:cs typeface="Times New Roman"/>
              </a:defRPr>
            </a:lvl2pPr>
            <a:lvl3pPr algn="l">
              <a:defRPr sz="1400" b="0">
                <a:solidFill>
                  <a:srgbClr val="535353"/>
                </a:solidFill>
                <a:latin typeface="Times New Roman"/>
                <a:ea typeface="Times New Roman"/>
                <a:cs typeface="Times New Roman"/>
              </a:defRPr>
            </a:lvl3pPr>
            <a:lvl4pPr algn="l">
              <a:defRPr sz="1400" b="0">
                <a:solidFill>
                  <a:srgbClr val="535353"/>
                </a:solidFill>
                <a:latin typeface="Times New Roman"/>
                <a:ea typeface="Times New Roman"/>
                <a:cs typeface="Times New Roman"/>
              </a:defRPr>
            </a:lvl4pPr>
            <a:lvl5pPr algn="l">
              <a:defRPr sz="1400" b="0">
                <a:solidFill>
                  <a:srgbClr val="535353"/>
                </a:solidFill>
                <a:latin typeface="Times New Roman"/>
                <a:ea typeface="Times New Roman"/>
                <a:cs typeface="Times New Roman"/>
              </a:defRPr>
            </a:lvl5pPr>
            <a:lvl6pPr algn="l">
              <a:defRPr sz="1400" b="0">
                <a:solidFill>
                  <a:srgbClr val="535353"/>
                </a:solidFill>
                <a:latin typeface="Times New Roman"/>
                <a:ea typeface="Times New Roman"/>
                <a:cs typeface="Times New Roman"/>
              </a:defRPr>
            </a:lvl6pPr>
            <a:lvl7pPr algn="l">
              <a:defRPr sz="1400" b="0">
                <a:solidFill>
                  <a:srgbClr val="535353"/>
                </a:solidFill>
                <a:latin typeface="Times New Roman"/>
                <a:ea typeface="Times New Roman"/>
                <a:cs typeface="Times New Roman"/>
              </a:defRPr>
            </a:lvl7pPr>
            <a:lvl8pPr algn="l">
              <a:defRPr sz="1400" b="0">
                <a:solidFill>
                  <a:srgbClr val="535353"/>
                </a:solidFill>
                <a:latin typeface="Times New Roman"/>
                <a:ea typeface="Times New Roman"/>
                <a:cs typeface="Times New Roman"/>
              </a:defRPr>
            </a:lvl8pPr>
            <a:lvl9pPr algn="l">
              <a:defRPr sz="1400" b="0">
                <a:solidFill>
                  <a:srgbClr val="535353"/>
                </a:solidFill>
                <a:latin typeface="Times New Roman"/>
                <a:ea typeface="Times New Roman"/>
                <a:cs typeface="Times New Roman"/>
              </a:defRPr>
            </a:lvl9pPr>
          </a:lstStyle>
          <a:p xmlns:a="http://schemas.openxmlformats.org/drawingml/2006/main">
            <a:pPr algn="l">
              <a:defRPr sz="1400" b="0">
                <a:solidFill>
                  <a:srgbClr val="535353"/>
                </a:solidFill>
                <a:latin typeface="Times New Roman"/>
                <a:ea typeface="Times New Roman"/>
                <a:cs typeface="Times New Roman"/>
              </a:defRPr>
            </a:pPr>
            <a:r>
              <a:rPr sz="1400" b="0">
                <a:solidFill>
                  <a:srgbClr val="535353"/>
                </a:solidFill>
                <a:latin typeface="Times New Roman"/>
                <a:ea typeface="Times New Roman"/>
                <a:cs typeface="Times New Roman"/>
              </a:rPr>
              <a:t>Illustrative assumption combinations, not probability forecasts. Both upgrades have negative Downside NPV.</a:t>
            </a:r>
          </a:p>
        </p:txBody>
      </p:sp>
      <p:sp>
        <p:nvSpPr>
          <p:cNvPr id="3" name="slide-number">
            <a:extLst xmlns:a="http://schemas.openxmlformats.org/drawingml/2006/main">
              <a:ext uri="{FF2B5EF4-FFF2-40B4-BE49-F238E27FC236}">
                <a16:creationId xmlns:a16="http://schemas.microsoft.com/office/drawing/2014/main" id="{10A9CBCA-281D-4822-AA1B-85272F1BA072}"/>
              </a:ext>
            </a:extLst>
          </p:cNvPr>
          <p:cNvSpPr>
            <a:spLocks xmlns:a="http://schemas.openxmlformats.org/drawingml/2006/main" noGrp="1"/>
          </p:cNvSpPr>
          <p:nvPr/>
        </p:nvSpPr>
        <p:spPr>
          <a:xfrm xmlns:a="http://schemas.openxmlformats.org/drawingml/2006/main">
            <a:off x="11144250" y="63627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00" b="0">
                <a:solidFill>
                  <a:srgbClr val="535353"/>
                </a:solidFill>
                <a:latin typeface="Times New Roman"/>
                <a:ea typeface="Times New Roman"/>
                <a:cs typeface="Times New Roman"/>
              </a:defRPr>
            </a:defPPr>
            <a:lvl1pPr algn="r">
              <a:defRPr sz="1400" b="0">
                <a:solidFill>
                  <a:srgbClr val="535353"/>
                </a:solidFill>
                <a:latin typeface="Times New Roman"/>
                <a:ea typeface="Times New Roman"/>
                <a:cs typeface="Times New Roman"/>
              </a:defRPr>
            </a:lvl1pPr>
            <a:lvl2pPr algn="r">
              <a:defRPr sz="1400" b="0">
                <a:solidFill>
                  <a:srgbClr val="535353"/>
                </a:solidFill>
                <a:latin typeface="Times New Roman"/>
                <a:ea typeface="Times New Roman"/>
                <a:cs typeface="Times New Roman"/>
              </a:defRPr>
            </a:lvl2pPr>
            <a:lvl3pPr algn="r">
              <a:defRPr sz="1400" b="0">
                <a:solidFill>
                  <a:srgbClr val="535353"/>
                </a:solidFill>
                <a:latin typeface="Times New Roman"/>
                <a:ea typeface="Times New Roman"/>
                <a:cs typeface="Times New Roman"/>
              </a:defRPr>
            </a:lvl3pPr>
            <a:lvl4pPr algn="r">
              <a:defRPr sz="1400" b="0">
                <a:solidFill>
                  <a:srgbClr val="535353"/>
                </a:solidFill>
                <a:latin typeface="Times New Roman"/>
                <a:ea typeface="Times New Roman"/>
                <a:cs typeface="Times New Roman"/>
              </a:defRPr>
            </a:lvl4pPr>
            <a:lvl5pPr algn="r">
              <a:defRPr sz="1400" b="0">
                <a:solidFill>
                  <a:srgbClr val="535353"/>
                </a:solidFill>
                <a:latin typeface="Times New Roman"/>
                <a:ea typeface="Times New Roman"/>
                <a:cs typeface="Times New Roman"/>
              </a:defRPr>
            </a:lvl5pPr>
            <a:lvl6pPr algn="r">
              <a:defRPr sz="1400" b="0">
                <a:solidFill>
                  <a:srgbClr val="535353"/>
                </a:solidFill>
                <a:latin typeface="Times New Roman"/>
                <a:ea typeface="Times New Roman"/>
                <a:cs typeface="Times New Roman"/>
              </a:defRPr>
            </a:lvl6pPr>
            <a:lvl7pPr algn="r">
              <a:defRPr sz="1400" b="0">
                <a:solidFill>
                  <a:srgbClr val="535353"/>
                </a:solidFill>
                <a:latin typeface="Times New Roman"/>
                <a:ea typeface="Times New Roman"/>
                <a:cs typeface="Times New Roman"/>
              </a:defRPr>
            </a:lvl7pPr>
            <a:lvl8pPr algn="r">
              <a:defRPr sz="1400" b="0">
                <a:solidFill>
                  <a:srgbClr val="535353"/>
                </a:solidFill>
                <a:latin typeface="Times New Roman"/>
                <a:ea typeface="Times New Roman"/>
                <a:cs typeface="Times New Roman"/>
              </a:defRPr>
            </a:lvl8pPr>
            <a:lvl9pPr algn="r">
              <a:defRPr sz="1400" b="0">
                <a:solidFill>
                  <a:srgbClr val="535353"/>
                </a:solidFill>
                <a:latin typeface="Times New Roman"/>
                <a:ea typeface="Times New Roman"/>
                <a:cs typeface="Times New Roman"/>
              </a:defRPr>
            </a:lvl9pPr>
          </a:lstStyle>
          <a:p xmlns:a="http://schemas.openxmlformats.org/drawingml/2006/main">
            <a:pPr algn="r">
              <a:defRPr sz="1400" b="0">
                <a:solidFill>
                  <a:srgbClr val="535353"/>
                </a:solidFill>
                <a:latin typeface="Times New Roman"/>
                <a:ea typeface="Times New Roman"/>
                <a:cs typeface="Times New Roman"/>
              </a:defRPr>
            </a:pPr>
            <a:r>
              <a:rPr sz="1400" b="0">
                <a:solidFill>
                  <a:srgbClr val="535353"/>
                </a:solidFill>
                <a:latin typeface="Times New Roman"/>
                <a:ea typeface="Times New Roman"/>
                <a:cs typeface="Times New Roman"/>
              </a:rPr>
              <a:t>6 / 7</a:t>
            </a:r>
          </a:p>
        </p:txBody>
      </p:sp>
      <p:sp>
        <p:nvSpPr>
          <p:cNvPr id="4" name="scenario-heading">
            <a:extLst xmlns:a="http://schemas.openxmlformats.org/drawingml/2006/main">
              <a:ext uri="{FF2B5EF4-FFF2-40B4-BE49-F238E27FC236}">
                <a16:creationId xmlns:a16="http://schemas.microsoft.com/office/drawing/2014/main" id="{89A1C121-06E6-4993-A85F-11A25C1E5F7C}"/>
              </a:ext>
            </a:extLst>
          </p:cNvPr>
          <p:cNvSpPr>
            <a:spLocks xmlns:a="http://schemas.openxmlformats.org/drawingml/2006/main" noGrp="1"/>
          </p:cNvSpPr>
          <p:nvPr/>
        </p:nvSpPr>
        <p:spPr>
          <a:xfrm xmlns:a="http://schemas.openxmlformats.org/drawingml/2006/main">
            <a:off x="533400" y="1190625"/>
            <a:ext cx="6819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1">
                <a:solidFill>
                  <a:srgbClr val="222222"/>
                </a:solidFill>
                <a:latin typeface="Times New Roman"/>
                <a:ea typeface="Times New Roman"/>
                <a:cs typeface="Times New Roman"/>
              </a:defRPr>
            </a:defPPr>
            <a:lvl1pPr algn="l">
              <a:defRPr sz="2200" b="1">
                <a:solidFill>
                  <a:srgbClr val="222222"/>
                </a:solidFill>
                <a:latin typeface="Times New Roman"/>
                <a:ea typeface="Times New Roman"/>
                <a:cs typeface="Times New Roman"/>
              </a:defRPr>
            </a:lvl1pPr>
            <a:lvl2pPr algn="l">
              <a:defRPr sz="2200" b="1">
                <a:solidFill>
                  <a:srgbClr val="222222"/>
                </a:solidFill>
                <a:latin typeface="Times New Roman"/>
                <a:ea typeface="Times New Roman"/>
                <a:cs typeface="Times New Roman"/>
              </a:defRPr>
            </a:lvl2pPr>
            <a:lvl3pPr algn="l">
              <a:defRPr sz="2200" b="1">
                <a:solidFill>
                  <a:srgbClr val="222222"/>
                </a:solidFill>
                <a:latin typeface="Times New Roman"/>
                <a:ea typeface="Times New Roman"/>
                <a:cs typeface="Times New Roman"/>
              </a:defRPr>
            </a:lvl3pPr>
            <a:lvl4pPr algn="l">
              <a:defRPr sz="2200" b="1">
                <a:solidFill>
                  <a:srgbClr val="222222"/>
                </a:solidFill>
                <a:latin typeface="Times New Roman"/>
                <a:ea typeface="Times New Roman"/>
                <a:cs typeface="Times New Roman"/>
              </a:defRPr>
            </a:lvl4pPr>
            <a:lvl5pPr algn="l">
              <a:defRPr sz="2200" b="1">
                <a:solidFill>
                  <a:srgbClr val="222222"/>
                </a:solidFill>
                <a:latin typeface="Times New Roman"/>
                <a:ea typeface="Times New Roman"/>
                <a:cs typeface="Times New Roman"/>
              </a:defRPr>
            </a:lvl5pPr>
            <a:lvl6pPr algn="l">
              <a:defRPr sz="2200" b="1">
                <a:solidFill>
                  <a:srgbClr val="222222"/>
                </a:solidFill>
                <a:latin typeface="Times New Roman"/>
                <a:ea typeface="Times New Roman"/>
                <a:cs typeface="Times New Roman"/>
              </a:defRPr>
            </a:lvl6pPr>
            <a:lvl7pPr algn="l">
              <a:defRPr sz="2200" b="1">
                <a:solidFill>
                  <a:srgbClr val="222222"/>
                </a:solidFill>
                <a:latin typeface="Times New Roman"/>
                <a:ea typeface="Times New Roman"/>
                <a:cs typeface="Times New Roman"/>
              </a:defRPr>
            </a:lvl7pPr>
            <a:lvl8pPr algn="l">
              <a:defRPr sz="2200" b="1">
                <a:solidFill>
                  <a:srgbClr val="222222"/>
                </a:solidFill>
                <a:latin typeface="Times New Roman"/>
                <a:ea typeface="Times New Roman"/>
                <a:cs typeface="Times New Roman"/>
              </a:defRPr>
            </a:lvl8pPr>
            <a:lvl9pPr algn="l">
              <a:defRPr sz="2200" b="1">
                <a:solidFill>
                  <a:srgbClr val="222222"/>
                </a:solidFill>
                <a:latin typeface="Times New Roman"/>
                <a:ea typeface="Times New Roman"/>
                <a:cs typeface="Times New Roman"/>
              </a:defRPr>
            </a:lvl9pPr>
          </a:lstStyle>
          <a:p xmlns:a="http://schemas.openxmlformats.org/drawingml/2006/main">
            <a:pPr algn="l">
              <a:defRPr sz="2200" b="1">
                <a:solidFill>
                  <a:srgbClr val="222222"/>
                </a:solidFill>
                <a:latin typeface="Times New Roman"/>
                <a:ea typeface="Times New Roman"/>
                <a:cs typeface="Times New Roman"/>
              </a:defRPr>
            </a:pPr>
            <a:r>
              <a:rPr sz="2200" b="1">
                <a:solidFill>
                  <a:srgbClr val="222222"/>
                </a:solidFill>
                <a:latin typeface="Times New Roman"/>
                <a:ea typeface="Times New Roman"/>
                <a:cs typeface="Times New Roman"/>
              </a:rPr>
              <a:t>10-year NPV (USD millions)</a:t>
            </a:r>
          </a:p>
        </p:txBody>
      </p:sp>
      <p:graphicFrame>
        <p:nvGraphicFramePr>
          <p:cNvPr id="5" name="Chart">
            <a:extLst xmlns:a="http://schemas.openxmlformats.org/drawingml/2006/main">
              <a:ext uri="{FF2B5EF4-FFF2-40B4-BE49-F238E27FC236}">
                <a16:creationId xmlns:a16="http://schemas.microsoft.com/office/drawing/2014/main" id="{7A1916F0-3FBB-4CF4-8E0D-782778880C47}"/>
              </a:ext>
            </a:extLst>
          </p:cNvPr>
          <p:cNvGraphicFramePr/>
          <p:nvPr/>
        </p:nvGraphicFramePr>
        <p:xfrm>
          <a:off xmlns:a="http://schemas.openxmlformats.org/drawingml/2006/main" x="533400" y="1638300"/>
          <a:ext xmlns:a="http://schemas.openxmlformats.org/drawingml/2006/main" cx="6838950" cy="4238625"/>
        </p:xfrm>
        <a:graphic xmlns:a="http://schemas.openxmlformats.org/drawingml/2006/main">
          <a:graphicData uri="http://schemas.openxmlformats.org/drawingml/2006/chart">
            <c:chart xmlns:r="http://schemas.openxmlformats.org/officeDocument/2006/relationships" xmlns:c="http://schemas.openxmlformats.org/drawingml/2006/chart" r:id="Rf88aac7abc8b4bb2"/>
          </a:graphicData>
        </a:graphic>
      </p:graphicFrame>
      <p:sp>
        <p:nvSpPr>
          <p:cNvPr id="6" name="scenario-rate-caption">
            <a:extLst xmlns:a="http://schemas.openxmlformats.org/drawingml/2006/main">
              <a:ext uri="{FF2B5EF4-FFF2-40B4-BE49-F238E27FC236}">
                <a16:creationId xmlns:a16="http://schemas.microsoft.com/office/drawing/2014/main" id="{93FB071A-5387-43E9-AC75-03B44F83AB9B}"/>
              </a:ext>
            </a:extLst>
          </p:cNvPr>
          <p:cNvSpPr>
            <a:spLocks xmlns:a="http://schemas.openxmlformats.org/drawingml/2006/main" noGrp="1"/>
          </p:cNvSpPr>
          <p:nvPr/>
        </p:nvSpPr>
        <p:spPr>
          <a:xfrm xmlns:a="http://schemas.openxmlformats.org/drawingml/2006/main">
            <a:off x="533400" y="5924550"/>
            <a:ext cx="68389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35353"/>
                </a:solidFill>
                <a:latin typeface="Times New Roman"/>
                <a:ea typeface="Times New Roman"/>
                <a:cs typeface="Times New Roman"/>
              </a:defRPr>
            </a:defPPr>
            <a:lvl1pPr algn="l">
              <a:defRPr sz="1500" b="0">
                <a:solidFill>
                  <a:srgbClr val="535353"/>
                </a:solidFill>
                <a:latin typeface="Times New Roman"/>
                <a:ea typeface="Times New Roman"/>
                <a:cs typeface="Times New Roman"/>
              </a:defRPr>
            </a:lvl1pPr>
            <a:lvl2pPr algn="l">
              <a:defRPr sz="1500" b="0">
                <a:solidFill>
                  <a:srgbClr val="535353"/>
                </a:solidFill>
                <a:latin typeface="Times New Roman"/>
                <a:ea typeface="Times New Roman"/>
                <a:cs typeface="Times New Roman"/>
              </a:defRPr>
            </a:lvl2pPr>
            <a:lvl3pPr algn="l">
              <a:defRPr sz="1500" b="0">
                <a:solidFill>
                  <a:srgbClr val="535353"/>
                </a:solidFill>
                <a:latin typeface="Times New Roman"/>
                <a:ea typeface="Times New Roman"/>
                <a:cs typeface="Times New Roman"/>
              </a:defRPr>
            </a:lvl3pPr>
            <a:lvl4pPr algn="l">
              <a:defRPr sz="1500" b="0">
                <a:solidFill>
                  <a:srgbClr val="535353"/>
                </a:solidFill>
                <a:latin typeface="Times New Roman"/>
                <a:ea typeface="Times New Roman"/>
                <a:cs typeface="Times New Roman"/>
              </a:defRPr>
            </a:lvl4pPr>
            <a:lvl5pPr algn="l">
              <a:defRPr sz="1500" b="0">
                <a:solidFill>
                  <a:srgbClr val="535353"/>
                </a:solidFill>
                <a:latin typeface="Times New Roman"/>
                <a:ea typeface="Times New Roman"/>
                <a:cs typeface="Times New Roman"/>
              </a:defRPr>
            </a:lvl5pPr>
            <a:lvl6pPr algn="l">
              <a:defRPr sz="1500" b="0">
                <a:solidFill>
                  <a:srgbClr val="535353"/>
                </a:solidFill>
                <a:latin typeface="Times New Roman"/>
                <a:ea typeface="Times New Roman"/>
                <a:cs typeface="Times New Roman"/>
              </a:defRPr>
            </a:lvl6pPr>
            <a:lvl7pPr algn="l">
              <a:defRPr sz="1500" b="0">
                <a:solidFill>
                  <a:srgbClr val="535353"/>
                </a:solidFill>
                <a:latin typeface="Times New Roman"/>
                <a:ea typeface="Times New Roman"/>
                <a:cs typeface="Times New Roman"/>
              </a:defRPr>
            </a:lvl7pPr>
            <a:lvl8pPr algn="l">
              <a:defRPr sz="1500" b="0">
                <a:solidFill>
                  <a:srgbClr val="535353"/>
                </a:solidFill>
                <a:latin typeface="Times New Roman"/>
                <a:ea typeface="Times New Roman"/>
                <a:cs typeface="Times New Roman"/>
              </a:defRPr>
            </a:lvl8pPr>
            <a:lvl9pPr algn="l">
              <a:defRPr sz="1500" b="0">
                <a:solidFill>
                  <a:srgbClr val="535353"/>
                </a:solidFill>
                <a:latin typeface="Times New Roman"/>
                <a:ea typeface="Times New Roman"/>
                <a:cs typeface="Times New Roman"/>
              </a:defRPr>
            </a:lvl9pPr>
          </a:lstStyle>
          <a:p xmlns:a="http://schemas.openxmlformats.org/drawingml/2006/main">
            <a:pPr algn="l">
              <a:defRPr sz="1500" b="0">
                <a:solidFill>
                  <a:srgbClr val="535353"/>
                </a:solidFill>
                <a:latin typeface="Times New Roman"/>
                <a:ea typeface="Times New Roman"/>
                <a:cs typeface="Times New Roman"/>
              </a:defRPr>
            </a:pPr>
            <a:r>
              <a:rPr sz="1500" b="0">
                <a:solidFill>
                  <a:srgbClr val="535353"/>
                </a:solidFill>
                <a:latin typeface="Times New Roman"/>
                <a:ea typeface="Times New Roman"/>
                <a:cs typeface="Times New Roman"/>
              </a:rPr>
              <a:t>Percentages below scenario names are discount rates.</a:t>
            </a:r>
          </a:p>
        </p:txBody>
      </p:sp>
      <p:sp>
        <p:nvSpPr>
          <p:cNvPr id="7" name="risks-heading">
            <a:extLst xmlns:a="http://schemas.openxmlformats.org/drawingml/2006/main">
              <a:ext uri="{FF2B5EF4-FFF2-40B4-BE49-F238E27FC236}">
                <a16:creationId xmlns:a16="http://schemas.microsoft.com/office/drawing/2014/main" id="{16C2C57B-BAE4-420F-ACCB-39D3122EA926}"/>
              </a:ext>
            </a:extLst>
          </p:cNvPr>
          <p:cNvSpPr>
            <a:spLocks xmlns:a="http://schemas.openxmlformats.org/drawingml/2006/main" noGrp="1"/>
          </p:cNvSpPr>
          <p:nvPr/>
        </p:nvSpPr>
        <p:spPr>
          <a:xfrm xmlns:a="http://schemas.openxmlformats.org/drawingml/2006/main">
            <a:off x="7781925" y="1285875"/>
            <a:ext cx="38766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1">
                <a:solidFill>
                  <a:srgbClr val="222222"/>
                </a:solidFill>
                <a:latin typeface="Times New Roman"/>
                <a:ea typeface="Times New Roman"/>
                <a:cs typeface="Times New Roman"/>
              </a:defRPr>
            </a:defPPr>
            <a:lvl1pPr algn="l">
              <a:defRPr sz="2200" b="1">
                <a:solidFill>
                  <a:srgbClr val="222222"/>
                </a:solidFill>
                <a:latin typeface="Times New Roman"/>
                <a:ea typeface="Times New Roman"/>
                <a:cs typeface="Times New Roman"/>
              </a:defRPr>
            </a:lvl1pPr>
            <a:lvl2pPr algn="l">
              <a:defRPr sz="2200" b="1">
                <a:solidFill>
                  <a:srgbClr val="222222"/>
                </a:solidFill>
                <a:latin typeface="Times New Roman"/>
                <a:ea typeface="Times New Roman"/>
                <a:cs typeface="Times New Roman"/>
              </a:defRPr>
            </a:lvl2pPr>
            <a:lvl3pPr algn="l">
              <a:defRPr sz="2200" b="1">
                <a:solidFill>
                  <a:srgbClr val="222222"/>
                </a:solidFill>
                <a:latin typeface="Times New Roman"/>
                <a:ea typeface="Times New Roman"/>
                <a:cs typeface="Times New Roman"/>
              </a:defRPr>
            </a:lvl3pPr>
            <a:lvl4pPr algn="l">
              <a:defRPr sz="2200" b="1">
                <a:solidFill>
                  <a:srgbClr val="222222"/>
                </a:solidFill>
                <a:latin typeface="Times New Roman"/>
                <a:ea typeface="Times New Roman"/>
                <a:cs typeface="Times New Roman"/>
              </a:defRPr>
            </a:lvl4pPr>
            <a:lvl5pPr algn="l">
              <a:defRPr sz="2200" b="1">
                <a:solidFill>
                  <a:srgbClr val="222222"/>
                </a:solidFill>
                <a:latin typeface="Times New Roman"/>
                <a:ea typeface="Times New Roman"/>
                <a:cs typeface="Times New Roman"/>
              </a:defRPr>
            </a:lvl5pPr>
            <a:lvl6pPr algn="l">
              <a:defRPr sz="2200" b="1">
                <a:solidFill>
                  <a:srgbClr val="222222"/>
                </a:solidFill>
                <a:latin typeface="Times New Roman"/>
                <a:ea typeface="Times New Roman"/>
                <a:cs typeface="Times New Roman"/>
              </a:defRPr>
            </a:lvl6pPr>
            <a:lvl7pPr algn="l">
              <a:defRPr sz="2200" b="1">
                <a:solidFill>
                  <a:srgbClr val="222222"/>
                </a:solidFill>
                <a:latin typeface="Times New Roman"/>
                <a:ea typeface="Times New Roman"/>
                <a:cs typeface="Times New Roman"/>
              </a:defRPr>
            </a:lvl7pPr>
            <a:lvl8pPr algn="l">
              <a:defRPr sz="2200" b="1">
                <a:solidFill>
                  <a:srgbClr val="222222"/>
                </a:solidFill>
                <a:latin typeface="Times New Roman"/>
                <a:ea typeface="Times New Roman"/>
                <a:cs typeface="Times New Roman"/>
              </a:defRPr>
            </a:lvl8pPr>
            <a:lvl9pPr algn="l">
              <a:defRPr sz="2200" b="1">
                <a:solidFill>
                  <a:srgbClr val="222222"/>
                </a:solidFill>
                <a:latin typeface="Times New Roman"/>
                <a:ea typeface="Times New Roman"/>
                <a:cs typeface="Times New Roman"/>
              </a:defRPr>
            </a:lvl9pPr>
          </a:lstStyle>
          <a:p xmlns:a="http://schemas.openxmlformats.org/drawingml/2006/main">
            <a:pPr algn="l">
              <a:defRPr sz="2200" b="1">
                <a:solidFill>
                  <a:srgbClr val="222222"/>
                </a:solidFill>
                <a:latin typeface="Times New Roman"/>
                <a:ea typeface="Times New Roman"/>
                <a:cs typeface="Times New Roman"/>
              </a:defRPr>
            </a:pPr>
            <a:r>
              <a:rPr sz="2200" b="1">
                <a:solidFill>
                  <a:srgbClr val="222222"/>
                </a:solidFill>
                <a:latin typeface="Times New Roman"/>
                <a:ea typeface="Times New Roman"/>
                <a:cs typeface="Times New Roman"/>
              </a:rPr>
              <a:t>Assumptions that need evidence</a:t>
            </a:r>
          </a:p>
        </p:txBody>
      </p:sp>
      <p:sp>
        <p:nvSpPr>
          <p:cNvPr id="8" name="risk-list">
            <a:extLst xmlns:a="http://schemas.openxmlformats.org/drawingml/2006/main">
              <a:ext uri="{FF2B5EF4-FFF2-40B4-BE49-F238E27FC236}">
                <a16:creationId xmlns:a16="http://schemas.microsoft.com/office/drawing/2014/main" id="{A5D2CB02-8CB1-4E85-AC7F-0AB547ED9252}"/>
              </a:ext>
            </a:extLst>
          </p:cNvPr>
          <p:cNvSpPr>
            <a:spLocks xmlns:a="http://schemas.openxmlformats.org/drawingml/2006/main" noGrp="1"/>
          </p:cNvSpPr>
          <p:nvPr/>
        </p:nvSpPr>
        <p:spPr>
          <a:xfrm xmlns:a="http://schemas.openxmlformats.org/drawingml/2006/main">
            <a:off x="7781925" y="2143125"/>
            <a:ext cx="3876675" cy="2914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222222"/>
                </a:solidFill>
                <a:latin typeface="Times New Roman"/>
                <a:ea typeface="Times New Roman"/>
                <a:cs typeface="Times New Roman"/>
              </a:defRPr>
            </a:defPPr>
            <a:lvl1pPr algn="l">
              <a:defRPr sz="2100" b="0">
                <a:solidFill>
                  <a:srgbClr val="222222"/>
                </a:solidFill>
                <a:latin typeface="Times New Roman"/>
                <a:ea typeface="Times New Roman"/>
                <a:cs typeface="Times New Roman"/>
              </a:defRPr>
            </a:lvl1pPr>
            <a:lvl2pPr algn="l">
              <a:defRPr sz="2100" b="0">
                <a:solidFill>
                  <a:srgbClr val="222222"/>
                </a:solidFill>
                <a:latin typeface="Times New Roman"/>
                <a:ea typeface="Times New Roman"/>
                <a:cs typeface="Times New Roman"/>
              </a:defRPr>
            </a:lvl2pPr>
            <a:lvl3pPr algn="l">
              <a:defRPr sz="2100" b="0">
                <a:solidFill>
                  <a:srgbClr val="222222"/>
                </a:solidFill>
                <a:latin typeface="Times New Roman"/>
                <a:ea typeface="Times New Roman"/>
                <a:cs typeface="Times New Roman"/>
              </a:defRPr>
            </a:lvl3pPr>
            <a:lvl4pPr algn="l">
              <a:defRPr sz="2100" b="0">
                <a:solidFill>
                  <a:srgbClr val="222222"/>
                </a:solidFill>
                <a:latin typeface="Times New Roman"/>
                <a:ea typeface="Times New Roman"/>
                <a:cs typeface="Times New Roman"/>
              </a:defRPr>
            </a:lvl4pPr>
            <a:lvl5pPr algn="l">
              <a:defRPr sz="2100" b="0">
                <a:solidFill>
                  <a:srgbClr val="222222"/>
                </a:solidFill>
                <a:latin typeface="Times New Roman"/>
                <a:ea typeface="Times New Roman"/>
                <a:cs typeface="Times New Roman"/>
              </a:defRPr>
            </a:lvl5pPr>
            <a:lvl6pPr algn="l">
              <a:defRPr sz="2100" b="0">
                <a:solidFill>
                  <a:srgbClr val="222222"/>
                </a:solidFill>
                <a:latin typeface="Times New Roman"/>
                <a:ea typeface="Times New Roman"/>
                <a:cs typeface="Times New Roman"/>
              </a:defRPr>
            </a:lvl6pPr>
            <a:lvl7pPr algn="l">
              <a:defRPr sz="2100" b="0">
                <a:solidFill>
                  <a:srgbClr val="222222"/>
                </a:solidFill>
                <a:latin typeface="Times New Roman"/>
                <a:ea typeface="Times New Roman"/>
                <a:cs typeface="Times New Roman"/>
              </a:defRPr>
            </a:lvl7pPr>
            <a:lvl8pPr algn="l">
              <a:defRPr sz="2100" b="0">
                <a:solidFill>
                  <a:srgbClr val="222222"/>
                </a:solidFill>
                <a:latin typeface="Times New Roman"/>
                <a:ea typeface="Times New Roman"/>
                <a:cs typeface="Times New Roman"/>
              </a:defRPr>
            </a:lvl8pPr>
            <a:lvl9pPr algn="l">
              <a:defRPr sz="2100" b="0">
                <a:solidFill>
                  <a:srgbClr val="222222"/>
                </a:solidFill>
                <a:latin typeface="Times New Roman"/>
                <a:ea typeface="Times New Roman"/>
                <a:cs typeface="Times New Roman"/>
              </a:defRPr>
            </a:lvl9pPr>
          </a:lstStyle>
          <a:p xmlns:a="http://schemas.openxmlformats.org/drawingml/2006/main">
            <a:pPr marL="203200" indent="-114300" algn="l">
              <a:spcAft>
                <a:spcPts val="1300"/>
              </a:spcAft>
              <a:buChar char="•"/>
              <a:defRPr sz="2100" b="0">
                <a:solidFill>
                  <a:srgbClr val="222222"/>
                </a:solidFill>
                <a:latin typeface="Times New Roman"/>
                <a:ea typeface="Times New Roman"/>
                <a:cs typeface="Times New Roman"/>
              </a:defRPr>
            </a:pPr>
            <a:r>
              <a:t>Installed cost and scope</a:t>
            </a:r>
          </a:p>
          <a:p xmlns:a="http://schemas.openxmlformats.org/drawingml/2006/main">
            <a:pPr marL="203200" indent="-114300" algn="l">
              <a:spcAft>
                <a:spcPts val="1300"/>
              </a:spcAft>
              <a:buChar char="•"/>
              <a:defRPr sz="2100" b="0">
                <a:solidFill>
                  <a:srgbClr val="222222"/>
                </a:solidFill>
                <a:latin typeface="Times New Roman"/>
                <a:ea typeface="Times New Roman"/>
                <a:cs typeface="Times New Roman"/>
              </a:defRPr>
            </a:pPr>
            <a:r>
              <a:t>Achieved energy savings</a:t>
            </a:r>
          </a:p>
          <a:p xmlns:a="http://schemas.openxmlformats.org/drawingml/2006/main">
            <a:pPr marL="203200" indent="-114300" algn="l">
              <a:spcAft>
                <a:spcPts val="1300"/>
              </a:spcAft>
              <a:buChar char="•"/>
              <a:defRPr sz="2100" b="0">
                <a:solidFill>
                  <a:srgbClr val="222222"/>
                </a:solidFill>
                <a:latin typeface="Times New Roman"/>
                <a:ea typeface="Times New Roman"/>
                <a:cs typeface="Times New Roman"/>
              </a:defRPr>
            </a:pPr>
            <a:r>
              <a:t>Maintenance and future repairs</a:t>
            </a:r>
          </a:p>
          <a:p xmlns:a="http://schemas.openxmlformats.org/drawingml/2006/main">
            <a:pPr marL="203200" indent="-114300" algn="l">
              <a:spcAft>
                <a:spcPts val="1300"/>
              </a:spcAft>
              <a:buChar char="•"/>
              <a:defRPr sz="2100" b="0">
                <a:solidFill>
                  <a:srgbClr val="222222"/>
                </a:solidFill>
                <a:latin typeface="Times New Roman"/>
                <a:ea typeface="Times New Roman"/>
                <a:cs typeface="Times New Roman"/>
              </a:defRPr>
            </a:pPr>
            <a:r>
              <a:t>Electricity prices and owner savings</a:t>
            </a:r>
          </a:p>
          <a:p xmlns:a="http://schemas.openxmlformats.org/drawingml/2006/main">
            <a:pPr marL="203200" indent="-114300" algn="l">
              <a:spcAft>
                <a:spcPts val="1300"/>
              </a:spcAft>
              <a:buChar char="•"/>
              <a:defRPr sz="2100" b="0">
                <a:solidFill>
                  <a:srgbClr val="222222"/>
                </a:solidFill>
                <a:latin typeface="Times New Roman"/>
                <a:ea typeface="Times New Roman"/>
                <a:cs typeface="Times New Roman"/>
              </a:defRPr>
            </a:pPr>
            <a:r>
              <a:t>Tax treatment</a:t>
            </a:r>
          </a:p>
        </p:txBody>
      </p:sp>
      <p:sp>
        <p:nvSpPr>
          <p:cNvPr id="9" name="margin">
            <a:extLst xmlns:a="http://schemas.openxmlformats.org/drawingml/2006/main">
              <a:ext uri="{FF2B5EF4-FFF2-40B4-BE49-F238E27FC236}">
                <a16:creationId xmlns:a16="http://schemas.microsoft.com/office/drawing/2014/main" id="{A3981FBE-9549-486A-AB2B-15F2F49009A4}"/>
              </a:ext>
            </a:extLst>
          </p:cNvPr>
          <p:cNvSpPr>
            <a:spLocks xmlns:a="http://schemas.openxmlformats.org/drawingml/2006/main" noGrp="1"/>
          </p:cNvSpPr>
          <p:nvPr/>
        </p:nvSpPr>
        <p:spPr>
          <a:xfrm xmlns:a="http://schemas.openxmlformats.org/drawingml/2006/main">
            <a:off x="7781925" y="5229225"/>
            <a:ext cx="38766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a:solidFill>
                  <a:srgbClr val="222222"/>
                </a:solidFill>
                <a:latin typeface="Times New Roman"/>
                <a:ea typeface="Times New Roman"/>
                <a:cs typeface="Times New Roman"/>
              </a:defRPr>
            </a:defPPr>
            <a:lvl1pPr algn="l">
              <a:defRPr sz="2000" b="1">
                <a:solidFill>
                  <a:srgbClr val="222222"/>
                </a:solidFill>
                <a:latin typeface="Times New Roman"/>
                <a:ea typeface="Times New Roman"/>
                <a:cs typeface="Times New Roman"/>
              </a:defRPr>
            </a:lvl1pPr>
            <a:lvl2pPr algn="l">
              <a:defRPr sz="2000" b="1">
                <a:solidFill>
                  <a:srgbClr val="222222"/>
                </a:solidFill>
                <a:latin typeface="Times New Roman"/>
                <a:ea typeface="Times New Roman"/>
                <a:cs typeface="Times New Roman"/>
              </a:defRPr>
            </a:lvl2pPr>
            <a:lvl3pPr algn="l">
              <a:defRPr sz="2000" b="1">
                <a:solidFill>
                  <a:srgbClr val="222222"/>
                </a:solidFill>
                <a:latin typeface="Times New Roman"/>
                <a:ea typeface="Times New Roman"/>
                <a:cs typeface="Times New Roman"/>
              </a:defRPr>
            </a:lvl3pPr>
            <a:lvl4pPr algn="l">
              <a:defRPr sz="2000" b="1">
                <a:solidFill>
                  <a:srgbClr val="222222"/>
                </a:solidFill>
                <a:latin typeface="Times New Roman"/>
                <a:ea typeface="Times New Roman"/>
                <a:cs typeface="Times New Roman"/>
              </a:defRPr>
            </a:lvl4pPr>
            <a:lvl5pPr algn="l">
              <a:defRPr sz="2000" b="1">
                <a:solidFill>
                  <a:srgbClr val="222222"/>
                </a:solidFill>
                <a:latin typeface="Times New Roman"/>
                <a:ea typeface="Times New Roman"/>
                <a:cs typeface="Times New Roman"/>
              </a:defRPr>
            </a:lvl5pPr>
            <a:lvl6pPr algn="l">
              <a:defRPr sz="2000" b="1">
                <a:solidFill>
                  <a:srgbClr val="222222"/>
                </a:solidFill>
                <a:latin typeface="Times New Roman"/>
                <a:ea typeface="Times New Roman"/>
                <a:cs typeface="Times New Roman"/>
              </a:defRPr>
            </a:lvl6pPr>
            <a:lvl7pPr algn="l">
              <a:defRPr sz="2000" b="1">
                <a:solidFill>
                  <a:srgbClr val="222222"/>
                </a:solidFill>
                <a:latin typeface="Times New Roman"/>
                <a:ea typeface="Times New Roman"/>
                <a:cs typeface="Times New Roman"/>
              </a:defRPr>
            </a:lvl7pPr>
            <a:lvl8pPr algn="l">
              <a:defRPr sz="2000" b="1">
                <a:solidFill>
                  <a:srgbClr val="222222"/>
                </a:solidFill>
                <a:latin typeface="Times New Roman"/>
                <a:ea typeface="Times New Roman"/>
                <a:cs typeface="Times New Roman"/>
              </a:defRPr>
            </a:lvl8pPr>
            <a:lvl9pPr algn="l">
              <a:defRPr sz="2000" b="1">
                <a:solidFill>
                  <a:srgbClr val="222222"/>
                </a:solidFill>
                <a:latin typeface="Times New Roman"/>
                <a:ea typeface="Times New Roman"/>
                <a:cs typeface="Times New Roman"/>
              </a:defRPr>
            </a:lvl9pPr>
          </a:lstStyle>
          <a:p xmlns:a="http://schemas.openxmlformats.org/drawingml/2006/main">
            <a:pPr algn="l">
              <a:defRPr sz="2000" b="1">
                <a:solidFill>
                  <a:srgbClr val="222222"/>
                </a:solidFill>
                <a:latin typeface="Times New Roman"/>
                <a:ea typeface="Times New Roman"/>
                <a:cs typeface="Times New Roman"/>
              </a:defRPr>
            </a:pPr>
            <a:r>
              <a:rPr sz="2000" b="1">
                <a:solidFill>
                  <a:srgbClr val="222222"/>
                </a:solidFill>
                <a:latin typeface="Times New Roman"/>
                <a:ea typeface="Times New Roman"/>
                <a:cs typeface="Times New Roman"/>
              </a:rPr>
              <a:t>C loses its positive base NPV with about 4.32% higher initial cost, other inputs fixed.</a:t>
            </a:r>
          </a:p>
        </p:txBody>
      </p:sp>
    </p:spTree>
    <p:extLst>
      <p:ext uri="{BB962C8B-B14F-4D97-AF65-F5344CB8AC3E}">
        <p14:creationId xmlns:p14="http://schemas.microsoft.com/office/powerpoint/2010/main" val="11902399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625E1E9F-48F7-41FD-985E-2BCB8364F98D}"/>
              </a:ext>
            </a:extLst>
          </p:cNvPr>
          <p:cNvSpPr>
            <a:spLocks xmlns:a="http://schemas.openxmlformats.org/drawingml/2006/main" noGrp="1"/>
          </p:cNvSpPr>
          <p:nvPr/>
        </p:nvSpPr>
        <p:spPr>
          <a:xfrm xmlns:a="http://schemas.openxmlformats.org/drawingml/2006/main">
            <a:off x="533400" y="30480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00" b="1">
                <a:solidFill>
                  <a:srgbClr val="222222"/>
                </a:solidFill>
                <a:latin typeface="Times New Roman"/>
                <a:ea typeface="Times New Roman"/>
                <a:cs typeface="Times New Roman"/>
              </a:defRPr>
            </a:defPPr>
            <a:lvl1pPr algn="l">
              <a:defRPr sz="3200" b="1">
                <a:solidFill>
                  <a:srgbClr val="222222"/>
                </a:solidFill>
                <a:latin typeface="Times New Roman"/>
                <a:ea typeface="Times New Roman"/>
                <a:cs typeface="Times New Roman"/>
              </a:defRPr>
            </a:lvl1pPr>
            <a:lvl2pPr algn="l">
              <a:defRPr sz="3200" b="1">
                <a:solidFill>
                  <a:srgbClr val="222222"/>
                </a:solidFill>
                <a:latin typeface="Times New Roman"/>
                <a:ea typeface="Times New Roman"/>
                <a:cs typeface="Times New Roman"/>
              </a:defRPr>
            </a:lvl2pPr>
            <a:lvl3pPr algn="l">
              <a:defRPr sz="3200" b="1">
                <a:solidFill>
                  <a:srgbClr val="222222"/>
                </a:solidFill>
                <a:latin typeface="Times New Roman"/>
                <a:ea typeface="Times New Roman"/>
                <a:cs typeface="Times New Roman"/>
              </a:defRPr>
            </a:lvl3pPr>
            <a:lvl4pPr algn="l">
              <a:defRPr sz="3200" b="1">
                <a:solidFill>
                  <a:srgbClr val="222222"/>
                </a:solidFill>
                <a:latin typeface="Times New Roman"/>
                <a:ea typeface="Times New Roman"/>
                <a:cs typeface="Times New Roman"/>
              </a:defRPr>
            </a:lvl4pPr>
            <a:lvl5pPr algn="l">
              <a:defRPr sz="3200" b="1">
                <a:solidFill>
                  <a:srgbClr val="222222"/>
                </a:solidFill>
                <a:latin typeface="Times New Roman"/>
                <a:ea typeface="Times New Roman"/>
                <a:cs typeface="Times New Roman"/>
              </a:defRPr>
            </a:lvl5pPr>
            <a:lvl6pPr algn="l">
              <a:defRPr sz="3200" b="1">
                <a:solidFill>
                  <a:srgbClr val="222222"/>
                </a:solidFill>
                <a:latin typeface="Times New Roman"/>
                <a:ea typeface="Times New Roman"/>
                <a:cs typeface="Times New Roman"/>
              </a:defRPr>
            </a:lvl6pPr>
            <a:lvl7pPr algn="l">
              <a:defRPr sz="3200" b="1">
                <a:solidFill>
                  <a:srgbClr val="222222"/>
                </a:solidFill>
                <a:latin typeface="Times New Roman"/>
                <a:ea typeface="Times New Roman"/>
                <a:cs typeface="Times New Roman"/>
              </a:defRPr>
            </a:lvl7pPr>
            <a:lvl8pPr algn="l">
              <a:defRPr sz="3200" b="1">
                <a:solidFill>
                  <a:srgbClr val="222222"/>
                </a:solidFill>
                <a:latin typeface="Times New Roman"/>
                <a:ea typeface="Times New Roman"/>
                <a:cs typeface="Times New Roman"/>
              </a:defRPr>
            </a:lvl8pPr>
            <a:lvl9pPr algn="l">
              <a:defRPr sz="3200" b="1">
                <a:solidFill>
                  <a:srgbClr val="222222"/>
                </a:solidFill>
                <a:latin typeface="Times New Roman"/>
                <a:ea typeface="Times New Roman"/>
                <a:cs typeface="Times New Roman"/>
              </a:defRPr>
            </a:lvl9pPr>
          </a:lstStyle>
          <a:p xmlns:a="http://schemas.openxmlformats.org/drawingml/2006/main">
            <a:pPr algn="l">
              <a:defRPr sz="3200" b="1">
                <a:solidFill>
                  <a:srgbClr val="222222"/>
                </a:solidFill>
                <a:latin typeface="Times New Roman"/>
                <a:ea typeface="Times New Roman"/>
                <a:cs typeface="Times New Roman"/>
              </a:defRPr>
            </a:pPr>
            <a:r>
              <a:rPr sz="3200" b="1">
                <a:solidFill>
                  <a:srgbClr val="222222"/>
                </a:solidFill>
                <a:latin typeface="Times New Roman"/>
                <a:ea typeface="Times New Roman"/>
                <a:cs typeface="Times New Roman"/>
              </a:rPr>
              <a:t>Final recommendation and conclusion</a:t>
            </a:r>
          </a:p>
        </p:txBody>
      </p:sp>
      <p:sp>
        <p:nvSpPr>
          <p:cNvPr id="2" name="footnote">
            <a:extLst xmlns:a="http://schemas.openxmlformats.org/drawingml/2006/main">
              <a:ext uri="{FF2B5EF4-FFF2-40B4-BE49-F238E27FC236}">
                <a16:creationId xmlns:a16="http://schemas.microsoft.com/office/drawing/2014/main" id="{AE4DABDE-8696-4E59-9036-F17FB8CBAAA6}"/>
              </a:ext>
            </a:extLst>
          </p:cNvPr>
          <p:cNvSpPr>
            <a:spLocks xmlns:a="http://schemas.openxmlformats.org/drawingml/2006/main" noGrp="1"/>
          </p:cNvSpPr>
          <p:nvPr/>
        </p:nvSpPr>
        <p:spPr>
          <a:xfrm xmlns:a="http://schemas.openxmlformats.org/drawingml/2006/main">
            <a:off x="533400" y="6305550"/>
            <a:ext cx="10572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0">
                <a:solidFill>
                  <a:srgbClr val="535353"/>
                </a:solidFill>
                <a:latin typeface="Times New Roman"/>
                <a:ea typeface="Times New Roman"/>
                <a:cs typeface="Times New Roman"/>
              </a:defRPr>
            </a:defPPr>
            <a:lvl1pPr algn="l">
              <a:defRPr sz="1400" b="0">
                <a:solidFill>
                  <a:srgbClr val="535353"/>
                </a:solidFill>
                <a:latin typeface="Times New Roman"/>
                <a:ea typeface="Times New Roman"/>
                <a:cs typeface="Times New Roman"/>
              </a:defRPr>
            </a:lvl1pPr>
            <a:lvl2pPr algn="l">
              <a:defRPr sz="1400" b="0">
                <a:solidFill>
                  <a:srgbClr val="535353"/>
                </a:solidFill>
                <a:latin typeface="Times New Roman"/>
                <a:ea typeface="Times New Roman"/>
                <a:cs typeface="Times New Roman"/>
              </a:defRPr>
            </a:lvl2pPr>
            <a:lvl3pPr algn="l">
              <a:defRPr sz="1400" b="0">
                <a:solidFill>
                  <a:srgbClr val="535353"/>
                </a:solidFill>
                <a:latin typeface="Times New Roman"/>
                <a:ea typeface="Times New Roman"/>
                <a:cs typeface="Times New Roman"/>
              </a:defRPr>
            </a:lvl3pPr>
            <a:lvl4pPr algn="l">
              <a:defRPr sz="1400" b="0">
                <a:solidFill>
                  <a:srgbClr val="535353"/>
                </a:solidFill>
                <a:latin typeface="Times New Roman"/>
                <a:ea typeface="Times New Roman"/>
                <a:cs typeface="Times New Roman"/>
              </a:defRPr>
            </a:lvl4pPr>
            <a:lvl5pPr algn="l">
              <a:defRPr sz="1400" b="0">
                <a:solidFill>
                  <a:srgbClr val="535353"/>
                </a:solidFill>
                <a:latin typeface="Times New Roman"/>
                <a:ea typeface="Times New Roman"/>
                <a:cs typeface="Times New Roman"/>
              </a:defRPr>
            </a:lvl5pPr>
            <a:lvl6pPr algn="l">
              <a:defRPr sz="1400" b="0">
                <a:solidFill>
                  <a:srgbClr val="535353"/>
                </a:solidFill>
                <a:latin typeface="Times New Roman"/>
                <a:ea typeface="Times New Roman"/>
                <a:cs typeface="Times New Roman"/>
              </a:defRPr>
            </a:lvl6pPr>
            <a:lvl7pPr algn="l">
              <a:defRPr sz="1400" b="0">
                <a:solidFill>
                  <a:srgbClr val="535353"/>
                </a:solidFill>
                <a:latin typeface="Times New Roman"/>
                <a:ea typeface="Times New Roman"/>
                <a:cs typeface="Times New Roman"/>
              </a:defRPr>
            </a:lvl7pPr>
            <a:lvl8pPr algn="l">
              <a:defRPr sz="1400" b="0">
                <a:solidFill>
                  <a:srgbClr val="535353"/>
                </a:solidFill>
                <a:latin typeface="Times New Roman"/>
                <a:ea typeface="Times New Roman"/>
                <a:cs typeface="Times New Roman"/>
              </a:defRPr>
            </a:lvl8pPr>
            <a:lvl9pPr algn="l">
              <a:defRPr sz="1400" b="0">
                <a:solidFill>
                  <a:srgbClr val="535353"/>
                </a:solidFill>
                <a:latin typeface="Times New Roman"/>
                <a:ea typeface="Times New Roman"/>
                <a:cs typeface="Times New Roman"/>
              </a:defRPr>
            </a:lvl9pPr>
          </a:lstStyle>
          <a:p xmlns:a="http://schemas.openxmlformats.org/drawingml/2006/main">
            <a:pPr algn="l">
              <a:defRPr sz="1400" b="0">
                <a:solidFill>
                  <a:srgbClr val="535353"/>
                </a:solidFill>
                <a:latin typeface="Times New Roman"/>
                <a:ea typeface="Times New Roman"/>
                <a:cs typeface="Times New Roman"/>
              </a:defRPr>
            </a:pPr>
            <a:r>
              <a:rPr sz="1400" b="0">
                <a:solidFill>
                  <a:srgbClr val="535353"/>
                </a:solidFill>
                <a:latin typeface="Times New Roman"/>
                <a:ea typeface="Times New Roman"/>
                <a:cs typeface="Times New Roman"/>
              </a:rPr>
              <a:t>Independent student analysis. The findings support further investigation, not unconditional investment approval.</a:t>
            </a:r>
          </a:p>
        </p:txBody>
      </p:sp>
      <p:sp>
        <p:nvSpPr>
          <p:cNvPr id="3" name="slide-number">
            <a:extLst xmlns:a="http://schemas.openxmlformats.org/drawingml/2006/main">
              <a:ext uri="{FF2B5EF4-FFF2-40B4-BE49-F238E27FC236}">
                <a16:creationId xmlns:a16="http://schemas.microsoft.com/office/drawing/2014/main" id="{923D13B5-400A-4AB4-993A-4518AA3902C4}"/>
              </a:ext>
            </a:extLst>
          </p:cNvPr>
          <p:cNvSpPr>
            <a:spLocks xmlns:a="http://schemas.openxmlformats.org/drawingml/2006/main" noGrp="1"/>
          </p:cNvSpPr>
          <p:nvPr/>
        </p:nvSpPr>
        <p:spPr>
          <a:xfrm xmlns:a="http://schemas.openxmlformats.org/drawingml/2006/main">
            <a:off x="11144250" y="63627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00" b="0">
                <a:solidFill>
                  <a:srgbClr val="535353"/>
                </a:solidFill>
                <a:latin typeface="Times New Roman"/>
                <a:ea typeface="Times New Roman"/>
                <a:cs typeface="Times New Roman"/>
              </a:defRPr>
            </a:defPPr>
            <a:lvl1pPr algn="r">
              <a:defRPr sz="1400" b="0">
                <a:solidFill>
                  <a:srgbClr val="535353"/>
                </a:solidFill>
                <a:latin typeface="Times New Roman"/>
                <a:ea typeface="Times New Roman"/>
                <a:cs typeface="Times New Roman"/>
              </a:defRPr>
            </a:lvl1pPr>
            <a:lvl2pPr algn="r">
              <a:defRPr sz="1400" b="0">
                <a:solidFill>
                  <a:srgbClr val="535353"/>
                </a:solidFill>
                <a:latin typeface="Times New Roman"/>
                <a:ea typeface="Times New Roman"/>
                <a:cs typeface="Times New Roman"/>
              </a:defRPr>
            </a:lvl2pPr>
            <a:lvl3pPr algn="r">
              <a:defRPr sz="1400" b="0">
                <a:solidFill>
                  <a:srgbClr val="535353"/>
                </a:solidFill>
                <a:latin typeface="Times New Roman"/>
                <a:ea typeface="Times New Roman"/>
                <a:cs typeface="Times New Roman"/>
              </a:defRPr>
            </a:lvl3pPr>
            <a:lvl4pPr algn="r">
              <a:defRPr sz="1400" b="0">
                <a:solidFill>
                  <a:srgbClr val="535353"/>
                </a:solidFill>
                <a:latin typeface="Times New Roman"/>
                <a:ea typeface="Times New Roman"/>
                <a:cs typeface="Times New Roman"/>
              </a:defRPr>
            </a:lvl4pPr>
            <a:lvl5pPr algn="r">
              <a:defRPr sz="1400" b="0">
                <a:solidFill>
                  <a:srgbClr val="535353"/>
                </a:solidFill>
                <a:latin typeface="Times New Roman"/>
                <a:ea typeface="Times New Roman"/>
                <a:cs typeface="Times New Roman"/>
              </a:defRPr>
            </a:lvl5pPr>
            <a:lvl6pPr algn="r">
              <a:defRPr sz="1400" b="0">
                <a:solidFill>
                  <a:srgbClr val="535353"/>
                </a:solidFill>
                <a:latin typeface="Times New Roman"/>
                <a:ea typeface="Times New Roman"/>
                <a:cs typeface="Times New Roman"/>
              </a:defRPr>
            </a:lvl6pPr>
            <a:lvl7pPr algn="r">
              <a:defRPr sz="1400" b="0">
                <a:solidFill>
                  <a:srgbClr val="535353"/>
                </a:solidFill>
                <a:latin typeface="Times New Roman"/>
                <a:ea typeface="Times New Roman"/>
                <a:cs typeface="Times New Roman"/>
              </a:defRPr>
            </a:lvl7pPr>
            <a:lvl8pPr algn="r">
              <a:defRPr sz="1400" b="0">
                <a:solidFill>
                  <a:srgbClr val="535353"/>
                </a:solidFill>
                <a:latin typeface="Times New Roman"/>
                <a:ea typeface="Times New Roman"/>
                <a:cs typeface="Times New Roman"/>
              </a:defRPr>
            </a:lvl8pPr>
            <a:lvl9pPr algn="r">
              <a:defRPr sz="1400" b="0">
                <a:solidFill>
                  <a:srgbClr val="535353"/>
                </a:solidFill>
                <a:latin typeface="Times New Roman"/>
                <a:ea typeface="Times New Roman"/>
                <a:cs typeface="Times New Roman"/>
              </a:defRPr>
            </a:lvl9pPr>
          </a:lstStyle>
          <a:p xmlns:a="http://schemas.openxmlformats.org/drawingml/2006/main">
            <a:pPr algn="r">
              <a:defRPr sz="1400" b="0">
                <a:solidFill>
                  <a:srgbClr val="535353"/>
                </a:solidFill>
                <a:latin typeface="Times New Roman"/>
                <a:ea typeface="Times New Roman"/>
                <a:cs typeface="Times New Roman"/>
              </a:defRPr>
            </a:pPr>
            <a:r>
              <a:rPr sz="1400" b="0">
                <a:solidFill>
                  <a:srgbClr val="535353"/>
                </a:solidFill>
                <a:latin typeface="Times New Roman"/>
                <a:ea typeface="Times New Roman"/>
                <a:cs typeface="Times New Roman"/>
              </a:rPr>
              <a:t>7 / 7</a:t>
            </a:r>
          </a:p>
        </p:txBody>
      </p:sp>
      <p:sp>
        <p:nvSpPr>
          <p:cNvPr id="4" name="decision">
            <a:extLst xmlns:a="http://schemas.openxmlformats.org/drawingml/2006/main">
              <a:ext uri="{FF2B5EF4-FFF2-40B4-BE49-F238E27FC236}">
                <a16:creationId xmlns:a16="http://schemas.microsoft.com/office/drawing/2014/main" id="{0F4C1E53-047B-4A17-A228-083CDE33116B}"/>
              </a:ext>
            </a:extLst>
          </p:cNvPr>
          <p:cNvSpPr>
            <a:spLocks xmlns:a="http://schemas.openxmlformats.org/drawingml/2006/main" noGrp="1"/>
          </p:cNvSpPr>
          <p:nvPr/>
        </p:nvSpPr>
        <p:spPr>
          <a:xfrm xmlns:a="http://schemas.openxmlformats.org/drawingml/2006/main">
            <a:off x="533400" y="1257300"/>
            <a:ext cx="111252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22222"/>
                </a:solidFill>
                <a:latin typeface="Times New Roman"/>
                <a:ea typeface="Times New Roman"/>
                <a:cs typeface="Times New Roman"/>
              </a:defRPr>
            </a:defPPr>
            <a:lvl1pPr algn="l">
              <a:defRPr sz="2400" b="1">
                <a:solidFill>
                  <a:srgbClr val="222222"/>
                </a:solidFill>
                <a:latin typeface="Times New Roman"/>
                <a:ea typeface="Times New Roman"/>
                <a:cs typeface="Times New Roman"/>
              </a:defRPr>
            </a:lvl1pPr>
            <a:lvl2pPr algn="l">
              <a:defRPr sz="2400" b="1">
                <a:solidFill>
                  <a:srgbClr val="222222"/>
                </a:solidFill>
                <a:latin typeface="Times New Roman"/>
                <a:ea typeface="Times New Roman"/>
                <a:cs typeface="Times New Roman"/>
              </a:defRPr>
            </a:lvl2pPr>
            <a:lvl3pPr algn="l">
              <a:defRPr sz="2400" b="1">
                <a:solidFill>
                  <a:srgbClr val="222222"/>
                </a:solidFill>
                <a:latin typeface="Times New Roman"/>
                <a:ea typeface="Times New Roman"/>
                <a:cs typeface="Times New Roman"/>
              </a:defRPr>
            </a:lvl3pPr>
            <a:lvl4pPr algn="l">
              <a:defRPr sz="2400" b="1">
                <a:solidFill>
                  <a:srgbClr val="222222"/>
                </a:solidFill>
                <a:latin typeface="Times New Roman"/>
                <a:ea typeface="Times New Roman"/>
                <a:cs typeface="Times New Roman"/>
              </a:defRPr>
            </a:lvl4pPr>
            <a:lvl5pPr algn="l">
              <a:defRPr sz="2400" b="1">
                <a:solidFill>
                  <a:srgbClr val="222222"/>
                </a:solidFill>
                <a:latin typeface="Times New Roman"/>
                <a:ea typeface="Times New Roman"/>
                <a:cs typeface="Times New Roman"/>
              </a:defRPr>
            </a:lvl5pPr>
            <a:lvl6pPr algn="l">
              <a:defRPr sz="2400" b="1">
                <a:solidFill>
                  <a:srgbClr val="222222"/>
                </a:solidFill>
                <a:latin typeface="Times New Roman"/>
                <a:ea typeface="Times New Roman"/>
                <a:cs typeface="Times New Roman"/>
              </a:defRPr>
            </a:lvl6pPr>
            <a:lvl7pPr algn="l">
              <a:defRPr sz="2400" b="1">
                <a:solidFill>
                  <a:srgbClr val="222222"/>
                </a:solidFill>
                <a:latin typeface="Times New Roman"/>
                <a:ea typeface="Times New Roman"/>
                <a:cs typeface="Times New Roman"/>
              </a:defRPr>
            </a:lvl7pPr>
            <a:lvl8pPr algn="l">
              <a:defRPr sz="2400" b="1">
                <a:solidFill>
                  <a:srgbClr val="222222"/>
                </a:solidFill>
                <a:latin typeface="Times New Roman"/>
                <a:ea typeface="Times New Roman"/>
                <a:cs typeface="Times New Roman"/>
              </a:defRPr>
            </a:lvl8pPr>
            <a:lvl9pPr algn="l">
              <a:defRPr sz="2400" b="1">
                <a:solidFill>
                  <a:srgbClr val="222222"/>
                </a:solidFill>
                <a:latin typeface="Times New Roman"/>
                <a:ea typeface="Times New Roman"/>
                <a:cs typeface="Times New Roman"/>
              </a:defRPr>
            </a:lvl9pPr>
          </a:lstStyle>
          <a:p xmlns:a="http://schemas.openxmlformats.org/drawingml/2006/main">
            <a:pPr algn="l">
              <a:defRPr sz="2400" b="1">
                <a:solidFill>
                  <a:srgbClr val="222222"/>
                </a:solidFill>
                <a:latin typeface="Times New Roman"/>
                <a:ea typeface="Times New Roman"/>
                <a:cs typeface="Times New Roman"/>
              </a:defRPr>
            </a:pPr>
            <a:r>
              <a:rPr sz="2400" b="1">
                <a:solidFill>
                  <a:srgbClr val="222222"/>
                </a:solidFill>
                <a:latin typeface="Times New Roman"/>
                <a:ea typeface="Times New Roman"/>
                <a:cs typeface="Times New Roman"/>
              </a:rPr>
              <a:t>Advance the partial upgrade for further evaluation.</a:t>
            </a:r>
          </a:p>
          <a:p xmlns:a="http://schemas.openxmlformats.org/drawingml/2006/main">
            <a:pPr algn="l">
              <a:defRPr sz="2400" b="1">
                <a:solidFill>
                  <a:srgbClr val="222222"/>
                </a:solidFill>
                <a:latin typeface="Times New Roman"/>
                <a:ea typeface="Times New Roman"/>
                <a:cs typeface="Times New Roman"/>
              </a:defRPr>
            </a:pPr>
            <a:r>
              <a:rPr sz="2400" b="1">
                <a:solidFill>
                  <a:srgbClr val="222222"/>
                </a:solidFill>
                <a:latin typeface="Times New Roman"/>
                <a:ea typeface="Times New Roman"/>
                <a:cs typeface="Times New Roman"/>
              </a:rPr>
              <a:t>Withhold approval of either upgrade until key assumptions are supported.</a:t>
            </a:r>
          </a:p>
        </p:txBody>
      </p:sp>
      <p:sp>
        <p:nvSpPr>
          <p:cNvPr id="5" name="rationale-heading">
            <a:extLst xmlns:a="http://schemas.openxmlformats.org/drawingml/2006/main">
              <a:ext uri="{FF2B5EF4-FFF2-40B4-BE49-F238E27FC236}">
                <a16:creationId xmlns:a16="http://schemas.microsoft.com/office/drawing/2014/main" id="{DBEA2FA0-4D8A-48FE-A9C3-99918339D4F0}"/>
              </a:ext>
            </a:extLst>
          </p:cNvPr>
          <p:cNvSpPr>
            <a:spLocks xmlns:a="http://schemas.openxmlformats.org/drawingml/2006/main" noGrp="1"/>
          </p:cNvSpPr>
          <p:nvPr/>
        </p:nvSpPr>
        <p:spPr>
          <a:xfrm xmlns:a="http://schemas.openxmlformats.org/drawingml/2006/main">
            <a:off x="533400" y="2476500"/>
            <a:ext cx="5638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1">
                <a:solidFill>
                  <a:srgbClr val="222222"/>
                </a:solidFill>
                <a:latin typeface="Times New Roman"/>
                <a:ea typeface="Times New Roman"/>
                <a:cs typeface="Times New Roman"/>
              </a:defRPr>
            </a:defPPr>
            <a:lvl1pPr algn="l">
              <a:defRPr sz="2200" b="1">
                <a:solidFill>
                  <a:srgbClr val="222222"/>
                </a:solidFill>
                <a:latin typeface="Times New Roman"/>
                <a:ea typeface="Times New Roman"/>
                <a:cs typeface="Times New Roman"/>
              </a:defRPr>
            </a:lvl1pPr>
            <a:lvl2pPr algn="l">
              <a:defRPr sz="2200" b="1">
                <a:solidFill>
                  <a:srgbClr val="222222"/>
                </a:solidFill>
                <a:latin typeface="Times New Roman"/>
                <a:ea typeface="Times New Roman"/>
                <a:cs typeface="Times New Roman"/>
              </a:defRPr>
            </a:lvl2pPr>
            <a:lvl3pPr algn="l">
              <a:defRPr sz="2200" b="1">
                <a:solidFill>
                  <a:srgbClr val="222222"/>
                </a:solidFill>
                <a:latin typeface="Times New Roman"/>
                <a:ea typeface="Times New Roman"/>
                <a:cs typeface="Times New Roman"/>
              </a:defRPr>
            </a:lvl3pPr>
            <a:lvl4pPr algn="l">
              <a:defRPr sz="2200" b="1">
                <a:solidFill>
                  <a:srgbClr val="222222"/>
                </a:solidFill>
                <a:latin typeface="Times New Roman"/>
                <a:ea typeface="Times New Roman"/>
                <a:cs typeface="Times New Roman"/>
              </a:defRPr>
            </a:lvl4pPr>
            <a:lvl5pPr algn="l">
              <a:defRPr sz="2200" b="1">
                <a:solidFill>
                  <a:srgbClr val="222222"/>
                </a:solidFill>
                <a:latin typeface="Times New Roman"/>
                <a:ea typeface="Times New Roman"/>
                <a:cs typeface="Times New Roman"/>
              </a:defRPr>
            </a:lvl5pPr>
            <a:lvl6pPr algn="l">
              <a:defRPr sz="2200" b="1">
                <a:solidFill>
                  <a:srgbClr val="222222"/>
                </a:solidFill>
                <a:latin typeface="Times New Roman"/>
                <a:ea typeface="Times New Roman"/>
                <a:cs typeface="Times New Roman"/>
              </a:defRPr>
            </a:lvl6pPr>
            <a:lvl7pPr algn="l">
              <a:defRPr sz="2200" b="1">
                <a:solidFill>
                  <a:srgbClr val="222222"/>
                </a:solidFill>
                <a:latin typeface="Times New Roman"/>
                <a:ea typeface="Times New Roman"/>
                <a:cs typeface="Times New Roman"/>
              </a:defRPr>
            </a:lvl7pPr>
            <a:lvl8pPr algn="l">
              <a:defRPr sz="2200" b="1">
                <a:solidFill>
                  <a:srgbClr val="222222"/>
                </a:solidFill>
                <a:latin typeface="Times New Roman"/>
                <a:ea typeface="Times New Roman"/>
                <a:cs typeface="Times New Roman"/>
              </a:defRPr>
            </a:lvl8pPr>
            <a:lvl9pPr algn="l">
              <a:defRPr sz="2200" b="1">
                <a:solidFill>
                  <a:srgbClr val="222222"/>
                </a:solidFill>
                <a:latin typeface="Times New Roman"/>
                <a:ea typeface="Times New Roman"/>
                <a:cs typeface="Times New Roman"/>
              </a:defRPr>
            </a:lvl9pPr>
          </a:lstStyle>
          <a:p xmlns:a="http://schemas.openxmlformats.org/drawingml/2006/main">
            <a:pPr algn="l">
              <a:defRPr sz="2200" b="1">
                <a:solidFill>
                  <a:srgbClr val="222222"/>
                </a:solidFill>
                <a:latin typeface="Times New Roman"/>
                <a:ea typeface="Times New Roman"/>
                <a:cs typeface="Times New Roman"/>
              </a:defRPr>
            </a:pPr>
            <a:r>
              <a:rPr sz="2200" b="1">
                <a:solidFill>
                  <a:srgbClr val="222222"/>
                </a:solidFill>
                <a:latin typeface="Times New Roman"/>
                <a:ea typeface="Times New Roman"/>
                <a:cs typeface="Times New Roman"/>
              </a:rPr>
              <a:t>Why C merits further study</a:t>
            </a:r>
          </a:p>
        </p:txBody>
      </p:sp>
      <p:sp>
        <p:nvSpPr>
          <p:cNvPr id="6" name="rationale-b">
            <a:extLst xmlns:a="http://schemas.openxmlformats.org/drawingml/2006/main">
              <a:ext uri="{FF2B5EF4-FFF2-40B4-BE49-F238E27FC236}">
                <a16:creationId xmlns:a16="http://schemas.microsoft.com/office/drawing/2014/main" id="{B601D224-3929-4850-A461-4173B5D04522}"/>
              </a:ext>
            </a:extLst>
          </p:cNvPr>
          <p:cNvSpPr>
            <a:spLocks xmlns:a="http://schemas.openxmlformats.org/drawingml/2006/main" noGrp="1"/>
          </p:cNvSpPr>
          <p:nvPr/>
        </p:nvSpPr>
        <p:spPr>
          <a:xfrm xmlns:a="http://schemas.openxmlformats.org/drawingml/2006/main">
            <a:off x="533400" y="2952750"/>
            <a:ext cx="55626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0">
                <a:solidFill>
                  <a:srgbClr val="222222"/>
                </a:solidFill>
                <a:latin typeface="Times New Roman"/>
                <a:ea typeface="Times New Roman"/>
                <a:cs typeface="Times New Roman"/>
              </a:defRPr>
            </a:defPPr>
            <a:lvl1pPr algn="l">
              <a:defRPr sz="2200" b="0">
                <a:solidFill>
                  <a:srgbClr val="222222"/>
                </a:solidFill>
                <a:latin typeface="Times New Roman"/>
                <a:ea typeface="Times New Roman"/>
                <a:cs typeface="Times New Roman"/>
              </a:defRPr>
            </a:lvl1pPr>
            <a:lvl2pPr algn="l">
              <a:defRPr sz="2200" b="0">
                <a:solidFill>
                  <a:srgbClr val="222222"/>
                </a:solidFill>
                <a:latin typeface="Times New Roman"/>
                <a:ea typeface="Times New Roman"/>
                <a:cs typeface="Times New Roman"/>
              </a:defRPr>
            </a:lvl2pPr>
            <a:lvl3pPr algn="l">
              <a:defRPr sz="2200" b="0">
                <a:solidFill>
                  <a:srgbClr val="222222"/>
                </a:solidFill>
                <a:latin typeface="Times New Roman"/>
                <a:ea typeface="Times New Roman"/>
                <a:cs typeface="Times New Roman"/>
              </a:defRPr>
            </a:lvl3pPr>
            <a:lvl4pPr algn="l">
              <a:defRPr sz="2200" b="0">
                <a:solidFill>
                  <a:srgbClr val="222222"/>
                </a:solidFill>
                <a:latin typeface="Times New Roman"/>
                <a:ea typeface="Times New Roman"/>
                <a:cs typeface="Times New Roman"/>
              </a:defRPr>
            </a:lvl4pPr>
            <a:lvl5pPr algn="l">
              <a:defRPr sz="2200" b="0">
                <a:solidFill>
                  <a:srgbClr val="222222"/>
                </a:solidFill>
                <a:latin typeface="Times New Roman"/>
                <a:ea typeface="Times New Roman"/>
                <a:cs typeface="Times New Roman"/>
              </a:defRPr>
            </a:lvl5pPr>
            <a:lvl6pPr algn="l">
              <a:defRPr sz="2200" b="0">
                <a:solidFill>
                  <a:srgbClr val="222222"/>
                </a:solidFill>
                <a:latin typeface="Times New Roman"/>
                <a:ea typeface="Times New Roman"/>
                <a:cs typeface="Times New Roman"/>
              </a:defRPr>
            </a:lvl6pPr>
            <a:lvl7pPr algn="l">
              <a:defRPr sz="2200" b="0">
                <a:solidFill>
                  <a:srgbClr val="222222"/>
                </a:solidFill>
                <a:latin typeface="Times New Roman"/>
                <a:ea typeface="Times New Roman"/>
                <a:cs typeface="Times New Roman"/>
              </a:defRPr>
            </a:lvl7pPr>
            <a:lvl8pPr algn="l">
              <a:defRPr sz="2200" b="0">
                <a:solidFill>
                  <a:srgbClr val="222222"/>
                </a:solidFill>
                <a:latin typeface="Times New Roman"/>
                <a:ea typeface="Times New Roman"/>
                <a:cs typeface="Times New Roman"/>
              </a:defRPr>
            </a:lvl8pPr>
            <a:lvl9pPr algn="l">
              <a:defRPr sz="2200" b="0">
                <a:solidFill>
                  <a:srgbClr val="222222"/>
                </a:solidFill>
                <a:latin typeface="Times New Roman"/>
                <a:ea typeface="Times New Roman"/>
                <a:cs typeface="Times New Roman"/>
              </a:defRPr>
            </a:lvl9pPr>
          </a:lstStyle>
          <a:p xmlns:a="http://schemas.openxmlformats.org/drawingml/2006/main">
            <a:pPr algn="l">
              <a:defRPr sz="2200" b="0">
                <a:solidFill>
                  <a:srgbClr val="222222"/>
                </a:solidFill>
                <a:latin typeface="Times New Roman"/>
                <a:ea typeface="Times New Roman"/>
                <a:cs typeface="Times New Roman"/>
              </a:defRPr>
            </a:pPr>
            <a:r>
              <a:rPr sz="2200" b="0">
                <a:solidFill>
                  <a:srgbClr val="222222"/>
                </a:solidFill>
                <a:latin typeface="Times New Roman"/>
                <a:ea typeface="Times New Roman"/>
                <a:cs typeface="Times New Roman"/>
              </a:rPr>
              <a:t>Full modernization saves more electricity, but its extra $3.331 million does not produce enough discounted value within ten years.</a:t>
            </a:r>
          </a:p>
        </p:txBody>
      </p:sp>
      <p:sp>
        <p:nvSpPr>
          <p:cNvPr id="7" name="rationale-c">
            <a:extLst xmlns:a="http://schemas.openxmlformats.org/drawingml/2006/main">
              <a:ext uri="{FF2B5EF4-FFF2-40B4-BE49-F238E27FC236}">
                <a16:creationId xmlns:a16="http://schemas.microsoft.com/office/drawing/2014/main" id="{62F0F7EC-5761-42BE-8848-676D62E61898}"/>
              </a:ext>
            </a:extLst>
          </p:cNvPr>
          <p:cNvSpPr>
            <a:spLocks xmlns:a="http://schemas.openxmlformats.org/drawingml/2006/main" noGrp="1"/>
          </p:cNvSpPr>
          <p:nvPr/>
        </p:nvSpPr>
        <p:spPr>
          <a:xfrm xmlns:a="http://schemas.openxmlformats.org/drawingml/2006/main">
            <a:off x="533400" y="4457700"/>
            <a:ext cx="55626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0">
                <a:solidFill>
                  <a:srgbClr val="222222"/>
                </a:solidFill>
                <a:latin typeface="Times New Roman"/>
                <a:ea typeface="Times New Roman"/>
                <a:cs typeface="Times New Roman"/>
              </a:defRPr>
            </a:defPPr>
            <a:lvl1pPr algn="l">
              <a:defRPr sz="2200" b="0">
                <a:solidFill>
                  <a:srgbClr val="222222"/>
                </a:solidFill>
                <a:latin typeface="Times New Roman"/>
                <a:ea typeface="Times New Roman"/>
                <a:cs typeface="Times New Roman"/>
              </a:defRPr>
            </a:lvl1pPr>
            <a:lvl2pPr algn="l">
              <a:defRPr sz="2200" b="0">
                <a:solidFill>
                  <a:srgbClr val="222222"/>
                </a:solidFill>
                <a:latin typeface="Times New Roman"/>
                <a:ea typeface="Times New Roman"/>
                <a:cs typeface="Times New Roman"/>
              </a:defRPr>
            </a:lvl2pPr>
            <a:lvl3pPr algn="l">
              <a:defRPr sz="2200" b="0">
                <a:solidFill>
                  <a:srgbClr val="222222"/>
                </a:solidFill>
                <a:latin typeface="Times New Roman"/>
                <a:ea typeface="Times New Roman"/>
                <a:cs typeface="Times New Roman"/>
              </a:defRPr>
            </a:lvl3pPr>
            <a:lvl4pPr algn="l">
              <a:defRPr sz="2200" b="0">
                <a:solidFill>
                  <a:srgbClr val="222222"/>
                </a:solidFill>
                <a:latin typeface="Times New Roman"/>
                <a:ea typeface="Times New Roman"/>
                <a:cs typeface="Times New Roman"/>
              </a:defRPr>
            </a:lvl4pPr>
            <a:lvl5pPr algn="l">
              <a:defRPr sz="2200" b="0">
                <a:solidFill>
                  <a:srgbClr val="222222"/>
                </a:solidFill>
                <a:latin typeface="Times New Roman"/>
                <a:ea typeface="Times New Roman"/>
                <a:cs typeface="Times New Roman"/>
              </a:defRPr>
            </a:lvl5pPr>
            <a:lvl6pPr algn="l">
              <a:defRPr sz="2200" b="0">
                <a:solidFill>
                  <a:srgbClr val="222222"/>
                </a:solidFill>
                <a:latin typeface="Times New Roman"/>
                <a:ea typeface="Times New Roman"/>
                <a:cs typeface="Times New Roman"/>
              </a:defRPr>
            </a:lvl6pPr>
            <a:lvl7pPr algn="l">
              <a:defRPr sz="2200" b="0">
                <a:solidFill>
                  <a:srgbClr val="222222"/>
                </a:solidFill>
                <a:latin typeface="Times New Roman"/>
                <a:ea typeface="Times New Roman"/>
                <a:cs typeface="Times New Roman"/>
              </a:defRPr>
            </a:lvl7pPr>
            <a:lvl8pPr algn="l">
              <a:defRPr sz="2200" b="0">
                <a:solidFill>
                  <a:srgbClr val="222222"/>
                </a:solidFill>
                <a:latin typeface="Times New Roman"/>
                <a:ea typeface="Times New Roman"/>
                <a:cs typeface="Times New Roman"/>
              </a:defRPr>
            </a:lvl8pPr>
            <a:lvl9pPr algn="l">
              <a:defRPr sz="2200" b="0">
                <a:solidFill>
                  <a:srgbClr val="222222"/>
                </a:solidFill>
                <a:latin typeface="Times New Roman"/>
                <a:ea typeface="Times New Roman"/>
                <a:cs typeface="Times New Roman"/>
              </a:defRPr>
            </a:lvl9pPr>
          </a:lstStyle>
          <a:p xmlns:a="http://schemas.openxmlformats.org/drawingml/2006/main">
            <a:pPr algn="l">
              <a:defRPr sz="2200" b="0">
                <a:solidFill>
                  <a:srgbClr val="222222"/>
                </a:solidFill>
                <a:latin typeface="Times New Roman"/>
                <a:ea typeface="Times New Roman"/>
                <a:cs typeface="Times New Roman"/>
              </a:defRPr>
            </a:pPr>
            <a:r>
              <a:rPr sz="2200" b="0">
                <a:solidFill>
                  <a:srgbClr val="222222"/>
                </a:solidFill>
                <a:latin typeface="Times New Roman"/>
                <a:ea typeface="Times New Roman"/>
                <a:cs typeface="Times New Roman"/>
              </a:rPr>
              <a:t>C requires less capital, but its $68,531 base NPV leaves little margin for cost or performance errors.</a:t>
            </a:r>
          </a:p>
        </p:txBody>
      </p:sp>
      <p:sp>
        <p:nvSpPr>
          <p:cNvPr id="8" name="next-heading">
            <a:extLst xmlns:a="http://schemas.openxmlformats.org/drawingml/2006/main">
              <a:ext uri="{FF2B5EF4-FFF2-40B4-BE49-F238E27FC236}">
                <a16:creationId xmlns:a16="http://schemas.microsoft.com/office/drawing/2014/main" id="{BEC7E4C9-5821-49C0-BEF6-08B7A7F85890}"/>
              </a:ext>
            </a:extLst>
          </p:cNvPr>
          <p:cNvSpPr>
            <a:spLocks xmlns:a="http://schemas.openxmlformats.org/drawingml/2006/main" noGrp="1"/>
          </p:cNvSpPr>
          <p:nvPr/>
        </p:nvSpPr>
        <p:spPr>
          <a:xfrm xmlns:a="http://schemas.openxmlformats.org/drawingml/2006/main">
            <a:off x="6791325" y="2476500"/>
            <a:ext cx="48672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1">
                <a:solidFill>
                  <a:srgbClr val="222222"/>
                </a:solidFill>
                <a:latin typeface="Times New Roman"/>
                <a:ea typeface="Times New Roman"/>
                <a:cs typeface="Times New Roman"/>
              </a:defRPr>
            </a:defPPr>
            <a:lvl1pPr algn="l">
              <a:defRPr sz="2200" b="1">
                <a:solidFill>
                  <a:srgbClr val="222222"/>
                </a:solidFill>
                <a:latin typeface="Times New Roman"/>
                <a:ea typeface="Times New Roman"/>
                <a:cs typeface="Times New Roman"/>
              </a:defRPr>
            </a:lvl1pPr>
            <a:lvl2pPr algn="l">
              <a:defRPr sz="2200" b="1">
                <a:solidFill>
                  <a:srgbClr val="222222"/>
                </a:solidFill>
                <a:latin typeface="Times New Roman"/>
                <a:ea typeface="Times New Roman"/>
                <a:cs typeface="Times New Roman"/>
              </a:defRPr>
            </a:lvl2pPr>
            <a:lvl3pPr algn="l">
              <a:defRPr sz="2200" b="1">
                <a:solidFill>
                  <a:srgbClr val="222222"/>
                </a:solidFill>
                <a:latin typeface="Times New Roman"/>
                <a:ea typeface="Times New Roman"/>
                <a:cs typeface="Times New Roman"/>
              </a:defRPr>
            </a:lvl3pPr>
            <a:lvl4pPr algn="l">
              <a:defRPr sz="2200" b="1">
                <a:solidFill>
                  <a:srgbClr val="222222"/>
                </a:solidFill>
                <a:latin typeface="Times New Roman"/>
                <a:ea typeface="Times New Roman"/>
                <a:cs typeface="Times New Roman"/>
              </a:defRPr>
            </a:lvl4pPr>
            <a:lvl5pPr algn="l">
              <a:defRPr sz="2200" b="1">
                <a:solidFill>
                  <a:srgbClr val="222222"/>
                </a:solidFill>
                <a:latin typeface="Times New Roman"/>
                <a:ea typeface="Times New Roman"/>
                <a:cs typeface="Times New Roman"/>
              </a:defRPr>
            </a:lvl5pPr>
            <a:lvl6pPr algn="l">
              <a:defRPr sz="2200" b="1">
                <a:solidFill>
                  <a:srgbClr val="222222"/>
                </a:solidFill>
                <a:latin typeface="Times New Roman"/>
                <a:ea typeface="Times New Roman"/>
                <a:cs typeface="Times New Roman"/>
              </a:defRPr>
            </a:lvl6pPr>
            <a:lvl7pPr algn="l">
              <a:defRPr sz="2200" b="1">
                <a:solidFill>
                  <a:srgbClr val="222222"/>
                </a:solidFill>
                <a:latin typeface="Times New Roman"/>
                <a:ea typeface="Times New Roman"/>
                <a:cs typeface="Times New Roman"/>
              </a:defRPr>
            </a:lvl7pPr>
            <a:lvl8pPr algn="l">
              <a:defRPr sz="2200" b="1">
                <a:solidFill>
                  <a:srgbClr val="222222"/>
                </a:solidFill>
                <a:latin typeface="Times New Roman"/>
                <a:ea typeface="Times New Roman"/>
                <a:cs typeface="Times New Roman"/>
              </a:defRPr>
            </a:lvl8pPr>
            <a:lvl9pPr algn="l">
              <a:defRPr sz="2200" b="1">
                <a:solidFill>
                  <a:srgbClr val="222222"/>
                </a:solidFill>
                <a:latin typeface="Times New Roman"/>
                <a:ea typeface="Times New Roman"/>
                <a:cs typeface="Times New Roman"/>
              </a:defRPr>
            </a:lvl9pPr>
          </a:lstStyle>
          <a:p xmlns:a="http://schemas.openxmlformats.org/drawingml/2006/main">
            <a:pPr algn="l">
              <a:defRPr sz="2200" b="1">
                <a:solidFill>
                  <a:srgbClr val="222222"/>
                </a:solidFill>
                <a:latin typeface="Times New Roman"/>
                <a:ea typeface="Times New Roman"/>
                <a:cs typeface="Times New Roman"/>
              </a:defRPr>
            </a:pPr>
            <a:r>
              <a:rPr sz="2200" b="1">
                <a:solidFill>
                  <a:srgbClr val="222222"/>
                </a:solidFill>
                <a:latin typeface="Times New Roman"/>
                <a:ea typeface="Times New Roman"/>
                <a:cs typeface="Times New Roman"/>
              </a:rPr>
              <a:t>Before funding</a:t>
            </a:r>
          </a:p>
        </p:txBody>
      </p:sp>
      <p:sp>
        <p:nvSpPr>
          <p:cNvPr id="9" name="next-copy">
            <a:extLst xmlns:a="http://schemas.openxmlformats.org/drawingml/2006/main">
              <a:ext uri="{FF2B5EF4-FFF2-40B4-BE49-F238E27FC236}">
                <a16:creationId xmlns:a16="http://schemas.microsoft.com/office/drawing/2014/main" id="{E52A2A79-E19A-4DF0-A5DC-EF2F31493BD6}"/>
              </a:ext>
            </a:extLst>
          </p:cNvPr>
          <p:cNvSpPr>
            <a:spLocks xmlns:a="http://schemas.openxmlformats.org/drawingml/2006/main" noGrp="1"/>
          </p:cNvSpPr>
          <p:nvPr/>
        </p:nvSpPr>
        <p:spPr>
          <a:xfrm xmlns:a="http://schemas.openxmlformats.org/drawingml/2006/main">
            <a:off x="6791325" y="2933700"/>
            <a:ext cx="4867275" cy="1247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222222"/>
                </a:solidFill>
                <a:latin typeface="Times New Roman"/>
                <a:ea typeface="Times New Roman"/>
                <a:cs typeface="Times New Roman"/>
              </a:defRPr>
            </a:defPPr>
            <a:lvl1pPr algn="l">
              <a:defRPr sz="2100" b="0">
                <a:solidFill>
                  <a:srgbClr val="222222"/>
                </a:solidFill>
                <a:latin typeface="Times New Roman"/>
                <a:ea typeface="Times New Roman"/>
                <a:cs typeface="Times New Roman"/>
              </a:defRPr>
            </a:lvl1pPr>
            <a:lvl2pPr algn="l">
              <a:defRPr sz="2100" b="0">
                <a:solidFill>
                  <a:srgbClr val="222222"/>
                </a:solidFill>
                <a:latin typeface="Times New Roman"/>
                <a:ea typeface="Times New Roman"/>
                <a:cs typeface="Times New Roman"/>
              </a:defRPr>
            </a:lvl2pPr>
            <a:lvl3pPr algn="l">
              <a:defRPr sz="2100" b="0">
                <a:solidFill>
                  <a:srgbClr val="222222"/>
                </a:solidFill>
                <a:latin typeface="Times New Roman"/>
                <a:ea typeface="Times New Roman"/>
                <a:cs typeface="Times New Roman"/>
              </a:defRPr>
            </a:lvl3pPr>
            <a:lvl4pPr algn="l">
              <a:defRPr sz="2100" b="0">
                <a:solidFill>
                  <a:srgbClr val="222222"/>
                </a:solidFill>
                <a:latin typeface="Times New Roman"/>
                <a:ea typeface="Times New Roman"/>
                <a:cs typeface="Times New Roman"/>
              </a:defRPr>
            </a:lvl4pPr>
            <a:lvl5pPr algn="l">
              <a:defRPr sz="2100" b="0">
                <a:solidFill>
                  <a:srgbClr val="222222"/>
                </a:solidFill>
                <a:latin typeface="Times New Roman"/>
                <a:ea typeface="Times New Roman"/>
                <a:cs typeface="Times New Roman"/>
              </a:defRPr>
            </a:lvl5pPr>
            <a:lvl6pPr algn="l">
              <a:defRPr sz="2100" b="0">
                <a:solidFill>
                  <a:srgbClr val="222222"/>
                </a:solidFill>
                <a:latin typeface="Times New Roman"/>
                <a:ea typeface="Times New Roman"/>
                <a:cs typeface="Times New Roman"/>
              </a:defRPr>
            </a:lvl6pPr>
            <a:lvl7pPr algn="l">
              <a:defRPr sz="2100" b="0">
                <a:solidFill>
                  <a:srgbClr val="222222"/>
                </a:solidFill>
                <a:latin typeface="Times New Roman"/>
                <a:ea typeface="Times New Roman"/>
                <a:cs typeface="Times New Roman"/>
              </a:defRPr>
            </a:lvl7pPr>
            <a:lvl8pPr algn="l">
              <a:defRPr sz="2100" b="0">
                <a:solidFill>
                  <a:srgbClr val="222222"/>
                </a:solidFill>
                <a:latin typeface="Times New Roman"/>
                <a:ea typeface="Times New Roman"/>
                <a:cs typeface="Times New Roman"/>
              </a:defRPr>
            </a:lvl8pPr>
            <a:lvl9pPr algn="l">
              <a:defRPr sz="2100" b="0">
                <a:solidFill>
                  <a:srgbClr val="222222"/>
                </a:solidFill>
                <a:latin typeface="Times New Roman"/>
                <a:ea typeface="Times New Roman"/>
                <a:cs typeface="Times New Roman"/>
              </a:defRPr>
            </a:lvl9pPr>
          </a:lstStyle>
          <a:p xmlns:a="http://schemas.openxmlformats.org/drawingml/2006/main">
            <a:pPr algn="l">
              <a:defRPr sz="2100" b="0">
                <a:solidFill>
                  <a:srgbClr val="222222"/>
                </a:solidFill>
                <a:latin typeface="Times New Roman"/>
                <a:ea typeface="Times New Roman"/>
                <a:cs typeface="Times New Roman"/>
              </a:defRPr>
            </a:pPr>
            <a:r>
              <a:rPr sz="2100" b="0">
                <a:solidFill>
                  <a:srgbClr val="222222"/>
                </a:solidFill>
                <a:latin typeface="Times New Roman"/>
                <a:ea typeface="Times New Roman"/>
                <a:cs typeface="Times New Roman"/>
              </a:rPr>
              <a:t>Verify installed bids and baseline repair needs. Measure performance. Confirm utility savings, lease allocation and tax treatment.</a:t>
            </a:r>
          </a:p>
        </p:txBody>
      </p:sp>
      <p:sp>
        <p:nvSpPr>
          <p:cNvPr id="10" name="skills-heading">
            <a:extLst xmlns:a="http://schemas.openxmlformats.org/drawingml/2006/main">
              <a:ext uri="{FF2B5EF4-FFF2-40B4-BE49-F238E27FC236}">
                <a16:creationId xmlns:a16="http://schemas.microsoft.com/office/drawing/2014/main" id="{80012C94-4FC5-450E-99A1-7DE66A836516}"/>
              </a:ext>
            </a:extLst>
          </p:cNvPr>
          <p:cNvSpPr>
            <a:spLocks xmlns:a="http://schemas.openxmlformats.org/drawingml/2006/main" noGrp="1"/>
          </p:cNvSpPr>
          <p:nvPr/>
        </p:nvSpPr>
        <p:spPr>
          <a:xfrm xmlns:a="http://schemas.openxmlformats.org/drawingml/2006/main">
            <a:off x="6791325" y="4286250"/>
            <a:ext cx="48672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1">
                <a:solidFill>
                  <a:srgbClr val="222222"/>
                </a:solidFill>
                <a:latin typeface="Times New Roman"/>
                <a:ea typeface="Times New Roman"/>
                <a:cs typeface="Times New Roman"/>
              </a:defRPr>
            </a:defPPr>
            <a:lvl1pPr algn="l">
              <a:defRPr sz="2200" b="1">
                <a:solidFill>
                  <a:srgbClr val="222222"/>
                </a:solidFill>
                <a:latin typeface="Times New Roman"/>
                <a:ea typeface="Times New Roman"/>
                <a:cs typeface="Times New Roman"/>
              </a:defRPr>
            </a:lvl1pPr>
            <a:lvl2pPr algn="l">
              <a:defRPr sz="2200" b="1">
                <a:solidFill>
                  <a:srgbClr val="222222"/>
                </a:solidFill>
                <a:latin typeface="Times New Roman"/>
                <a:ea typeface="Times New Roman"/>
                <a:cs typeface="Times New Roman"/>
              </a:defRPr>
            </a:lvl2pPr>
            <a:lvl3pPr algn="l">
              <a:defRPr sz="2200" b="1">
                <a:solidFill>
                  <a:srgbClr val="222222"/>
                </a:solidFill>
                <a:latin typeface="Times New Roman"/>
                <a:ea typeface="Times New Roman"/>
                <a:cs typeface="Times New Roman"/>
              </a:defRPr>
            </a:lvl3pPr>
            <a:lvl4pPr algn="l">
              <a:defRPr sz="2200" b="1">
                <a:solidFill>
                  <a:srgbClr val="222222"/>
                </a:solidFill>
                <a:latin typeface="Times New Roman"/>
                <a:ea typeface="Times New Roman"/>
                <a:cs typeface="Times New Roman"/>
              </a:defRPr>
            </a:lvl4pPr>
            <a:lvl5pPr algn="l">
              <a:defRPr sz="2200" b="1">
                <a:solidFill>
                  <a:srgbClr val="222222"/>
                </a:solidFill>
                <a:latin typeface="Times New Roman"/>
                <a:ea typeface="Times New Roman"/>
                <a:cs typeface="Times New Roman"/>
              </a:defRPr>
            </a:lvl5pPr>
            <a:lvl6pPr algn="l">
              <a:defRPr sz="2200" b="1">
                <a:solidFill>
                  <a:srgbClr val="222222"/>
                </a:solidFill>
                <a:latin typeface="Times New Roman"/>
                <a:ea typeface="Times New Roman"/>
                <a:cs typeface="Times New Roman"/>
              </a:defRPr>
            </a:lvl6pPr>
            <a:lvl7pPr algn="l">
              <a:defRPr sz="2200" b="1">
                <a:solidFill>
                  <a:srgbClr val="222222"/>
                </a:solidFill>
                <a:latin typeface="Times New Roman"/>
                <a:ea typeface="Times New Roman"/>
                <a:cs typeface="Times New Roman"/>
              </a:defRPr>
            </a:lvl7pPr>
            <a:lvl8pPr algn="l">
              <a:defRPr sz="2200" b="1">
                <a:solidFill>
                  <a:srgbClr val="222222"/>
                </a:solidFill>
                <a:latin typeface="Times New Roman"/>
                <a:ea typeface="Times New Roman"/>
                <a:cs typeface="Times New Roman"/>
              </a:defRPr>
            </a:lvl8pPr>
            <a:lvl9pPr algn="l">
              <a:defRPr sz="2200" b="1">
                <a:solidFill>
                  <a:srgbClr val="222222"/>
                </a:solidFill>
                <a:latin typeface="Times New Roman"/>
                <a:ea typeface="Times New Roman"/>
                <a:cs typeface="Times New Roman"/>
              </a:defRPr>
            </a:lvl9pPr>
          </a:lstStyle>
          <a:p xmlns:a="http://schemas.openxmlformats.org/drawingml/2006/main">
            <a:pPr algn="l">
              <a:defRPr sz="2200" b="1">
                <a:solidFill>
                  <a:srgbClr val="222222"/>
                </a:solidFill>
                <a:latin typeface="Times New Roman"/>
                <a:ea typeface="Times New Roman"/>
                <a:cs typeface="Times New Roman"/>
              </a:defRPr>
            </a:pPr>
            <a:r>
              <a:rPr sz="2200" b="1">
                <a:solidFill>
                  <a:srgbClr val="222222"/>
                </a:solidFill>
                <a:latin typeface="Times New Roman"/>
                <a:ea typeface="Times New Roman"/>
                <a:cs typeface="Times New Roman"/>
              </a:rPr>
              <a:t>Skills demonstrated</a:t>
            </a:r>
          </a:p>
        </p:txBody>
      </p:sp>
      <p:sp>
        <p:nvSpPr>
          <p:cNvPr id="11" name="skills-copy">
            <a:extLst xmlns:a="http://schemas.openxmlformats.org/drawingml/2006/main">
              <a:ext uri="{FF2B5EF4-FFF2-40B4-BE49-F238E27FC236}">
                <a16:creationId xmlns:a16="http://schemas.microsoft.com/office/drawing/2014/main" id="{5E0501FF-0EF9-4D2F-A932-45D5EA9A39DF}"/>
              </a:ext>
            </a:extLst>
          </p:cNvPr>
          <p:cNvSpPr>
            <a:spLocks xmlns:a="http://schemas.openxmlformats.org/drawingml/2006/main" noGrp="1"/>
          </p:cNvSpPr>
          <p:nvPr/>
        </p:nvSpPr>
        <p:spPr>
          <a:xfrm xmlns:a="http://schemas.openxmlformats.org/drawingml/2006/main">
            <a:off x="6791325" y="4714875"/>
            <a:ext cx="48672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a:solidFill>
                  <a:srgbClr val="222222"/>
                </a:solidFill>
                <a:latin typeface="Times New Roman"/>
                <a:ea typeface="Times New Roman"/>
                <a:cs typeface="Times New Roman"/>
              </a:defRPr>
            </a:defPPr>
            <a:lvl1pPr algn="l">
              <a:defRPr sz="2000" b="0">
                <a:solidFill>
                  <a:srgbClr val="222222"/>
                </a:solidFill>
                <a:latin typeface="Times New Roman"/>
                <a:ea typeface="Times New Roman"/>
                <a:cs typeface="Times New Roman"/>
              </a:defRPr>
            </a:lvl1pPr>
            <a:lvl2pPr algn="l">
              <a:defRPr sz="2000" b="0">
                <a:solidFill>
                  <a:srgbClr val="222222"/>
                </a:solidFill>
                <a:latin typeface="Times New Roman"/>
                <a:ea typeface="Times New Roman"/>
                <a:cs typeface="Times New Roman"/>
              </a:defRPr>
            </a:lvl2pPr>
            <a:lvl3pPr algn="l">
              <a:defRPr sz="2000" b="0">
                <a:solidFill>
                  <a:srgbClr val="222222"/>
                </a:solidFill>
                <a:latin typeface="Times New Roman"/>
                <a:ea typeface="Times New Roman"/>
                <a:cs typeface="Times New Roman"/>
              </a:defRPr>
            </a:lvl3pPr>
            <a:lvl4pPr algn="l">
              <a:defRPr sz="2000" b="0">
                <a:solidFill>
                  <a:srgbClr val="222222"/>
                </a:solidFill>
                <a:latin typeface="Times New Roman"/>
                <a:ea typeface="Times New Roman"/>
                <a:cs typeface="Times New Roman"/>
              </a:defRPr>
            </a:lvl4pPr>
            <a:lvl5pPr algn="l">
              <a:defRPr sz="2000" b="0">
                <a:solidFill>
                  <a:srgbClr val="222222"/>
                </a:solidFill>
                <a:latin typeface="Times New Roman"/>
                <a:ea typeface="Times New Roman"/>
                <a:cs typeface="Times New Roman"/>
              </a:defRPr>
            </a:lvl5pPr>
            <a:lvl6pPr algn="l">
              <a:defRPr sz="2000" b="0">
                <a:solidFill>
                  <a:srgbClr val="222222"/>
                </a:solidFill>
                <a:latin typeface="Times New Roman"/>
                <a:ea typeface="Times New Roman"/>
                <a:cs typeface="Times New Roman"/>
              </a:defRPr>
            </a:lvl6pPr>
            <a:lvl7pPr algn="l">
              <a:defRPr sz="2000" b="0">
                <a:solidFill>
                  <a:srgbClr val="222222"/>
                </a:solidFill>
                <a:latin typeface="Times New Roman"/>
                <a:ea typeface="Times New Roman"/>
                <a:cs typeface="Times New Roman"/>
              </a:defRPr>
            </a:lvl7pPr>
            <a:lvl8pPr algn="l">
              <a:defRPr sz="2000" b="0">
                <a:solidFill>
                  <a:srgbClr val="222222"/>
                </a:solidFill>
                <a:latin typeface="Times New Roman"/>
                <a:ea typeface="Times New Roman"/>
                <a:cs typeface="Times New Roman"/>
              </a:defRPr>
            </a:lvl8pPr>
            <a:lvl9pPr algn="l">
              <a:defRPr sz="2000" b="0">
                <a:solidFill>
                  <a:srgbClr val="222222"/>
                </a:solidFill>
                <a:latin typeface="Times New Roman"/>
                <a:ea typeface="Times New Roman"/>
                <a:cs typeface="Times New Roman"/>
              </a:defRPr>
            </a:lvl9pPr>
          </a:lstStyle>
          <a:p xmlns:a="http://schemas.openxmlformats.org/drawingml/2006/main">
            <a:pPr algn="l">
              <a:defRPr sz="2000" b="0">
                <a:solidFill>
                  <a:srgbClr val="222222"/>
                </a:solidFill>
                <a:latin typeface="Times New Roman"/>
                <a:ea typeface="Times New Roman"/>
                <a:cs typeface="Times New Roman"/>
              </a:defRPr>
            </a:pPr>
            <a:r>
              <a:rPr sz="2000" b="0">
                <a:solidFill>
                  <a:srgbClr val="222222"/>
                </a:solidFill>
                <a:latin typeface="Times New Roman"/>
                <a:ea typeface="Times New Roman"/>
                <a:cs typeface="Times New Roman"/>
              </a:rPr>
              <a:t>HVAC energy calculations, Excel cash-flow modeling, NPV/XIRR, sensitivity analysis and source evaluation.</a:t>
            </a:r>
          </a:p>
        </p:txBody>
      </p:sp>
      <p:sp>
        <p:nvSpPr>
          <p:cNvPr id="12" name="horizon">
            <a:extLst xmlns:a="http://schemas.openxmlformats.org/drawingml/2006/main">
              <a:ext uri="{FF2B5EF4-FFF2-40B4-BE49-F238E27FC236}">
                <a16:creationId xmlns:a16="http://schemas.microsoft.com/office/drawing/2014/main" id="{5C319BA5-26E1-4644-BEE0-F5627F8F7308}"/>
              </a:ext>
            </a:extLst>
          </p:cNvPr>
          <p:cNvSpPr>
            <a:spLocks xmlns:a="http://schemas.openxmlformats.org/drawingml/2006/main" noGrp="1"/>
          </p:cNvSpPr>
          <p:nvPr/>
        </p:nvSpPr>
        <p:spPr>
          <a:xfrm xmlns:a="http://schemas.openxmlformats.org/drawingml/2006/main">
            <a:off x="533400" y="5753100"/>
            <a:ext cx="111252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222222"/>
                </a:solidFill>
                <a:latin typeface="Times New Roman"/>
                <a:ea typeface="Times New Roman"/>
                <a:cs typeface="Times New Roman"/>
              </a:defRPr>
            </a:defPPr>
            <a:lvl1pPr algn="l">
              <a:defRPr sz="1800" b="0">
                <a:solidFill>
                  <a:srgbClr val="222222"/>
                </a:solidFill>
                <a:latin typeface="Times New Roman"/>
                <a:ea typeface="Times New Roman"/>
                <a:cs typeface="Times New Roman"/>
              </a:defRPr>
            </a:lvl1pPr>
            <a:lvl2pPr algn="l">
              <a:defRPr sz="1800" b="0">
                <a:solidFill>
                  <a:srgbClr val="222222"/>
                </a:solidFill>
                <a:latin typeface="Times New Roman"/>
                <a:ea typeface="Times New Roman"/>
                <a:cs typeface="Times New Roman"/>
              </a:defRPr>
            </a:lvl2pPr>
            <a:lvl3pPr algn="l">
              <a:defRPr sz="1800" b="0">
                <a:solidFill>
                  <a:srgbClr val="222222"/>
                </a:solidFill>
                <a:latin typeface="Times New Roman"/>
                <a:ea typeface="Times New Roman"/>
                <a:cs typeface="Times New Roman"/>
              </a:defRPr>
            </a:lvl3pPr>
            <a:lvl4pPr algn="l">
              <a:defRPr sz="1800" b="0">
                <a:solidFill>
                  <a:srgbClr val="222222"/>
                </a:solidFill>
                <a:latin typeface="Times New Roman"/>
                <a:ea typeface="Times New Roman"/>
                <a:cs typeface="Times New Roman"/>
              </a:defRPr>
            </a:lvl4pPr>
            <a:lvl5pPr algn="l">
              <a:defRPr sz="1800" b="0">
                <a:solidFill>
                  <a:srgbClr val="222222"/>
                </a:solidFill>
                <a:latin typeface="Times New Roman"/>
                <a:ea typeface="Times New Roman"/>
                <a:cs typeface="Times New Roman"/>
              </a:defRPr>
            </a:lvl5pPr>
            <a:lvl6pPr algn="l">
              <a:defRPr sz="1800" b="0">
                <a:solidFill>
                  <a:srgbClr val="222222"/>
                </a:solidFill>
                <a:latin typeface="Times New Roman"/>
                <a:ea typeface="Times New Roman"/>
                <a:cs typeface="Times New Roman"/>
              </a:defRPr>
            </a:lvl6pPr>
            <a:lvl7pPr algn="l">
              <a:defRPr sz="1800" b="0">
                <a:solidFill>
                  <a:srgbClr val="222222"/>
                </a:solidFill>
                <a:latin typeface="Times New Roman"/>
                <a:ea typeface="Times New Roman"/>
                <a:cs typeface="Times New Roman"/>
              </a:defRPr>
            </a:lvl7pPr>
            <a:lvl8pPr algn="l">
              <a:defRPr sz="1800" b="0">
                <a:solidFill>
                  <a:srgbClr val="222222"/>
                </a:solidFill>
                <a:latin typeface="Times New Roman"/>
                <a:ea typeface="Times New Roman"/>
                <a:cs typeface="Times New Roman"/>
              </a:defRPr>
            </a:lvl8pPr>
            <a:lvl9pPr algn="l">
              <a:defRPr sz="1800" b="0">
                <a:solidFill>
                  <a:srgbClr val="222222"/>
                </a:solidFill>
                <a:latin typeface="Times New Roman"/>
                <a:ea typeface="Times New Roman"/>
                <a:cs typeface="Times New Roman"/>
              </a:defRPr>
            </a:lvl9pPr>
          </a:lstStyle>
          <a:p xmlns:a="http://schemas.openxmlformats.org/drawingml/2006/main">
            <a:pPr algn="l">
              <a:defRPr sz="1800" b="0">
                <a:solidFill>
                  <a:srgbClr val="222222"/>
                </a:solidFill>
                <a:latin typeface="Times New Roman"/>
                <a:ea typeface="Times New Roman"/>
                <a:cs typeface="Times New Roman"/>
              </a:defRPr>
            </a:pPr>
            <a:r>
              <a:rPr sz="1800" b="0">
                <a:solidFill>
                  <a:srgbClr val="222222"/>
                </a:solidFill>
                <a:latin typeface="Times New Roman"/>
                <a:ea typeface="Times New Roman"/>
                <a:cs typeface="Times New Roman"/>
              </a:rPr>
              <a:t>Ten years is a planning window. Excluded terminal value and later tax benefits may affect the comparison, especially for full modernization.</a:t>
            </a:r>
          </a:p>
        </p:txBody>
      </p:sp>
    </p:spTree>
    <p:extLst>
      <p:ext uri="{BB962C8B-B14F-4D97-AF65-F5344CB8AC3E}">
        <p14:creationId xmlns:p14="http://schemas.microsoft.com/office/powerpoint/2010/main" val="743769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2026-10-24T06:25:57.9430000Z</dcterms:created>
  <dcterms:modified xsi:type="dcterms:W3CDTF">2026-10-24T06:25:57.9430000Z</dcterms:modified>
</coreProperties>
</file>